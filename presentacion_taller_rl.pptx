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Presentamos el informe del taller (15 minutos) y seguimos su estructura: 1) qué hemos probado, 2) resultados, 3) análisis y 4) conclusiones. Hemos implementado tres algoritmos tabulares (Q-Learning, SARSA y, como extra, Monte Carlo on-policy) sobre el entorno SimpleTradingEnv y sus cuatro mercados sintéticos, y los hemos comparado con un protocolo de evaluación común. Son 14 diapositivas: unos 65 segundos por diapositiva; las tablas 1 y 2 se pueden recorrer deprisa. (≈ 0:30)</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Hemos usado el entorno SimpleTradingEnv y las cuatro funciones generadoras tal y como venían en el enunciado: el estado es la tendencia de los últimos 6 precios más la posición, y cada operación paga un 0,1 % de comisión. Los cuatro mercados son tendencia + ciclo, browniano, reversión a la media y regímenes. Sobre ese entorno implementamos tres algoritmos tabulares vistos en clase: Q-Learning, SARSA y, como extra, control Monte Carlo on-policy con política ε-greedy. Monte Carlo lo añadimos para comprobar en un caso real la comparación entre bootstrapping (TD) y retorno completo (MC) del tema 3. La diferencia entre los tres está solo en el objetivo de la actualización. (≈ 1:00)</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Como los algoritmos son tabulares, hay que discretizar la tendencia. Una rejilla uniforme en [−1, 1] no sirve: como se ve en los histogramas, según el generador la tendencia se mueve en ±0,03 o en ±0,3 (del orden de diez veces más en tendencia + ciclo), y casi todos los datos caerían en uno o dos intervalos. Por eso usamos cuantiles calculados para cada generador y tratamos el número de intervalos (de 5 a 25) como un hiperparámetro más. El estado discreto es el intervalo de tendencia junto con la posición. Cada episodio de entrenamiento usa una serie nueva de 500 precios del mismo generador. (≈ 1:00)</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Para ajustar α, γ, ε y el número de intervalos solo hemos usado 30 series de validación, con el log-retorno medio de la política greedy como criterio. Cada algoritmo tiene su propia búsqueda. Q-Learning: una rejilla con α = {0,01; 0,05; 0,2}, γ = {0; 0,5; 0,9; 0,99} y 5, 10 o 20 intervalos, y después ε (396 entrenamientos: 288 de la rejilla y 108 de ε). SARSA: una búsqueda aleatoria de 40 configuraciones con α decreciente y la reevaluación de las 3 mejores; además, solo considera las acciones que tienen efecto en cada posición. Monte Carlo: otra rejilla, con α más pequeños (hasta 0,001 y 1/N), comparando every-visit y first-visit (696 entrenamientos: 480 y 216). Con las curvas de aprendizaje fijamos 3000 episodios y entrenamos 5 semillas por algoritmo y mercado. Como cada búsqueda es distinta, más adelante hacemos experimentos de control para separar el efecto del algoritmo del de los hiperparámetros. (≈ 1:00)</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 juntar los resultados vimos que Q-Learning y SARSA no se habían evaluado con las mismas series de test ni con las mismas métricas, así que repetimos la evaluación con un protocolo común. Todos los agentes se prueban en las mismas 100 series de test por mercado, que no se han usado para ajustar nada. La métrica principal es el log-retorno medio del capital, porque la media del balance la dominan unas pocas series. Como convergencia tomamos el primer episodio a partir del cual la curva de validación ya no se sale de una banda alrededor de su valor final; para pasarlo a segundos multiplicamos por el coste de un episodio, medido en serie en el mismo ordenador (8–11 ms en los tres). Las referencias son el agente aleatorio, buy and hold, no invertir nunca y dos reglas fijas, momentum y contrarian. (≈ 1:00)</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Este es el resultado principal: log-retorno medio en test, 100 series por mercado, algoritmos promediados sobre 5 semillas, y barras de error con la desviación entre semillas. Los tres algoritmos ganan a buy and hold y al agente aleatorio en todos los mercados; en el browniano, quedándose fuera, que es lo mejor que se puede hacer. Los mejores resultados son un log-retorno de 6,5 en tendencia + ciclo y un +27 % en reversión, los dos con Monte Carlo, y un +4 % en regímenes con Q-Learning. En tendencia + ciclo las diferencias entre algoritmos son del mismo tamaño que las diferencias entre semillas. (≈ 1:00)</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Tabla 1 del informe, primera mitad. Se resalta en negrita el mejor algoritmo de cada mercado; Conv. es el número de episodios hasta converger (mediana de las semillas) y su equivalente en segundos. Tendencia + ciclo: los tres sacan un log-retorno de entre 6,32 y 6,52 frente a 3,32 de buy and hold, ganan a buy and hold en el 96–97 % de las series y operan entre 40 y 58 veces por episodio. Como referencia, la regla fija de momentum saca 6,11. Browniano: Q-Learning y SARSA no operan nunca (0,000); Monte Carlo pierde un 1,2 %, aunque sigue mejor que buy and hold (−6,0 %) y que el aleatorio (−17,1 %). (≈ 0:30)</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Tabla 1 del informe, segunda mitad. Reversión a la media: los tres ganan entre un 17 % y un 27 % (Monte Carlo +26,9 %, SARSA +22,5 %, Q-Learning +16,7 %), cuando buy and hold se queda en −0,5 % y la regla fija contrarian saca +7 % (log-retorno 0,069). Regímenes: Q-Learning gana un 4,0 % y Monte Carlo un 3,1 %, SARSA no opera y buy and hold pierde un 12 %. El agente aleatorio pierde más o menos lo que paga en comisiones: 164 operaciones por episodio. En la columna de convergencia se ve que la señal débil necesita muchos más episodios, salvo SARSA en regímenes, que converge a no operar. (≈ 0:30)</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Figura 1 del informe: log-retorno medio de la política greedy en validación (media y rango de las 5 semillas); las líneas verticales punteadas marcan dónde converge cada algoritmo. La velocidad depende más del mercado que del algoritmo. Con señal fuerte (tendencia + ciclo) bastan 300–500 episodios, es decir, 2–5 segundos; con señal débil (reversión y regímenes) hacen falta 1300–2200 episodios (11–19 s). La excepción es SARSA en regímenes, que converge rápido (600 episodios) porque converge a no operar. En el browniano SARSA tarda 1700 episodios en dejar de operar, con caídas en la curva hasta entonces; Q-Learning lo consigue en 400. El coste por episodio es casi igual en los tres algoritmos (8–11 ms), porque lo que más tarda es simular el entorno. (≈ 1:00)</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Figura 2 del informe: la política aprendida. Para cada intervalo de tendencia se muestra qué fracción de las 5 semillas queda invertida después de actuar. En la fila «fuera», verde significa que compra; en la fila «dentro», verde significa que mantiene y blanco que vende. El hueco entre la tendencia a la que compra y la tendencia a la que vende es la histéresis. En general, las estrategias aprendidas son las que esperábamos para cada mercado. Tendencia + ciclo es el único con una señal clara (correlación 0,19 entre la tendencia y el retorno siguiente) y los tres aprenden momentum; ganan a la regla fija de momentum (6,11) y operan entre un 38 % y un 57 % menos (58, 47 y 39,5 operaciones por episodio frente a 92,6). En el browniano no hay nada que aprender y, encima, la deriva logarítmica es negativa, así que lo correcto es quedarse fuera; Q-Learning y SARSA lo hacen, y Monte Carlo pierde un 1,2 % porque sus hiperparámetros para este mercado se eligieron por una diferencia en validación que era ruido. En reversión a la media, los tres compran después de caídas fuertes y venden cuando el precio se recupera. Regímenes es el caso más difícil, porque la tendencia apenas dice nada del régimen: lo único que se consigue es salir ante movimientos muy bruscos, que suelen indicar el régimen bajista (más volátil). El agente aleatorio pierde más o menos lo que paga en comisiones (164 operaciones por episodio). (≈ 1:30)</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hiperparámetro que más influye es α. La recompensa de cada paso es casi todo ruido (el precio se mueve un 1–10 % por paso y la señal es de décimas de punto), y con α grande los agentes de señal débil acaban sin operar: en la rejilla de Q-Learning, con α = 0,05 no operan el 83 % de los entrenamientos de reversión y el 100 % de regímenes, y con α = 0,2 el 100 % y el 96 %; en tendencia + ciclo, solo el 12 % y el 71 %. Con γ los algoritmos no coinciden: Q-Learning necesita 0,99 en reversión y regímenes, pero Monte Carlo prefiere γ = 0 en tres de los cuatro mercados. Tiene sentido: medimos que, con γ = 0,99, el retorno completo es entre 3 y 7,5 veces más ruidoso que una recompensa suelta, que es justo la desventaja de MC frente a TD que vimos en clase. Lo curioso es que con γ = 0 no se pierde la histéresis, porque ya la crea la comisión: el agente compra si espera ganar más que la comisión y vende si espera perder más que ella. El número de intervalos y el calendario de ε importan bastante menos, y en Monte Carlo every-visit funciona mejor que first-visit. (≈ 1:00)</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Tabla 2 del informe: experimentos de control y extensiones, con log-retorno medio en test y el mismo protocolo que la Tabla 1. Los colores identifican la familia del algoritmo (azul Q-Learning, morado SARSA, naranja Monte Carlo). Los dos experimentos de control son las filas con hiperparámetros intercambiados, y los comentamos en la siguiente diapositiva. De las extensiones, la que más ayuda con diferencia es el estado ampliado, con la volatilidad reciente y la distancia a la media de 20 pasos: +37 % en reversión y +17 % en regímenes. Double Q-Learning no se distingue del ruido entre semillas. (≈ 0:45)</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Como cada algoritmo se ajustó con una búsqueda distinta, no estaba claro de dónde venían las diferencias, así que intercambiamos hiperparámetros (Tabla 2). Q-Learning con los de Monte Carlo saca prácticamente lo mismo que Monte Carlo: 6,517 frente a 6,522 en tendencia + ciclo. La ventaja venía de α = 0,001, un valor que no entraba en la rejilla de Q-Learning; además, con γ = 0 los dos algoritmos tienen el mismo objetivo. Con SARSA pasa lo contrario: con los hiperparámetros de Q-Learning sigue sin operar en regímenes y rinde menos en reversión, así que ahí la diferencia sí es del algoritmo. SARSA es on-policy y aprende el valor de la política ε-greedy que sigue. En este entorno explorar significa comprar y vender al azar pagando comisión, así que, cuando la señal es débil, le compensa no hacer nada. Es lo mismo que pasaba en el Cliff Walking de clase, solo que aquí no hay acantilado y esa prudencia simplemente cuesta dinero. (≈ 1:15)</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tres algoritmos ganan a buy and hold y al agente aleatorio en todos los mercados (en el browniano, quedándose fuera, que es lo mejor que se puede hacer) y aprenden la estrategia que cabía esperar en cada uno. Los mejores resultados en test son un log-retorno de 6,5 en tendencia + ciclo y un +27 % en reversión, los dos con Monte Carlo, y un +4 % en regímenes con Q-Learning. Lo que más nos ha sorprendido es que el algoritmo importa menos de lo que pensábamos: pesan más la información que tiene el estado (el estado ampliado mejora más que cualquier cambio de algoritmo) y los valores de α y γ. La única diferencia de algoritmo que se mantiene en todas las pruebas es la de on-policy frente a off-policy: SARSA es más conservador y deja pasar señales débiles que Q-Learning sí aprovecha. Monte Carlo funciona bien, pero porque esquiva su punto débil, la varianza del retorno, eligiendo un horizonte corto (γ = 0 en tres de los cuatro mercados; 0,9 en regímenes). Limitaciones: los mercados son sintéticos y conocemos sus parámetros, y el entorno es de todo o nada con una comisión fija; la discretización se calibra con datos del mismo generador; y con 5 semillas, las diferencias pequeñas entre algoritmos no son concluyentes. Cierre y turno de preguntas. Código: q_learning, taller_trader_sarsa y monte_carlo (un notebook por algoritmo), comparativa.ipynb (comparación conjunta) y trader_rl.py (protocolo de evaluación compartido). (≈ 1:15)</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 Id="rId3"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01B2D"/>
        </a:solidFill>
        <a:effectLst/>
      </p:bgPr>
    </p:bg>
    <p:spTree>
      <p:nvGrpSpPr>
        <p:cNvPr id="1" name=""/>
        <p:cNvGrpSpPr/>
        <p:nvPr/>
      </p:nvGrpSpPr>
      <p:grpSpPr/>
      <p:sp>
        <p:nvSpPr>
          <p:cNvPr id="2" name="Title 1"/>
          <p:cNvSpPr>
            <a:spLocks noGrp="1"/>
          </p:cNvSpPr>
          <p:nvPr>
            <p:ph type="title"/>
          </p:nvPr>
        </p:nvSpPr>
        <p:spPr>
          <a:xfrm>
            <a:off x="812800" y="2159000"/>
            <a:ext cx="10566400" cy="825500"/>
          </a:xfrm>
        </p:spPr>
        <p:txBody>
          <a:bodyPr wrap="square" lIns="0" rIns="0" tIns="0" bIns="0" anchor="t"/>
          <a:lstStyle/>
          <a:p>
            <a:pPr algn="l"/>
            <a:r>
              <a:rPr sz="4000" b="1" i="0">
                <a:solidFill>
                  <a:srgbClr val="F5F3EC"/>
                </a:solidFill>
                <a:latin typeface="Cambria"/>
              </a:rPr>
              <a:t>Agente de trading con RL tabular</a:t>
            </a:r>
          </a:p>
        </p:txBody>
      </p:sp>
      <p:sp>
        <p:nvSpPr>
          <p:cNvPr id="3" name="Sección"/>
          <p:cNvSpPr txBox="1"/>
          <p:nvPr/>
        </p:nvSpPr>
        <p:spPr>
          <a:xfrm>
            <a:off x="812800" y="533400"/>
            <a:ext cx="10566400" cy="215900"/>
          </a:xfrm>
          <a:prstGeom prst="rect">
            <a:avLst/>
          </a:prstGeom>
          <a:noFill/>
        </p:spPr>
        <p:txBody>
          <a:bodyPr wrap="square" lIns="0" rIns="0" tIns="0" bIns="0" anchor="t">
            <a:spAutoFit/>
          </a:bodyPr>
          <a:lstStyle/>
          <a:p>
            <a:pPr algn="l">
              <a:lnSpc>
                <a:spcPct val="110000"/>
              </a:lnSpc>
              <a:spcAft>
                <a:spcPts val="0"/>
              </a:spcAft>
            </a:pPr>
            <a:r>
              <a:rPr sz="1200" b="1" i="0" spc="150">
                <a:solidFill>
                  <a:srgbClr val="A9B6CB"/>
                </a:solidFill>
                <a:latin typeface="Calibri"/>
              </a:rPr>
              <a:t>TALLER DE APRENDIZAJE POR REFUERZO · MIAX-14</a:t>
            </a:r>
          </a:p>
        </p:txBody>
      </p:sp>
      <p:sp>
        <p:nvSpPr>
          <p:cNvPr id="4" name="TextBox 3"/>
          <p:cNvSpPr txBox="1"/>
          <p:nvPr/>
        </p:nvSpPr>
        <p:spPr>
          <a:xfrm>
            <a:off x="812800" y="3175000"/>
            <a:ext cx="10566400" cy="381000"/>
          </a:xfrm>
          <a:prstGeom prst="rect">
            <a:avLst/>
          </a:prstGeom>
          <a:noFill/>
        </p:spPr>
        <p:txBody>
          <a:bodyPr wrap="square" lIns="0" rIns="0" tIns="0" bIns="0" anchor="t">
            <a:spAutoFit/>
          </a:bodyPr>
          <a:lstStyle/>
          <a:p>
            <a:pPr algn="l">
              <a:lnSpc>
                <a:spcPct val="110000"/>
              </a:lnSpc>
              <a:spcAft>
                <a:spcPts val="0"/>
              </a:spcAft>
            </a:pPr>
            <a:r>
              <a:rPr sz="2000" b="0" i="0">
                <a:solidFill>
                  <a:srgbClr val="C9D3E3"/>
                </a:solidFill>
                <a:latin typeface="Calibri"/>
              </a:rPr>
              <a:t>Q-Learning, SARSA y Monte Carlo sobre cuatro mercados sintéticos</a:t>
            </a:r>
          </a:p>
        </p:txBody>
      </p:sp>
      <p:sp>
        <p:nvSpPr>
          <p:cNvPr id="5" name="Etiqueta Q-Learning"/>
          <p:cNvSpPr/>
          <p:nvPr/>
        </p:nvSpPr>
        <p:spPr>
          <a:xfrm>
            <a:off x="812800" y="3873500"/>
            <a:ext cx="1206500" cy="342900"/>
          </a:xfrm>
          <a:prstGeom prst="roundRect">
            <a:avLst>
              <a:gd name="adj" fmla="val 50000"/>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i="0">
                <a:solidFill>
                  <a:srgbClr val="F5F3EC"/>
                </a:solidFill>
                <a:latin typeface="Calibri"/>
              </a:rPr>
              <a:t>Q-Learning</a:t>
            </a:r>
          </a:p>
        </p:txBody>
      </p:sp>
      <p:sp>
        <p:nvSpPr>
          <p:cNvPr id="6" name="Etiqueta SARSA"/>
          <p:cNvSpPr/>
          <p:nvPr/>
        </p:nvSpPr>
        <p:spPr>
          <a:xfrm>
            <a:off x="2120900" y="3873500"/>
            <a:ext cx="952500" cy="342900"/>
          </a:xfrm>
          <a:prstGeom prst="roundRect">
            <a:avLst>
              <a:gd name="adj" fmla="val 50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i="0">
                <a:solidFill>
                  <a:srgbClr val="F5F3EC"/>
                </a:solidFill>
                <a:latin typeface="Calibri"/>
              </a:rPr>
              <a:t>SARSA</a:t>
            </a:r>
          </a:p>
        </p:txBody>
      </p:sp>
      <p:sp>
        <p:nvSpPr>
          <p:cNvPr id="7" name="Etiqueta Monte Carlo"/>
          <p:cNvSpPr/>
          <p:nvPr/>
        </p:nvSpPr>
        <p:spPr>
          <a:xfrm>
            <a:off x="3175000" y="3873500"/>
            <a:ext cx="1206500" cy="342900"/>
          </a:xfrm>
          <a:prstGeom prst="roundRect">
            <a:avLst>
              <a:gd name="adj" fmla="val 50000"/>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i="0">
                <a:solidFill>
                  <a:srgbClr val="F5F3EC"/>
                </a:solidFill>
                <a:latin typeface="Calibri"/>
              </a:rPr>
              <a:t>Monte Carlo</a:t>
            </a:r>
          </a:p>
        </p:txBody>
      </p:sp>
      <p:sp>
        <p:nvSpPr>
          <p:cNvPr id="8" name="TextBox 7"/>
          <p:cNvSpPr txBox="1"/>
          <p:nvPr/>
        </p:nvSpPr>
        <p:spPr>
          <a:xfrm>
            <a:off x="812800" y="5905500"/>
            <a:ext cx="10566400" cy="254000"/>
          </a:xfrm>
          <a:prstGeom prst="rect">
            <a:avLst/>
          </a:prstGeom>
          <a:noFill/>
        </p:spPr>
        <p:txBody>
          <a:bodyPr wrap="square" lIns="0" rIns="0" tIns="0" bIns="0" anchor="t">
            <a:spAutoFit/>
          </a:bodyPr>
          <a:lstStyle/>
          <a:p>
            <a:pPr algn="l">
              <a:lnSpc>
                <a:spcPct val="110000"/>
              </a:lnSpc>
              <a:spcAft>
                <a:spcPts val="0"/>
              </a:spcAft>
            </a:pPr>
            <a:r>
              <a:rPr sz="1600" b="0" i="0">
                <a:solidFill>
                  <a:srgbClr val="F5F3EC"/>
                </a:solidFill>
                <a:latin typeface="Calibri"/>
              </a:rPr>
              <a:t>Iván Nevado · Gonzalo De Ramón · Joseph Egusquiza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itle 1"/>
          <p:cNvSpPr>
            <a:spLocks noGrp="1"/>
          </p:cNvSpPr>
          <p:nvPr>
            <p:ph type="title"/>
          </p:nvPr>
        </p:nvSpPr>
        <p:spPr>
          <a:xfrm>
            <a:off x="812800" y="812800"/>
            <a:ext cx="10566400" cy="546100"/>
          </a:xfrm>
        </p:spPr>
        <p:txBody>
          <a:bodyPr wrap="square" lIns="0" rIns="0" tIns="0" bIns="0" anchor="t"/>
          <a:lstStyle/>
          <a:p>
            <a:pPr algn="l"/>
            <a:r>
              <a:rPr sz="3200" b="1" i="0">
                <a:solidFill>
                  <a:srgbClr val="1B2433"/>
                </a:solidFill>
                <a:latin typeface="Cambria"/>
              </a:rPr>
              <a:t>Entorno y algoritmos</a:t>
            </a:r>
          </a:p>
        </p:txBody>
      </p:sp>
      <p:sp>
        <p:nvSpPr>
          <p:cNvPr id="3" name="Sección"/>
          <p:cNvSpPr txBox="1"/>
          <p:nvPr/>
        </p:nvSpPr>
        <p:spPr>
          <a:xfrm>
            <a:off x="812800" y="533400"/>
            <a:ext cx="10566400" cy="215900"/>
          </a:xfrm>
          <a:prstGeom prst="rect">
            <a:avLst/>
          </a:prstGeom>
          <a:noFill/>
        </p:spPr>
        <p:txBody>
          <a:bodyPr wrap="square" lIns="0" rIns="0" tIns="0" bIns="0" anchor="t">
            <a:spAutoFit/>
          </a:bodyPr>
          <a:lstStyle/>
          <a:p>
            <a:pPr algn="l">
              <a:lnSpc>
                <a:spcPct val="110000"/>
              </a:lnSpc>
              <a:spcAft>
                <a:spcPts val="0"/>
              </a:spcAft>
            </a:pPr>
            <a:r>
              <a:rPr sz="1200" b="1" i="0" spc="150">
                <a:solidFill>
                  <a:srgbClr val="556072"/>
                </a:solidFill>
                <a:latin typeface="Calibri"/>
              </a:rPr>
              <a:t>1 · QUÉ HEMOS PROBADO</a:t>
            </a:r>
          </a:p>
        </p:txBody>
      </p:sp>
      <p:sp>
        <p:nvSpPr>
          <p:cNvPr id="4" name="Pie"/>
          <p:cNvSpPr txBox="1"/>
          <p:nvPr/>
        </p:nvSpPr>
        <p:spPr>
          <a:xfrm>
            <a:off x="812800" y="6350000"/>
            <a:ext cx="7620000" cy="190500"/>
          </a:xfrm>
          <a:prstGeom prst="rect">
            <a:avLst/>
          </a:prstGeom>
          <a:noFill/>
        </p:spPr>
        <p:txBody>
          <a:bodyPr wrap="square" lIns="0" rIns="0" tIns="0" bIns="0" anchor="t">
            <a:spAutoFit/>
          </a:bodyPr>
          <a:lstStyle/>
          <a:p>
            <a:pPr algn="l">
              <a:lnSpc>
                <a:spcPct val="110000"/>
              </a:lnSpc>
              <a:spcAft>
                <a:spcPts val="0"/>
              </a:spcAft>
            </a:pPr>
            <a:r>
              <a:rPr sz="1200" b="0" i="0">
                <a:solidFill>
                  <a:srgbClr val="556072"/>
                </a:solidFill>
                <a:latin typeface="Calibri"/>
              </a:rPr>
              <a:t>Agente de trading con RL tabular · MIAX-14</a:t>
            </a:r>
          </a:p>
        </p:txBody>
      </p:sp>
      <p:sp>
        <p:nvSpPr>
          <p:cNvPr id="5" name="Número de diapositiva"/>
          <p:cNvSpPr txBox="1"/>
          <p:nvPr/>
        </p:nvSpPr>
        <p:spPr>
          <a:xfrm>
            <a:off x="9855200" y="6350000"/>
            <a:ext cx="1524000" cy="190500"/>
          </a:xfrm>
          <a:prstGeom prst="rect">
            <a:avLst/>
          </a:prstGeom>
          <a:noFill/>
        </p:spPr>
        <p:txBody>
          <a:bodyPr wrap="square" lIns="0" rIns="0" tIns="0" bIns="0" anchor="t">
            <a:spAutoFit/>
          </a:bodyPr>
          <a:lstStyle/>
          <a:p>
            <a:pPr algn="r">
              <a:lnSpc>
                <a:spcPct val="110000"/>
              </a:lnSpc>
              <a:spcAft>
                <a:spcPts val="0"/>
              </a:spcAft>
            </a:pPr>
            <a:fld id="{B6F15528-21DE-4FAA-801E-634DDDAF4B2B}" type="slidenum">
              <a:rPr lang="es-ES" sz="1200">
                <a:solidFill>
                  <a:srgbClr val="556072"/>
                </a:solidFill>
                <a:latin typeface="Calibri"/>
              </a:rPr>
              <a:t>‹#›</a:t>
            </a:fld>
          </a:p>
        </p:txBody>
      </p:sp>
      <p:sp>
        <p:nvSpPr>
          <p:cNvPr id="6" name="Tarjeta entorno"/>
          <p:cNvSpPr/>
          <p:nvPr/>
        </p:nvSpPr>
        <p:spPr>
          <a:xfrm>
            <a:off x="812800" y="1587500"/>
            <a:ext cx="4826000" cy="3810000"/>
          </a:xfrm>
          <a:prstGeom prst="roundRect">
            <a:avLst>
              <a:gd name="adj" fmla="val 2666"/>
            </a:avLst>
          </a:prstGeom>
          <a:solidFill>
            <a:srgbClr val="FBFAF6"/>
          </a:solidFill>
          <a:ln w="9525">
            <a:solidFill>
              <a:srgbClr val="DDD8C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16000" y="1778000"/>
            <a:ext cx="4445000" cy="279400"/>
          </a:xfrm>
          <a:prstGeom prst="rect">
            <a:avLst/>
          </a:prstGeom>
          <a:noFill/>
        </p:spPr>
        <p:txBody>
          <a:bodyPr wrap="square" lIns="0" rIns="0" tIns="0" bIns="0" anchor="t">
            <a:spAutoFit/>
          </a:bodyPr>
          <a:lstStyle/>
          <a:p>
            <a:pPr algn="l">
              <a:lnSpc>
                <a:spcPct val="110000"/>
              </a:lnSpc>
              <a:spcAft>
                <a:spcPts val="0"/>
              </a:spcAft>
            </a:pPr>
            <a:r>
              <a:rPr sz="1800" b="1" i="0">
                <a:solidFill>
                  <a:srgbClr val="1B2433"/>
                </a:solidFill>
                <a:latin typeface="Cambria"/>
              </a:rPr>
              <a:t>SimpleTradingEnv</a:t>
            </a:r>
          </a:p>
        </p:txBody>
      </p:sp>
      <p:sp>
        <p:nvSpPr>
          <p:cNvPr id="8" name="TextBox 7"/>
          <p:cNvSpPr txBox="1"/>
          <p:nvPr/>
        </p:nvSpPr>
        <p:spPr>
          <a:xfrm>
            <a:off x="1016000" y="2222500"/>
            <a:ext cx="4445000" cy="190500"/>
          </a:xfrm>
          <a:prstGeom prst="rect">
            <a:avLst/>
          </a:prstGeom>
          <a:noFill/>
        </p:spPr>
        <p:txBody>
          <a:bodyPr wrap="square" lIns="0" rIns="0" tIns="0" bIns="0" anchor="t">
            <a:spAutoFit/>
          </a:bodyPr>
          <a:lstStyle/>
          <a:p>
            <a:pPr algn="l">
              <a:lnSpc>
                <a:spcPct val="110000"/>
              </a:lnSpc>
              <a:spcAft>
                <a:spcPts val="0"/>
              </a:spcAft>
            </a:pPr>
            <a:r>
              <a:rPr sz="1200" b="1" i="0">
                <a:solidFill>
                  <a:srgbClr val="556072"/>
                </a:solidFill>
                <a:latin typeface="Calibri"/>
              </a:rPr>
              <a:t>Estado</a:t>
            </a:r>
          </a:p>
        </p:txBody>
      </p:sp>
      <p:sp>
        <p:nvSpPr>
          <p:cNvPr id="9" name="TextBox 8"/>
          <p:cNvSpPr txBox="1"/>
          <p:nvPr/>
        </p:nvSpPr>
        <p:spPr>
          <a:xfrm>
            <a:off x="1016000" y="2413000"/>
            <a:ext cx="4445000" cy="698500"/>
          </a:xfrm>
          <a:prstGeom prst="rect">
            <a:avLst/>
          </a:prstGeom>
          <a:noFill/>
        </p:spPr>
        <p:txBody>
          <a:bodyPr wrap="square" lIns="0" rIns="0" tIns="0" bIns="0" anchor="t">
            <a:spAutoFit/>
          </a:bodyPr>
          <a:lstStyle/>
          <a:p>
            <a:pPr algn="l">
              <a:lnSpc>
                <a:spcPct val="110000"/>
              </a:lnSpc>
              <a:spcAft>
                <a:spcPts val="0"/>
              </a:spcAft>
            </a:pPr>
            <a:r>
              <a:rPr sz="1600" b="0" i="0">
                <a:solidFill>
                  <a:srgbClr val="1B2433"/>
                </a:solidFill>
                <a:latin typeface="Calibri"/>
              </a:rPr>
              <a:t>Tendencia de los últimos 6 precios y posición</a:t>
            </a:r>
          </a:p>
        </p:txBody>
      </p:sp>
      <p:sp>
        <p:nvSpPr>
          <p:cNvPr id="10" name="TextBox 9"/>
          <p:cNvSpPr txBox="1"/>
          <p:nvPr/>
        </p:nvSpPr>
        <p:spPr>
          <a:xfrm>
            <a:off x="1016000" y="2971800"/>
            <a:ext cx="4445000" cy="190500"/>
          </a:xfrm>
          <a:prstGeom prst="rect">
            <a:avLst/>
          </a:prstGeom>
          <a:noFill/>
        </p:spPr>
        <p:txBody>
          <a:bodyPr wrap="square" lIns="0" rIns="0" tIns="0" bIns="0" anchor="t">
            <a:spAutoFit/>
          </a:bodyPr>
          <a:lstStyle/>
          <a:p>
            <a:pPr algn="l">
              <a:lnSpc>
                <a:spcPct val="110000"/>
              </a:lnSpc>
              <a:spcAft>
                <a:spcPts val="0"/>
              </a:spcAft>
            </a:pPr>
            <a:r>
              <a:rPr sz="1200" b="1" i="0">
                <a:solidFill>
                  <a:srgbClr val="556072"/>
                </a:solidFill>
                <a:latin typeface="Calibri"/>
              </a:rPr>
              <a:t>Acciones</a:t>
            </a:r>
          </a:p>
        </p:txBody>
      </p:sp>
      <p:sp>
        <p:nvSpPr>
          <p:cNvPr id="11" name="TextBox 10"/>
          <p:cNvSpPr txBox="1"/>
          <p:nvPr/>
        </p:nvSpPr>
        <p:spPr>
          <a:xfrm>
            <a:off x="1016000" y="3162300"/>
            <a:ext cx="4445000" cy="698500"/>
          </a:xfrm>
          <a:prstGeom prst="rect">
            <a:avLst/>
          </a:prstGeom>
          <a:noFill/>
        </p:spPr>
        <p:txBody>
          <a:bodyPr wrap="square" lIns="0" rIns="0" tIns="0" bIns="0" anchor="t">
            <a:spAutoFit/>
          </a:bodyPr>
          <a:lstStyle/>
          <a:p>
            <a:pPr algn="l">
              <a:lnSpc>
                <a:spcPct val="110000"/>
              </a:lnSpc>
              <a:spcAft>
                <a:spcPts val="0"/>
              </a:spcAft>
            </a:pPr>
            <a:r>
              <a:rPr sz="1600" b="0" i="0">
                <a:solidFill>
                  <a:srgbClr val="1B2433"/>
                </a:solidFill>
                <a:latin typeface="Calibri"/>
              </a:rPr>
              <a:t>Vender, mantener o comprar</a:t>
            </a:r>
          </a:p>
        </p:txBody>
      </p:sp>
      <p:sp>
        <p:nvSpPr>
          <p:cNvPr id="12" name="TextBox 11"/>
          <p:cNvSpPr txBox="1"/>
          <p:nvPr/>
        </p:nvSpPr>
        <p:spPr>
          <a:xfrm>
            <a:off x="1016000" y="3721100"/>
            <a:ext cx="4445000" cy="190500"/>
          </a:xfrm>
          <a:prstGeom prst="rect">
            <a:avLst/>
          </a:prstGeom>
          <a:noFill/>
        </p:spPr>
        <p:txBody>
          <a:bodyPr wrap="square" lIns="0" rIns="0" tIns="0" bIns="0" anchor="t">
            <a:spAutoFit/>
          </a:bodyPr>
          <a:lstStyle/>
          <a:p>
            <a:pPr algn="l">
              <a:lnSpc>
                <a:spcPct val="110000"/>
              </a:lnSpc>
              <a:spcAft>
                <a:spcPts val="0"/>
              </a:spcAft>
            </a:pPr>
            <a:r>
              <a:rPr sz="1200" b="1" i="0">
                <a:solidFill>
                  <a:srgbClr val="556072"/>
                </a:solidFill>
                <a:latin typeface="Calibri"/>
              </a:rPr>
              <a:t>Coste</a:t>
            </a:r>
          </a:p>
        </p:txBody>
      </p:sp>
      <p:sp>
        <p:nvSpPr>
          <p:cNvPr id="13" name="TextBox 12"/>
          <p:cNvSpPr txBox="1"/>
          <p:nvPr/>
        </p:nvSpPr>
        <p:spPr>
          <a:xfrm>
            <a:off x="1016000" y="3911600"/>
            <a:ext cx="4445000" cy="698500"/>
          </a:xfrm>
          <a:prstGeom prst="rect">
            <a:avLst/>
          </a:prstGeom>
          <a:noFill/>
        </p:spPr>
        <p:txBody>
          <a:bodyPr wrap="square" lIns="0" rIns="0" tIns="0" bIns="0" anchor="t">
            <a:spAutoFit/>
          </a:bodyPr>
          <a:lstStyle/>
          <a:p>
            <a:pPr algn="l">
              <a:lnSpc>
                <a:spcPct val="110000"/>
              </a:lnSpc>
              <a:spcAft>
                <a:spcPts val="0"/>
              </a:spcAft>
            </a:pPr>
            <a:r>
              <a:rPr sz="1600" b="0" i="0">
                <a:solidFill>
                  <a:srgbClr val="1B2433"/>
                </a:solidFill>
                <a:latin typeface="Calibri"/>
              </a:rPr>
              <a:t>0,1 % de comisión en cada operación</a:t>
            </a:r>
          </a:p>
        </p:txBody>
      </p:sp>
      <p:sp>
        <p:nvSpPr>
          <p:cNvPr id="14" name="TextBox 13"/>
          <p:cNvSpPr txBox="1"/>
          <p:nvPr/>
        </p:nvSpPr>
        <p:spPr>
          <a:xfrm>
            <a:off x="1016000" y="4356100"/>
            <a:ext cx="4445000" cy="190500"/>
          </a:xfrm>
          <a:prstGeom prst="rect">
            <a:avLst/>
          </a:prstGeom>
          <a:noFill/>
        </p:spPr>
        <p:txBody>
          <a:bodyPr wrap="square" lIns="0" rIns="0" tIns="0" bIns="0" anchor="t">
            <a:spAutoFit/>
          </a:bodyPr>
          <a:lstStyle/>
          <a:p>
            <a:pPr algn="l">
              <a:lnSpc>
                <a:spcPct val="110000"/>
              </a:lnSpc>
              <a:spcAft>
                <a:spcPts val="0"/>
              </a:spcAft>
            </a:pPr>
            <a:r>
              <a:rPr sz="1200" b="1" i="0">
                <a:solidFill>
                  <a:srgbClr val="556072"/>
                </a:solidFill>
                <a:latin typeface="Calibri"/>
              </a:rPr>
              <a:t>Mercados</a:t>
            </a:r>
          </a:p>
        </p:txBody>
      </p:sp>
      <p:sp>
        <p:nvSpPr>
          <p:cNvPr id="15" name="TextBox 14"/>
          <p:cNvSpPr txBox="1"/>
          <p:nvPr/>
        </p:nvSpPr>
        <p:spPr>
          <a:xfrm>
            <a:off x="1016000" y="4546600"/>
            <a:ext cx="4445000" cy="698500"/>
          </a:xfrm>
          <a:prstGeom prst="rect">
            <a:avLst/>
          </a:prstGeom>
          <a:noFill/>
        </p:spPr>
        <p:txBody>
          <a:bodyPr wrap="square" lIns="0" rIns="0" tIns="0" bIns="0" anchor="t">
            <a:spAutoFit/>
          </a:bodyPr>
          <a:lstStyle/>
          <a:p>
            <a:pPr algn="l">
              <a:lnSpc>
                <a:spcPct val="110000"/>
              </a:lnSpc>
              <a:spcAft>
                <a:spcPts val="0"/>
              </a:spcAft>
            </a:pPr>
            <a:r>
              <a:rPr sz="1600" b="0" i="0">
                <a:solidFill>
                  <a:srgbClr val="1B2433"/>
                </a:solidFill>
                <a:latin typeface="Calibri"/>
              </a:rPr>
              <a:t>Los cuatro generadores del enunciado: tendencia + ciclo, browniano, reversión a la media y regímenes</a:t>
            </a:r>
          </a:p>
        </p:txBody>
      </p:sp>
      <p:sp>
        <p:nvSpPr>
          <p:cNvPr id="16" name="Tarjeta Q-Learning"/>
          <p:cNvSpPr/>
          <p:nvPr/>
        </p:nvSpPr>
        <p:spPr>
          <a:xfrm>
            <a:off x="5842000" y="1587500"/>
            <a:ext cx="5537200" cy="1206500"/>
          </a:xfrm>
          <a:prstGeom prst="roundRect">
            <a:avLst>
              <a:gd name="adj" fmla="val 8421"/>
            </a:avLst>
          </a:prstGeom>
          <a:solidFill>
            <a:srgbClr val="FBFAF6"/>
          </a:solidFill>
          <a:ln w="9525">
            <a:solidFill>
              <a:srgbClr val="DDD8C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Etiqueta Q-Learning"/>
          <p:cNvSpPr/>
          <p:nvPr/>
        </p:nvSpPr>
        <p:spPr>
          <a:xfrm>
            <a:off x="6045200" y="1765300"/>
            <a:ext cx="1206500" cy="292100"/>
          </a:xfrm>
          <a:prstGeom prst="roundRect">
            <a:avLst>
              <a:gd name="adj" fmla="val 50000"/>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i="0">
                <a:solidFill>
                  <a:srgbClr val="F5F3EC"/>
                </a:solidFill>
                <a:latin typeface="Calibri"/>
              </a:rPr>
              <a:t>Q-Learning</a:t>
            </a:r>
          </a:p>
        </p:txBody>
      </p:sp>
      <p:sp>
        <p:nvSpPr>
          <p:cNvPr id="18" name="TextBox 17"/>
          <p:cNvSpPr txBox="1"/>
          <p:nvPr/>
        </p:nvSpPr>
        <p:spPr>
          <a:xfrm>
            <a:off x="8255000" y="1828800"/>
            <a:ext cx="2921000" cy="190500"/>
          </a:xfrm>
          <a:prstGeom prst="rect">
            <a:avLst/>
          </a:prstGeom>
          <a:noFill/>
        </p:spPr>
        <p:txBody>
          <a:bodyPr wrap="square" lIns="0" rIns="0" tIns="0" bIns="0" anchor="t">
            <a:spAutoFit/>
          </a:bodyPr>
          <a:lstStyle/>
          <a:p>
            <a:pPr algn="r">
              <a:lnSpc>
                <a:spcPct val="110000"/>
              </a:lnSpc>
              <a:spcAft>
                <a:spcPts val="0"/>
              </a:spcAft>
            </a:pPr>
            <a:r>
              <a:rPr sz="1200" b="0" i="0">
                <a:solidFill>
                  <a:srgbClr val="556072"/>
                </a:solidFill>
                <a:latin typeface="Calibri"/>
              </a:rPr>
              <a:t>TD · off-policy</a:t>
            </a:r>
          </a:p>
        </p:txBody>
      </p:sp>
      <p:sp>
        <p:nvSpPr>
          <p:cNvPr id="19" name="TextBox 18"/>
          <p:cNvSpPr txBox="1"/>
          <p:nvPr/>
        </p:nvSpPr>
        <p:spPr>
          <a:xfrm>
            <a:off x="6045200" y="2222500"/>
            <a:ext cx="5080000" cy="444500"/>
          </a:xfrm>
          <a:prstGeom prst="rect">
            <a:avLst/>
          </a:prstGeom>
          <a:noFill/>
        </p:spPr>
        <p:txBody>
          <a:bodyPr wrap="square" lIns="0" rIns="0" tIns="0" bIns="0" anchor="t">
            <a:spAutoFit/>
          </a:bodyPr>
          <a:lstStyle/>
          <a:p>
            <a:pPr algn="l">
              <a:lnSpc>
                <a:spcPct val="110000"/>
              </a:lnSpc>
              <a:spcAft>
                <a:spcPts val="0"/>
              </a:spcAft>
            </a:pPr>
            <a:r>
              <a:rPr sz="1600" b="0" i="0">
                <a:solidFill>
                  <a:srgbClr val="1B2433"/>
                </a:solidFill>
                <a:latin typeface="Calibri"/>
              </a:rPr>
              <a:t>Objetivo: r + γ · max Q(s’, a’)</a:t>
            </a:r>
          </a:p>
        </p:txBody>
      </p:sp>
      <p:sp>
        <p:nvSpPr>
          <p:cNvPr id="20" name="Tarjeta SARSA"/>
          <p:cNvSpPr/>
          <p:nvPr/>
        </p:nvSpPr>
        <p:spPr>
          <a:xfrm>
            <a:off x="5842000" y="2895600"/>
            <a:ext cx="5537200" cy="1206500"/>
          </a:xfrm>
          <a:prstGeom prst="roundRect">
            <a:avLst>
              <a:gd name="adj" fmla="val 8421"/>
            </a:avLst>
          </a:prstGeom>
          <a:solidFill>
            <a:srgbClr val="FBFAF6"/>
          </a:solidFill>
          <a:ln w="9525">
            <a:solidFill>
              <a:srgbClr val="DDD8C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Etiqueta SARSA"/>
          <p:cNvSpPr/>
          <p:nvPr/>
        </p:nvSpPr>
        <p:spPr>
          <a:xfrm>
            <a:off x="6045200" y="3073400"/>
            <a:ext cx="952500" cy="292100"/>
          </a:xfrm>
          <a:prstGeom prst="roundRect">
            <a:avLst>
              <a:gd name="adj" fmla="val 50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i="0">
                <a:solidFill>
                  <a:srgbClr val="F5F3EC"/>
                </a:solidFill>
                <a:latin typeface="Calibri"/>
              </a:rPr>
              <a:t>SARSA</a:t>
            </a:r>
          </a:p>
        </p:txBody>
      </p:sp>
      <p:sp>
        <p:nvSpPr>
          <p:cNvPr id="22" name="TextBox 21"/>
          <p:cNvSpPr txBox="1"/>
          <p:nvPr/>
        </p:nvSpPr>
        <p:spPr>
          <a:xfrm>
            <a:off x="8255000" y="3136900"/>
            <a:ext cx="2921000" cy="190500"/>
          </a:xfrm>
          <a:prstGeom prst="rect">
            <a:avLst/>
          </a:prstGeom>
          <a:noFill/>
        </p:spPr>
        <p:txBody>
          <a:bodyPr wrap="square" lIns="0" rIns="0" tIns="0" bIns="0" anchor="t">
            <a:spAutoFit/>
          </a:bodyPr>
          <a:lstStyle/>
          <a:p>
            <a:pPr algn="r">
              <a:lnSpc>
                <a:spcPct val="110000"/>
              </a:lnSpc>
              <a:spcAft>
                <a:spcPts val="0"/>
              </a:spcAft>
            </a:pPr>
            <a:r>
              <a:rPr sz="1200" b="0" i="0">
                <a:solidFill>
                  <a:srgbClr val="556072"/>
                </a:solidFill>
                <a:latin typeface="Calibri"/>
              </a:rPr>
              <a:t>TD · on-policy</a:t>
            </a:r>
          </a:p>
        </p:txBody>
      </p:sp>
      <p:sp>
        <p:nvSpPr>
          <p:cNvPr id="23" name="TextBox 22"/>
          <p:cNvSpPr txBox="1"/>
          <p:nvPr/>
        </p:nvSpPr>
        <p:spPr>
          <a:xfrm>
            <a:off x="6045200" y="3530600"/>
            <a:ext cx="5080000" cy="444500"/>
          </a:xfrm>
          <a:prstGeom prst="rect">
            <a:avLst/>
          </a:prstGeom>
          <a:noFill/>
        </p:spPr>
        <p:txBody>
          <a:bodyPr wrap="square" lIns="0" rIns="0" tIns="0" bIns="0" anchor="t">
            <a:spAutoFit/>
          </a:bodyPr>
          <a:lstStyle/>
          <a:p>
            <a:pPr algn="l">
              <a:lnSpc>
                <a:spcPct val="110000"/>
              </a:lnSpc>
              <a:spcAft>
                <a:spcPts val="0"/>
              </a:spcAft>
            </a:pPr>
            <a:r>
              <a:rPr sz="1600" b="0" i="0">
                <a:solidFill>
                  <a:srgbClr val="1B2433"/>
                </a:solidFill>
                <a:latin typeface="Calibri"/>
              </a:rPr>
              <a:t>Objetivo: r + γ · Q(s’, a’), con a’ elegida por ε-greedy</a:t>
            </a:r>
          </a:p>
        </p:txBody>
      </p:sp>
      <p:sp>
        <p:nvSpPr>
          <p:cNvPr id="24" name="Tarjeta Monte Carlo"/>
          <p:cNvSpPr/>
          <p:nvPr/>
        </p:nvSpPr>
        <p:spPr>
          <a:xfrm>
            <a:off x="5842000" y="4203700"/>
            <a:ext cx="5537200" cy="1206500"/>
          </a:xfrm>
          <a:prstGeom prst="roundRect">
            <a:avLst>
              <a:gd name="adj" fmla="val 8421"/>
            </a:avLst>
          </a:prstGeom>
          <a:solidFill>
            <a:srgbClr val="FBFAF6"/>
          </a:solidFill>
          <a:ln w="9525">
            <a:solidFill>
              <a:srgbClr val="DDD8C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Etiqueta Monte Carlo"/>
          <p:cNvSpPr/>
          <p:nvPr/>
        </p:nvSpPr>
        <p:spPr>
          <a:xfrm>
            <a:off x="6045200" y="4381500"/>
            <a:ext cx="1206500" cy="292100"/>
          </a:xfrm>
          <a:prstGeom prst="roundRect">
            <a:avLst>
              <a:gd name="adj" fmla="val 50000"/>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i="0">
                <a:solidFill>
                  <a:srgbClr val="F5F3EC"/>
                </a:solidFill>
                <a:latin typeface="Calibri"/>
              </a:rPr>
              <a:t>Monte Carlo</a:t>
            </a:r>
          </a:p>
        </p:txBody>
      </p:sp>
      <p:sp>
        <p:nvSpPr>
          <p:cNvPr id="26" name="TextBox 25"/>
          <p:cNvSpPr txBox="1"/>
          <p:nvPr/>
        </p:nvSpPr>
        <p:spPr>
          <a:xfrm>
            <a:off x="8255000" y="4445000"/>
            <a:ext cx="2921000" cy="190500"/>
          </a:xfrm>
          <a:prstGeom prst="rect">
            <a:avLst/>
          </a:prstGeom>
          <a:noFill/>
        </p:spPr>
        <p:txBody>
          <a:bodyPr wrap="square" lIns="0" rIns="0" tIns="0" bIns="0" anchor="t">
            <a:spAutoFit/>
          </a:bodyPr>
          <a:lstStyle/>
          <a:p>
            <a:pPr algn="r">
              <a:lnSpc>
                <a:spcPct val="110000"/>
              </a:lnSpc>
              <a:spcAft>
                <a:spcPts val="0"/>
              </a:spcAft>
            </a:pPr>
            <a:r>
              <a:rPr sz="1200" b="0" i="0">
                <a:solidFill>
                  <a:srgbClr val="556072"/>
                </a:solidFill>
                <a:latin typeface="Calibri"/>
              </a:rPr>
              <a:t>extra · on-policy, ε-greedy</a:t>
            </a:r>
          </a:p>
        </p:txBody>
      </p:sp>
      <p:sp>
        <p:nvSpPr>
          <p:cNvPr id="27" name="TextBox 26"/>
          <p:cNvSpPr txBox="1"/>
          <p:nvPr/>
        </p:nvSpPr>
        <p:spPr>
          <a:xfrm>
            <a:off x="6045200" y="4838700"/>
            <a:ext cx="5080000" cy="444500"/>
          </a:xfrm>
          <a:prstGeom prst="rect">
            <a:avLst/>
          </a:prstGeom>
          <a:noFill/>
        </p:spPr>
        <p:txBody>
          <a:bodyPr wrap="square" lIns="0" rIns="0" tIns="0" bIns="0" anchor="t">
            <a:spAutoFit/>
          </a:bodyPr>
          <a:lstStyle/>
          <a:p>
            <a:pPr algn="l">
              <a:lnSpc>
                <a:spcPct val="110000"/>
              </a:lnSpc>
              <a:spcAft>
                <a:spcPts val="0"/>
              </a:spcAft>
            </a:pPr>
            <a:r>
              <a:rPr sz="1600" b="0" i="0">
                <a:solidFill>
                  <a:srgbClr val="1B2433"/>
                </a:solidFill>
                <a:latin typeface="Calibri"/>
              </a:rPr>
              <a:t>Objetivo: el retorno completo del episodio</a:t>
            </a:r>
          </a:p>
        </p:txBody>
      </p:sp>
      <p:sp>
        <p:nvSpPr>
          <p:cNvPr id="28" name="TextBox 27"/>
          <p:cNvSpPr txBox="1"/>
          <p:nvPr/>
        </p:nvSpPr>
        <p:spPr>
          <a:xfrm>
            <a:off x="812800" y="5588000"/>
            <a:ext cx="10566400" cy="381000"/>
          </a:xfrm>
          <a:prstGeom prst="rect">
            <a:avLst/>
          </a:prstGeom>
          <a:noFill/>
        </p:spPr>
        <p:txBody>
          <a:bodyPr wrap="square" lIns="0" rIns="0" tIns="0" bIns="0" anchor="t">
            <a:spAutoFit/>
          </a:bodyPr>
          <a:lstStyle/>
          <a:p>
            <a:pPr algn="l">
              <a:lnSpc>
                <a:spcPct val="110000"/>
              </a:lnSpc>
              <a:spcAft>
                <a:spcPts val="0"/>
              </a:spcAft>
            </a:pPr>
            <a:r>
              <a:rPr sz="1300" b="0" i="0">
                <a:solidFill>
                  <a:srgbClr val="556072"/>
                </a:solidFill>
                <a:latin typeface="Calibri"/>
              </a:rPr>
              <a:t>Monte Carlo es un extra: lo añadimos para comprobar en un caso real la comparación entre </a:t>
            </a:r>
            <a:r>
              <a:rPr sz="1300" b="0" i="1">
                <a:solidFill>
                  <a:srgbClr val="556072"/>
                </a:solidFill>
                <a:latin typeface="Calibri"/>
              </a:rPr>
              <a:t>bootstrapping</a:t>
            </a:r>
            <a:r>
              <a:rPr sz="1300" b="0" i="0">
                <a:solidFill>
                  <a:srgbClr val="556072"/>
                </a:solidFill>
                <a:latin typeface="Calibri"/>
              </a:rPr>
              <a:t> (TD) y retorno completo (MC) del tema 3.</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itle 1"/>
          <p:cNvSpPr>
            <a:spLocks noGrp="1"/>
          </p:cNvSpPr>
          <p:nvPr>
            <p:ph type="title"/>
          </p:nvPr>
        </p:nvSpPr>
        <p:spPr>
          <a:xfrm>
            <a:off x="812800" y="812800"/>
            <a:ext cx="10566400" cy="546100"/>
          </a:xfrm>
        </p:spPr>
        <p:txBody>
          <a:bodyPr wrap="square" lIns="0" rIns="0" tIns="0" bIns="0" anchor="t"/>
          <a:lstStyle/>
          <a:p>
            <a:pPr algn="l"/>
            <a:r>
              <a:rPr sz="3200" b="1" i="0">
                <a:solidFill>
                  <a:srgbClr val="1B2433"/>
                </a:solidFill>
                <a:latin typeface="Cambria"/>
              </a:rPr>
              <a:t>Discretización por cuantiles</a:t>
            </a:r>
          </a:p>
        </p:txBody>
      </p:sp>
      <p:sp>
        <p:nvSpPr>
          <p:cNvPr id="3" name="Sección"/>
          <p:cNvSpPr txBox="1"/>
          <p:nvPr/>
        </p:nvSpPr>
        <p:spPr>
          <a:xfrm>
            <a:off x="812800" y="533400"/>
            <a:ext cx="10566400" cy="215900"/>
          </a:xfrm>
          <a:prstGeom prst="rect">
            <a:avLst/>
          </a:prstGeom>
          <a:noFill/>
        </p:spPr>
        <p:txBody>
          <a:bodyPr wrap="square" lIns="0" rIns="0" tIns="0" bIns="0" anchor="t">
            <a:spAutoFit/>
          </a:bodyPr>
          <a:lstStyle/>
          <a:p>
            <a:pPr algn="l">
              <a:lnSpc>
                <a:spcPct val="110000"/>
              </a:lnSpc>
              <a:spcAft>
                <a:spcPts val="0"/>
              </a:spcAft>
            </a:pPr>
            <a:r>
              <a:rPr sz="1200" b="1" i="0" spc="150">
                <a:solidFill>
                  <a:srgbClr val="556072"/>
                </a:solidFill>
                <a:latin typeface="Calibri"/>
              </a:rPr>
              <a:t>1 · QUÉ HEMOS PROBADO</a:t>
            </a:r>
          </a:p>
        </p:txBody>
      </p:sp>
      <p:sp>
        <p:nvSpPr>
          <p:cNvPr id="4" name="Pie"/>
          <p:cNvSpPr txBox="1"/>
          <p:nvPr/>
        </p:nvSpPr>
        <p:spPr>
          <a:xfrm>
            <a:off x="812800" y="6350000"/>
            <a:ext cx="7620000" cy="190500"/>
          </a:xfrm>
          <a:prstGeom prst="rect">
            <a:avLst/>
          </a:prstGeom>
          <a:noFill/>
        </p:spPr>
        <p:txBody>
          <a:bodyPr wrap="square" lIns="0" rIns="0" tIns="0" bIns="0" anchor="t">
            <a:spAutoFit/>
          </a:bodyPr>
          <a:lstStyle/>
          <a:p>
            <a:pPr algn="l">
              <a:lnSpc>
                <a:spcPct val="110000"/>
              </a:lnSpc>
              <a:spcAft>
                <a:spcPts val="0"/>
              </a:spcAft>
            </a:pPr>
            <a:r>
              <a:rPr sz="1200" b="0" i="0">
                <a:solidFill>
                  <a:srgbClr val="556072"/>
                </a:solidFill>
                <a:latin typeface="Calibri"/>
              </a:rPr>
              <a:t>Agente de trading con RL tabular · MIAX-14</a:t>
            </a:r>
          </a:p>
        </p:txBody>
      </p:sp>
      <p:sp>
        <p:nvSpPr>
          <p:cNvPr id="5" name="Número de diapositiva"/>
          <p:cNvSpPr txBox="1"/>
          <p:nvPr/>
        </p:nvSpPr>
        <p:spPr>
          <a:xfrm>
            <a:off x="9855200" y="6350000"/>
            <a:ext cx="1524000" cy="190500"/>
          </a:xfrm>
          <a:prstGeom prst="rect">
            <a:avLst/>
          </a:prstGeom>
          <a:noFill/>
        </p:spPr>
        <p:txBody>
          <a:bodyPr wrap="square" lIns="0" rIns="0" tIns="0" bIns="0" anchor="t">
            <a:spAutoFit/>
          </a:bodyPr>
          <a:lstStyle/>
          <a:p>
            <a:pPr algn="r">
              <a:lnSpc>
                <a:spcPct val="110000"/>
              </a:lnSpc>
              <a:spcAft>
                <a:spcPts val="0"/>
              </a:spcAft>
            </a:pPr>
            <a:fld id="{B6F15528-21DE-4FAA-801E-634DDDAF4B2B}" type="slidenum">
              <a:rPr lang="es-ES" sz="1200">
                <a:solidFill>
                  <a:srgbClr val="556072"/>
                </a:solidFill>
                <a:latin typeface="Calibri"/>
              </a:rPr>
              <a:t>‹#›</a:t>
            </a:fld>
          </a:p>
        </p:txBody>
      </p:sp>
      <p:sp>
        <p:nvSpPr>
          <p:cNvPr id="6" name="Marco de figura"/>
          <p:cNvSpPr/>
          <p:nvPr/>
        </p:nvSpPr>
        <p:spPr>
          <a:xfrm>
            <a:off x="1612900" y="1562100"/>
            <a:ext cx="8966200" cy="2586543"/>
          </a:xfrm>
          <a:prstGeom prst="roundRect">
            <a:avLst>
              <a:gd name="adj" fmla="val 3928"/>
            </a:avLst>
          </a:prstGeom>
          <a:solidFill>
            <a:srgbClr val="FFFFFF"/>
          </a:solidFill>
          <a:ln w="9525">
            <a:solidFill>
              <a:srgbClr val="DDD8C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7" name="Figura eda" descr="Histogramas de la tendencia observada por el agente en cada generador: en tendencia + ciclo va de −0,3 a 0,4 y en los otros tres, de −0,05 a 0,05"/>
          <p:cNvPicPr>
            <a:picLocks noChangeAspect="1"/>
          </p:cNvPicPr>
          <p:nvPr/>
        </p:nvPicPr>
        <p:blipFill>
          <a:blip r:embed="rId3"/>
          <a:stretch>
            <a:fillRect/>
          </a:stretch>
        </p:blipFill>
        <p:spPr>
          <a:xfrm>
            <a:off x="1714500" y="1663700"/>
            <a:ext cx="8763000" cy="2383343"/>
          </a:xfrm>
          <a:prstGeom prst="rect">
            <a:avLst/>
          </a:prstGeom>
        </p:spPr>
      </p:pic>
      <p:sp>
        <p:nvSpPr>
          <p:cNvPr id="8" name="TextBox 7"/>
          <p:cNvSpPr txBox="1"/>
          <p:nvPr/>
        </p:nvSpPr>
        <p:spPr>
          <a:xfrm>
            <a:off x="812800" y="4572000"/>
            <a:ext cx="3302000" cy="254000"/>
          </a:xfrm>
          <a:prstGeom prst="rect">
            <a:avLst/>
          </a:prstGeom>
          <a:noFill/>
        </p:spPr>
        <p:txBody>
          <a:bodyPr wrap="square" lIns="0" rIns="0" tIns="0" bIns="0" anchor="t">
            <a:spAutoFit/>
          </a:bodyPr>
          <a:lstStyle/>
          <a:p>
            <a:pPr algn="l">
              <a:lnSpc>
                <a:spcPct val="110000"/>
              </a:lnSpc>
              <a:spcAft>
                <a:spcPts val="0"/>
              </a:spcAft>
            </a:pPr>
            <a:r>
              <a:rPr sz="1600" b="1" i="0">
                <a:solidFill>
                  <a:srgbClr val="1B2433"/>
                </a:solidFill>
                <a:latin typeface="Calibri"/>
              </a:rPr>
              <a:t>Una rejilla uniforme no sirve</a:t>
            </a:r>
          </a:p>
        </p:txBody>
      </p:sp>
      <p:sp>
        <p:nvSpPr>
          <p:cNvPr id="9" name="TextBox 8"/>
          <p:cNvSpPr txBox="1"/>
          <p:nvPr/>
        </p:nvSpPr>
        <p:spPr>
          <a:xfrm>
            <a:off x="812800" y="4851400"/>
            <a:ext cx="3302000" cy="1143000"/>
          </a:xfrm>
          <a:prstGeom prst="rect">
            <a:avLst/>
          </a:prstGeom>
          <a:noFill/>
        </p:spPr>
        <p:txBody>
          <a:bodyPr wrap="square" lIns="0" rIns="0" tIns="0" bIns="0" anchor="t">
            <a:spAutoFit/>
          </a:bodyPr>
          <a:lstStyle/>
          <a:p>
            <a:pPr algn="l">
              <a:lnSpc>
                <a:spcPct val="115000"/>
              </a:lnSpc>
              <a:spcAft>
                <a:spcPts val="0"/>
              </a:spcAft>
            </a:pPr>
            <a:r>
              <a:rPr sz="1400" b="0" i="0">
                <a:solidFill>
                  <a:srgbClr val="1B2433"/>
                </a:solidFill>
                <a:latin typeface="Calibri"/>
              </a:rPr>
              <a:t>Según el generador, la tendencia se mueve en ±0,03 o en ±0,3: casi todos los datos caerían en uno o dos intervalos.</a:t>
            </a:r>
          </a:p>
        </p:txBody>
      </p:sp>
      <p:sp>
        <p:nvSpPr>
          <p:cNvPr id="10" name="TextBox 9"/>
          <p:cNvSpPr txBox="1"/>
          <p:nvPr/>
        </p:nvSpPr>
        <p:spPr>
          <a:xfrm>
            <a:off x="4445000" y="4572000"/>
            <a:ext cx="3302000" cy="254000"/>
          </a:xfrm>
          <a:prstGeom prst="rect">
            <a:avLst/>
          </a:prstGeom>
          <a:noFill/>
        </p:spPr>
        <p:txBody>
          <a:bodyPr wrap="square" lIns="0" rIns="0" tIns="0" bIns="0" anchor="t">
            <a:spAutoFit/>
          </a:bodyPr>
          <a:lstStyle/>
          <a:p>
            <a:pPr algn="l">
              <a:lnSpc>
                <a:spcPct val="110000"/>
              </a:lnSpc>
              <a:spcAft>
                <a:spcPts val="0"/>
              </a:spcAft>
            </a:pPr>
            <a:r>
              <a:rPr sz="1600" b="1" i="0">
                <a:solidFill>
                  <a:srgbClr val="1B2433"/>
                </a:solidFill>
                <a:latin typeface="Calibri"/>
              </a:rPr>
              <a:t>Cuantiles por generador</a:t>
            </a:r>
          </a:p>
        </p:txBody>
      </p:sp>
      <p:sp>
        <p:nvSpPr>
          <p:cNvPr id="11" name="TextBox 10"/>
          <p:cNvSpPr txBox="1"/>
          <p:nvPr/>
        </p:nvSpPr>
        <p:spPr>
          <a:xfrm>
            <a:off x="4445000" y="4851400"/>
            <a:ext cx="3302000" cy="1143000"/>
          </a:xfrm>
          <a:prstGeom prst="rect">
            <a:avLst/>
          </a:prstGeom>
          <a:noFill/>
        </p:spPr>
        <p:txBody>
          <a:bodyPr wrap="square" lIns="0" rIns="0" tIns="0" bIns="0" anchor="t">
            <a:spAutoFit/>
          </a:bodyPr>
          <a:lstStyle/>
          <a:p>
            <a:pPr algn="l">
              <a:lnSpc>
                <a:spcPct val="115000"/>
              </a:lnSpc>
              <a:spcAft>
                <a:spcPts val="0"/>
              </a:spcAft>
            </a:pPr>
            <a:r>
              <a:rPr sz="1400" b="0" i="0">
                <a:solidFill>
                  <a:srgbClr val="1B2433"/>
                </a:solidFill>
                <a:latin typeface="Calibri"/>
              </a:rPr>
              <a:t>Los límites se calculan para cada generador, y el número de intervalos (de 5 a 25) es un hiperparámetro más.</a:t>
            </a:r>
          </a:p>
        </p:txBody>
      </p:sp>
      <p:sp>
        <p:nvSpPr>
          <p:cNvPr id="12" name="TextBox 11"/>
          <p:cNvSpPr txBox="1"/>
          <p:nvPr/>
        </p:nvSpPr>
        <p:spPr>
          <a:xfrm>
            <a:off x="8077200" y="4572000"/>
            <a:ext cx="3302000" cy="254000"/>
          </a:xfrm>
          <a:prstGeom prst="rect">
            <a:avLst/>
          </a:prstGeom>
          <a:noFill/>
        </p:spPr>
        <p:txBody>
          <a:bodyPr wrap="square" lIns="0" rIns="0" tIns="0" bIns="0" anchor="t">
            <a:spAutoFit/>
          </a:bodyPr>
          <a:lstStyle/>
          <a:p>
            <a:pPr algn="l">
              <a:lnSpc>
                <a:spcPct val="110000"/>
              </a:lnSpc>
              <a:spcAft>
                <a:spcPts val="0"/>
              </a:spcAft>
            </a:pPr>
            <a:r>
              <a:rPr sz="1600" b="1" i="0">
                <a:solidFill>
                  <a:srgbClr val="1B2433"/>
                </a:solidFill>
                <a:latin typeface="Calibri"/>
              </a:rPr>
              <a:t>Estado = (intervalo, posición)</a:t>
            </a:r>
          </a:p>
        </p:txBody>
      </p:sp>
      <p:sp>
        <p:nvSpPr>
          <p:cNvPr id="13" name="TextBox 12"/>
          <p:cNvSpPr txBox="1"/>
          <p:nvPr/>
        </p:nvSpPr>
        <p:spPr>
          <a:xfrm>
            <a:off x="8077200" y="4851400"/>
            <a:ext cx="3302000" cy="1143000"/>
          </a:xfrm>
          <a:prstGeom prst="rect">
            <a:avLst/>
          </a:prstGeom>
          <a:noFill/>
        </p:spPr>
        <p:txBody>
          <a:bodyPr wrap="square" lIns="0" rIns="0" tIns="0" bIns="0" anchor="t">
            <a:spAutoFit/>
          </a:bodyPr>
          <a:lstStyle/>
          <a:p>
            <a:pPr algn="l">
              <a:lnSpc>
                <a:spcPct val="115000"/>
              </a:lnSpc>
              <a:spcAft>
                <a:spcPts val="0"/>
              </a:spcAft>
            </a:pPr>
            <a:r>
              <a:rPr sz="1400" b="0" i="0">
                <a:solidFill>
                  <a:srgbClr val="1B2433"/>
                </a:solidFill>
                <a:latin typeface="Calibri"/>
              </a:rPr>
              <a:t>Los algoritmos son tabulares: hay que discretizar la tendencia. Cada episodio usa una serie nueva de 500 precios.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itle 1"/>
          <p:cNvSpPr>
            <a:spLocks noGrp="1"/>
          </p:cNvSpPr>
          <p:nvPr>
            <p:ph type="title"/>
          </p:nvPr>
        </p:nvSpPr>
        <p:spPr>
          <a:xfrm>
            <a:off x="812800" y="812800"/>
            <a:ext cx="10566400" cy="546100"/>
          </a:xfrm>
        </p:spPr>
        <p:txBody>
          <a:bodyPr wrap="square" lIns="0" rIns="0" tIns="0" bIns="0" anchor="t"/>
          <a:lstStyle/>
          <a:p>
            <a:pPr algn="l"/>
            <a:r>
              <a:rPr sz="3200" b="1" i="0">
                <a:solidFill>
                  <a:srgbClr val="1B2433"/>
                </a:solidFill>
                <a:latin typeface="Cambria"/>
              </a:rPr>
              <a:t>Ajuste de hiperparámetros</a:t>
            </a:r>
          </a:p>
        </p:txBody>
      </p:sp>
      <p:sp>
        <p:nvSpPr>
          <p:cNvPr id="3" name="Sección"/>
          <p:cNvSpPr txBox="1"/>
          <p:nvPr/>
        </p:nvSpPr>
        <p:spPr>
          <a:xfrm>
            <a:off x="812800" y="533400"/>
            <a:ext cx="10566400" cy="215900"/>
          </a:xfrm>
          <a:prstGeom prst="rect">
            <a:avLst/>
          </a:prstGeom>
          <a:noFill/>
        </p:spPr>
        <p:txBody>
          <a:bodyPr wrap="square" lIns="0" rIns="0" tIns="0" bIns="0" anchor="t">
            <a:spAutoFit/>
          </a:bodyPr>
          <a:lstStyle/>
          <a:p>
            <a:pPr algn="l">
              <a:lnSpc>
                <a:spcPct val="110000"/>
              </a:lnSpc>
              <a:spcAft>
                <a:spcPts val="0"/>
              </a:spcAft>
            </a:pPr>
            <a:r>
              <a:rPr sz="1200" b="1" i="0" spc="150">
                <a:solidFill>
                  <a:srgbClr val="556072"/>
                </a:solidFill>
                <a:latin typeface="Calibri"/>
              </a:rPr>
              <a:t>1 · QUÉ HEMOS PROBADO</a:t>
            </a:r>
          </a:p>
        </p:txBody>
      </p:sp>
      <p:sp>
        <p:nvSpPr>
          <p:cNvPr id="4" name="Pie"/>
          <p:cNvSpPr txBox="1"/>
          <p:nvPr/>
        </p:nvSpPr>
        <p:spPr>
          <a:xfrm>
            <a:off x="812800" y="6350000"/>
            <a:ext cx="7620000" cy="190500"/>
          </a:xfrm>
          <a:prstGeom prst="rect">
            <a:avLst/>
          </a:prstGeom>
          <a:noFill/>
        </p:spPr>
        <p:txBody>
          <a:bodyPr wrap="square" lIns="0" rIns="0" tIns="0" bIns="0" anchor="t">
            <a:spAutoFit/>
          </a:bodyPr>
          <a:lstStyle/>
          <a:p>
            <a:pPr algn="l">
              <a:lnSpc>
                <a:spcPct val="110000"/>
              </a:lnSpc>
              <a:spcAft>
                <a:spcPts val="0"/>
              </a:spcAft>
            </a:pPr>
            <a:r>
              <a:rPr sz="1200" b="0" i="0">
                <a:solidFill>
                  <a:srgbClr val="556072"/>
                </a:solidFill>
                <a:latin typeface="Calibri"/>
              </a:rPr>
              <a:t>Agente de trading con RL tabular · MIAX-14</a:t>
            </a:r>
          </a:p>
        </p:txBody>
      </p:sp>
      <p:sp>
        <p:nvSpPr>
          <p:cNvPr id="5" name="Número de diapositiva"/>
          <p:cNvSpPr txBox="1"/>
          <p:nvPr/>
        </p:nvSpPr>
        <p:spPr>
          <a:xfrm>
            <a:off x="9855200" y="6350000"/>
            <a:ext cx="1524000" cy="190500"/>
          </a:xfrm>
          <a:prstGeom prst="rect">
            <a:avLst/>
          </a:prstGeom>
          <a:noFill/>
        </p:spPr>
        <p:txBody>
          <a:bodyPr wrap="square" lIns="0" rIns="0" tIns="0" bIns="0" anchor="t">
            <a:spAutoFit/>
          </a:bodyPr>
          <a:lstStyle/>
          <a:p>
            <a:pPr algn="r">
              <a:lnSpc>
                <a:spcPct val="110000"/>
              </a:lnSpc>
              <a:spcAft>
                <a:spcPts val="0"/>
              </a:spcAft>
            </a:pPr>
            <a:fld id="{B6F15528-21DE-4FAA-801E-634DDDAF4B2B}" type="slidenum">
              <a:rPr lang="es-ES" sz="1200">
                <a:solidFill>
                  <a:srgbClr val="556072"/>
                </a:solidFill>
                <a:latin typeface="Calibri"/>
              </a:rPr>
              <a:t>‹#›</a:t>
            </a:fld>
          </a:p>
        </p:txBody>
      </p:sp>
      <p:sp>
        <p:nvSpPr>
          <p:cNvPr id="6" name="TextBox 5"/>
          <p:cNvSpPr txBox="1"/>
          <p:nvPr/>
        </p:nvSpPr>
        <p:spPr>
          <a:xfrm>
            <a:off x="812800" y="1587500"/>
            <a:ext cx="10566400" cy="571500"/>
          </a:xfrm>
          <a:prstGeom prst="rect">
            <a:avLst/>
          </a:prstGeom>
          <a:noFill/>
        </p:spPr>
        <p:txBody>
          <a:bodyPr wrap="square" lIns="0" rIns="0" tIns="0" bIns="0" anchor="t">
            <a:spAutoFit/>
          </a:bodyPr>
          <a:lstStyle/>
          <a:p>
            <a:pPr algn="l">
              <a:lnSpc>
                <a:spcPct val="115000"/>
              </a:lnSpc>
              <a:spcAft>
                <a:spcPts val="0"/>
              </a:spcAft>
            </a:pPr>
            <a:r>
              <a:rPr sz="1600" b="0" i="0">
                <a:solidFill>
                  <a:srgbClr val="1B2433"/>
                </a:solidFill>
                <a:latin typeface="Calibri"/>
              </a:rPr>
              <a:t>Solo hemos usado 30 series de validación, con el log-retorno medio de la política </a:t>
            </a:r>
            <a:r>
              <a:rPr sz="1600" b="0" i="1">
                <a:solidFill>
                  <a:srgbClr val="1B2433"/>
                </a:solidFill>
                <a:latin typeface="Calibri"/>
              </a:rPr>
              <a:t>greedy</a:t>
            </a:r>
            <a:r>
              <a:rPr sz="1600" b="0" i="0">
                <a:solidFill>
                  <a:srgbClr val="1B2433"/>
                </a:solidFill>
                <a:latin typeface="Calibri"/>
              </a:rPr>
              <a:t> como criterio. Cada algoritmo tiene su propia búsqueda.</a:t>
            </a:r>
          </a:p>
        </p:txBody>
      </p:sp>
      <p:sp>
        <p:nvSpPr>
          <p:cNvPr id="7" name="Tarjeta Q-Learning"/>
          <p:cNvSpPr/>
          <p:nvPr/>
        </p:nvSpPr>
        <p:spPr>
          <a:xfrm>
            <a:off x="812800" y="2286000"/>
            <a:ext cx="3378200" cy="2730500"/>
          </a:xfrm>
          <a:prstGeom prst="roundRect">
            <a:avLst>
              <a:gd name="adj" fmla="val 3720"/>
            </a:avLst>
          </a:prstGeom>
          <a:solidFill>
            <a:srgbClr val="FBFAF6"/>
          </a:solidFill>
          <a:ln w="9525">
            <a:solidFill>
              <a:srgbClr val="DDD8C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Etiqueta Q-Learning"/>
          <p:cNvSpPr/>
          <p:nvPr/>
        </p:nvSpPr>
        <p:spPr>
          <a:xfrm>
            <a:off x="1016000" y="2489200"/>
            <a:ext cx="1206500" cy="292100"/>
          </a:xfrm>
          <a:prstGeom prst="roundRect">
            <a:avLst>
              <a:gd name="adj" fmla="val 50000"/>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i="0">
                <a:solidFill>
                  <a:srgbClr val="F5F3EC"/>
                </a:solidFill>
                <a:latin typeface="Calibri"/>
              </a:rPr>
              <a:t>Q-Learning</a:t>
            </a:r>
          </a:p>
        </p:txBody>
      </p:sp>
      <p:sp>
        <p:nvSpPr>
          <p:cNvPr id="9" name="TextBox 8"/>
          <p:cNvSpPr txBox="1"/>
          <p:nvPr/>
        </p:nvSpPr>
        <p:spPr>
          <a:xfrm>
            <a:off x="1016000" y="2933700"/>
            <a:ext cx="1905000" cy="635000"/>
          </a:xfrm>
          <a:prstGeom prst="rect">
            <a:avLst/>
          </a:prstGeom>
          <a:noFill/>
        </p:spPr>
        <p:txBody>
          <a:bodyPr wrap="square" lIns="0" rIns="0" tIns="0" bIns="0" anchor="t">
            <a:spAutoFit/>
          </a:bodyPr>
          <a:lstStyle/>
          <a:p>
            <a:pPr algn="l">
              <a:lnSpc>
                <a:spcPct val="110000"/>
              </a:lnSpc>
              <a:spcAft>
                <a:spcPts val="0"/>
              </a:spcAft>
            </a:pPr>
            <a:r>
              <a:rPr sz="4400" b="1" i="0">
                <a:solidFill>
                  <a:srgbClr val="1F5DB0"/>
                </a:solidFill>
                <a:latin typeface="Cambria"/>
              </a:rPr>
              <a:t>396</a:t>
            </a:r>
          </a:p>
        </p:txBody>
      </p:sp>
      <p:sp>
        <p:nvSpPr>
          <p:cNvPr id="10" name="TextBox 9"/>
          <p:cNvSpPr txBox="1"/>
          <p:nvPr/>
        </p:nvSpPr>
        <p:spPr>
          <a:xfrm>
            <a:off x="2400300" y="3175000"/>
            <a:ext cx="1778000" cy="190500"/>
          </a:xfrm>
          <a:prstGeom prst="rect">
            <a:avLst/>
          </a:prstGeom>
          <a:noFill/>
        </p:spPr>
        <p:txBody>
          <a:bodyPr wrap="square" lIns="0" rIns="0" tIns="0" bIns="0" anchor="t">
            <a:spAutoFit/>
          </a:bodyPr>
          <a:lstStyle/>
          <a:p>
            <a:pPr algn="l">
              <a:lnSpc>
                <a:spcPct val="110000"/>
              </a:lnSpc>
              <a:spcAft>
                <a:spcPts val="0"/>
              </a:spcAft>
            </a:pPr>
            <a:r>
              <a:rPr sz="1200" b="0" i="0">
                <a:solidFill>
                  <a:srgbClr val="556072"/>
                </a:solidFill>
                <a:latin typeface="Calibri"/>
              </a:rPr>
              <a:t>entrenamientos</a:t>
            </a:r>
          </a:p>
        </p:txBody>
      </p:sp>
      <p:sp>
        <p:nvSpPr>
          <p:cNvPr id="11" name="TextBox 10"/>
          <p:cNvSpPr txBox="1"/>
          <p:nvPr/>
        </p:nvSpPr>
        <p:spPr>
          <a:xfrm>
            <a:off x="1016000" y="3683000"/>
            <a:ext cx="2971800" cy="1206500"/>
          </a:xfrm>
          <a:prstGeom prst="rect">
            <a:avLst/>
          </a:prstGeom>
          <a:noFill/>
        </p:spPr>
        <p:txBody>
          <a:bodyPr wrap="square" lIns="0" rIns="0" tIns="0" bIns="0" anchor="t">
            <a:spAutoFit/>
          </a:bodyPr>
          <a:lstStyle/>
          <a:p>
            <a:pPr algn="l">
              <a:lnSpc>
                <a:spcPct val="115000"/>
              </a:lnSpc>
              <a:spcAft>
                <a:spcPts val="0"/>
              </a:spcAft>
            </a:pPr>
            <a:r>
              <a:rPr sz="1400" b="0" i="0">
                <a:solidFill>
                  <a:srgbClr val="1B2433"/>
                </a:solidFill>
                <a:latin typeface="Calibri"/>
              </a:rPr>
              <a:t>Rejilla con α = {0,01; 0,05; 0,2}, γ = {0; 0,5; 0,9; 0,99} y 5, 10 o 20 intervalos; después, ε.</a:t>
            </a:r>
          </a:p>
        </p:txBody>
      </p:sp>
      <p:sp>
        <p:nvSpPr>
          <p:cNvPr id="12" name="Tarjeta SARSA"/>
          <p:cNvSpPr/>
          <p:nvPr/>
        </p:nvSpPr>
        <p:spPr>
          <a:xfrm>
            <a:off x="4406900" y="2286000"/>
            <a:ext cx="3378200" cy="2730500"/>
          </a:xfrm>
          <a:prstGeom prst="roundRect">
            <a:avLst>
              <a:gd name="adj" fmla="val 3720"/>
            </a:avLst>
          </a:prstGeom>
          <a:solidFill>
            <a:srgbClr val="FBFAF6"/>
          </a:solidFill>
          <a:ln w="9525">
            <a:solidFill>
              <a:srgbClr val="DDD8C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Etiqueta SARSA"/>
          <p:cNvSpPr/>
          <p:nvPr/>
        </p:nvSpPr>
        <p:spPr>
          <a:xfrm>
            <a:off x="4610100" y="2489200"/>
            <a:ext cx="952500" cy="292100"/>
          </a:xfrm>
          <a:prstGeom prst="roundRect">
            <a:avLst>
              <a:gd name="adj" fmla="val 50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i="0">
                <a:solidFill>
                  <a:srgbClr val="F5F3EC"/>
                </a:solidFill>
                <a:latin typeface="Calibri"/>
              </a:rPr>
              <a:t>SARSA</a:t>
            </a:r>
          </a:p>
        </p:txBody>
      </p:sp>
      <p:sp>
        <p:nvSpPr>
          <p:cNvPr id="14" name="TextBox 13"/>
          <p:cNvSpPr txBox="1"/>
          <p:nvPr/>
        </p:nvSpPr>
        <p:spPr>
          <a:xfrm>
            <a:off x="4610100" y="2933700"/>
            <a:ext cx="1905000" cy="635000"/>
          </a:xfrm>
          <a:prstGeom prst="rect">
            <a:avLst/>
          </a:prstGeom>
          <a:noFill/>
        </p:spPr>
        <p:txBody>
          <a:bodyPr wrap="square" lIns="0" rIns="0" tIns="0" bIns="0" anchor="t">
            <a:spAutoFit/>
          </a:bodyPr>
          <a:lstStyle/>
          <a:p>
            <a:pPr algn="l">
              <a:lnSpc>
                <a:spcPct val="110000"/>
              </a:lnSpc>
              <a:spcAft>
                <a:spcPts val="0"/>
              </a:spcAft>
            </a:pPr>
            <a:r>
              <a:rPr sz="4400" b="1" i="0">
                <a:solidFill>
                  <a:srgbClr val="7C3AED"/>
                </a:solidFill>
                <a:latin typeface="Cambria"/>
              </a:rPr>
              <a:t>40</a:t>
            </a:r>
          </a:p>
        </p:txBody>
      </p:sp>
      <p:sp>
        <p:nvSpPr>
          <p:cNvPr id="15" name="TextBox 14"/>
          <p:cNvSpPr txBox="1"/>
          <p:nvPr/>
        </p:nvSpPr>
        <p:spPr>
          <a:xfrm>
            <a:off x="5676900" y="3175000"/>
            <a:ext cx="1778000" cy="190500"/>
          </a:xfrm>
          <a:prstGeom prst="rect">
            <a:avLst/>
          </a:prstGeom>
          <a:noFill/>
        </p:spPr>
        <p:txBody>
          <a:bodyPr wrap="square" lIns="0" rIns="0" tIns="0" bIns="0" anchor="t">
            <a:spAutoFit/>
          </a:bodyPr>
          <a:lstStyle/>
          <a:p>
            <a:pPr algn="l">
              <a:lnSpc>
                <a:spcPct val="110000"/>
              </a:lnSpc>
              <a:spcAft>
                <a:spcPts val="0"/>
              </a:spcAft>
            </a:pPr>
            <a:r>
              <a:rPr sz="1200" b="0" i="0">
                <a:solidFill>
                  <a:srgbClr val="556072"/>
                </a:solidFill>
                <a:latin typeface="Calibri"/>
              </a:rPr>
              <a:t>configuraciones</a:t>
            </a:r>
          </a:p>
        </p:txBody>
      </p:sp>
      <p:sp>
        <p:nvSpPr>
          <p:cNvPr id="16" name="TextBox 15"/>
          <p:cNvSpPr txBox="1"/>
          <p:nvPr/>
        </p:nvSpPr>
        <p:spPr>
          <a:xfrm>
            <a:off x="4610100" y="3683000"/>
            <a:ext cx="2971800" cy="1206500"/>
          </a:xfrm>
          <a:prstGeom prst="rect">
            <a:avLst/>
          </a:prstGeom>
          <a:noFill/>
        </p:spPr>
        <p:txBody>
          <a:bodyPr wrap="square" lIns="0" rIns="0" tIns="0" bIns="0" anchor="t">
            <a:spAutoFit/>
          </a:bodyPr>
          <a:lstStyle/>
          <a:p>
            <a:pPr algn="l">
              <a:lnSpc>
                <a:spcPct val="115000"/>
              </a:lnSpc>
              <a:spcAft>
                <a:spcPts val="0"/>
              </a:spcAft>
            </a:pPr>
            <a:r>
              <a:rPr sz="1400" b="0" i="0">
                <a:solidFill>
                  <a:srgbClr val="1B2433"/>
                </a:solidFill>
                <a:latin typeface="Calibri"/>
              </a:rPr>
              <a:t>Búsqueda aleatoria con α decreciente y reevaluación de las 3 mejores. Solo considera las acciones con efecto en cada posición.</a:t>
            </a:r>
          </a:p>
        </p:txBody>
      </p:sp>
      <p:sp>
        <p:nvSpPr>
          <p:cNvPr id="17" name="Tarjeta Monte Carlo"/>
          <p:cNvSpPr/>
          <p:nvPr/>
        </p:nvSpPr>
        <p:spPr>
          <a:xfrm>
            <a:off x="8001000" y="2286000"/>
            <a:ext cx="3378200" cy="2730500"/>
          </a:xfrm>
          <a:prstGeom prst="roundRect">
            <a:avLst>
              <a:gd name="adj" fmla="val 3720"/>
            </a:avLst>
          </a:prstGeom>
          <a:solidFill>
            <a:srgbClr val="FBFAF6"/>
          </a:solidFill>
          <a:ln w="9525">
            <a:solidFill>
              <a:srgbClr val="DDD8C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Etiqueta Monte Carlo"/>
          <p:cNvSpPr/>
          <p:nvPr/>
        </p:nvSpPr>
        <p:spPr>
          <a:xfrm>
            <a:off x="8204200" y="2489200"/>
            <a:ext cx="1206500" cy="292100"/>
          </a:xfrm>
          <a:prstGeom prst="roundRect">
            <a:avLst>
              <a:gd name="adj" fmla="val 50000"/>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i="0">
                <a:solidFill>
                  <a:srgbClr val="F5F3EC"/>
                </a:solidFill>
                <a:latin typeface="Calibri"/>
              </a:rPr>
              <a:t>Monte Carlo</a:t>
            </a:r>
          </a:p>
        </p:txBody>
      </p:sp>
      <p:sp>
        <p:nvSpPr>
          <p:cNvPr id="19" name="TextBox 18"/>
          <p:cNvSpPr txBox="1"/>
          <p:nvPr/>
        </p:nvSpPr>
        <p:spPr>
          <a:xfrm>
            <a:off x="8204200" y="2933700"/>
            <a:ext cx="1905000" cy="635000"/>
          </a:xfrm>
          <a:prstGeom prst="rect">
            <a:avLst/>
          </a:prstGeom>
          <a:noFill/>
        </p:spPr>
        <p:txBody>
          <a:bodyPr wrap="square" lIns="0" rIns="0" tIns="0" bIns="0" anchor="t">
            <a:spAutoFit/>
          </a:bodyPr>
          <a:lstStyle/>
          <a:p>
            <a:pPr algn="l">
              <a:lnSpc>
                <a:spcPct val="110000"/>
              </a:lnSpc>
              <a:spcAft>
                <a:spcPts val="0"/>
              </a:spcAft>
            </a:pPr>
            <a:r>
              <a:rPr sz="4400" b="1" i="0">
                <a:solidFill>
                  <a:srgbClr val="C2410C"/>
                </a:solidFill>
                <a:latin typeface="Cambria"/>
              </a:rPr>
              <a:t>696</a:t>
            </a:r>
          </a:p>
        </p:txBody>
      </p:sp>
      <p:sp>
        <p:nvSpPr>
          <p:cNvPr id="20" name="TextBox 19"/>
          <p:cNvSpPr txBox="1"/>
          <p:nvPr/>
        </p:nvSpPr>
        <p:spPr>
          <a:xfrm>
            <a:off x="9588500" y="3175000"/>
            <a:ext cx="1778000" cy="190500"/>
          </a:xfrm>
          <a:prstGeom prst="rect">
            <a:avLst/>
          </a:prstGeom>
          <a:noFill/>
        </p:spPr>
        <p:txBody>
          <a:bodyPr wrap="square" lIns="0" rIns="0" tIns="0" bIns="0" anchor="t">
            <a:spAutoFit/>
          </a:bodyPr>
          <a:lstStyle/>
          <a:p>
            <a:pPr algn="l">
              <a:lnSpc>
                <a:spcPct val="110000"/>
              </a:lnSpc>
              <a:spcAft>
                <a:spcPts val="0"/>
              </a:spcAft>
            </a:pPr>
            <a:r>
              <a:rPr sz="1200" b="0" i="0">
                <a:solidFill>
                  <a:srgbClr val="556072"/>
                </a:solidFill>
                <a:latin typeface="Calibri"/>
              </a:rPr>
              <a:t>entrenamientos</a:t>
            </a:r>
          </a:p>
        </p:txBody>
      </p:sp>
      <p:sp>
        <p:nvSpPr>
          <p:cNvPr id="21" name="TextBox 20"/>
          <p:cNvSpPr txBox="1"/>
          <p:nvPr/>
        </p:nvSpPr>
        <p:spPr>
          <a:xfrm>
            <a:off x="8204200" y="3683000"/>
            <a:ext cx="2971800" cy="1206500"/>
          </a:xfrm>
          <a:prstGeom prst="rect">
            <a:avLst/>
          </a:prstGeom>
          <a:noFill/>
        </p:spPr>
        <p:txBody>
          <a:bodyPr wrap="square" lIns="0" rIns="0" tIns="0" bIns="0" anchor="t">
            <a:spAutoFit/>
          </a:bodyPr>
          <a:lstStyle/>
          <a:p>
            <a:pPr algn="l">
              <a:lnSpc>
                <a:spcPct val="115000"/>
              </a:lnSpc>
              <a:spcAft>
                <a:spcPts val="0"/>
              </a:spcAft>
            </a:pPr>
            <a:r>
              <a:rPr sz="1400" b="0" i="0">
                <a:solidFill>
                  <a:srgbClr val="1B2433"/>
                </a:solidFill>
                <a:latin typeface="Calibri"/>
              </a:rPr>
              <a:t>Otra rejilla, con α más pequeños (hasta 0,001 y 1/N), comparando además </a:t>
            </a:r>
            <a:r>
              <a:rPr sz="1400" b="0" i="1">
                <a:solidFill>
                  <a:srgbClr val="1B2433"/>
                </a:solidFill>
                <a:latin typeface="Calibri"/>
              </a:rPr>
              <a:t>every-visit</a:t>
            </a:r>
            <a:r>
              <a:rPr sz="1400" b="0" i="0">
                <a:solidFill>
                  <a:srgbClr val="1B2433"/>
                </a:solidFill>
                <a:latin typeface="Calibri"/>
              </a:rPr>
              <a:t> y </a:t>
            </a:r>
            <a:r>
              <a:rPr sz="1400" b="0" i="1">
                <a:solidFill>
                  <a:srgbClr val="1B2433"/>
                </a:solidFill>
                <a:latin typeface="Calibri"/>
              </a:rPr>
              <a:t>first-visit</a:t>
            </a:r>
            <a:r>
              <a:rPr sz="1400" b="0" i="0">
                <a:solidFill>
                  <a:srgbClr val="1B2433"/>
                </a:solidFill>
                <a:latin typeface="Calibri"/>
              </a:rPr>
              <a:t>.</a:t>
            </a:r>
          </a:p>
        </p:txBody>
      </p:sp>
      <p:sp>
        <p:nvSpPr>
          <p:cNvPr id="22" name="TextBox 21"/>
          <p:cNvSpPr txBox="1"/>
          <p:nvPr/>
        </p:nvSpPr>
        <p:spPr>
          <a:xfrm>
            <a:off x="812800" y="5270500"/>
            <a:ext cx="10566400" cy="381000"/>
          </a:xfrm>
          <a:prstGeom prst="rect">
            <a:avLst/>
          </a:prstGeom>
          <a:noFill/>
        </p:spPr>
        <p:txBody>
          <a:bodyPr wrap="square" lIns="0" rIns="0" tIns="0" bIns="0" anchor="t">
            <a:spAutoFit/>
          </a:bodyPr>
          <a:lstStyle/>
          <a:p>
            <a:pPr algn="l">
              <a:lnSpc>
                <a:spcPct val="110000"/>
              </a:lnSpc>
              <a:spcAft>
                <a:spcPts val="0"/>
              </a:spcAft>
            </a:pPr>
            <a:r>
              <a:rPr sz="1600" b="0" i="0">
                <a:solidFill>
                  <a:srgbClr val="1B2433"/>
                </a:solidFill>
                <a:latin typeface="Calibri"/>
              </a:rPr>
              <a:t>Con las curvas de aprendizaje fijamos 3000 episodios y entrenamos 5 semillas por algoritmo y mercado.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itle 1"/>
          <p:cNvSpPr>
            <a:spLocks noGrp="1"/>
          </p:cNvSpPr>
          <p:nvPr>
            <p:ph type="title"/>
          </p:nvPr>
        </p:nvSpPr>
        <p:spPr>
          <a:xfrm>
            <a:off x="812800" y="812800"/>
            <a:ext cx="10566400" cy="546100"/>
          </a:xfrm>
        </p:spPr>
        <p:txBody>
          <a:bodyPr wrap="square" lIns="0" rIns="0" tIns="0" bIns="0" anchor="t"/>
          <a:lstStyle/>
          <a:p>
            <a:pPr algn="l"/>
            <a:r>
              <a:rPr sz="3200" b="1" i="0">
                <a:solidFill>
                  <a:srgbClr val="1B2433"/>
                </a:solidFill>
                <a:latin typeface="Cambria"/>
              </a:rPr>
              <a:t>Protocolo común de evaluación</a:t>
            </a:r>
          </a:p>
        </p:txBody>
      </p:sp>
      <p:sp>
        <p:nvSpPr>
          <p:cNvPr id="3" name="Sección"/>
          <p:cNvSpPr txBox="1"/>
          <p:nvPr/>
        </p:nvSpPr>
        <p:spPr>
          <a:xfrm>
            <a:off x="812800" y="533400"/>
            <a:ext cx="10566400" cy="215900"/>
          </a:xfrm>
          <a:prstGeom prst="rect">
            <a:avLst/>
          </a:prstGeom>
          <a:noFill/>
        </p:spPr>
        <p:txBody>
          <a:bodyPr wrap="square" lIns="0" rIns="0" tIns="0" bIns="0" anchor="t">
            <a:spAutoFit/>
          </a:bodyPr>
          <a:lstStyle/>
          <a:p>
            <a:pPr algn="l">
              <a:lnSpc>
                <a:spcPct val="110000"/>
              </a:lnSpc>
              <a:spcAft>
                <a:spcPts val="0"/>
              </a:spcAft>
            </a:pPr>
            <a:r>
              <a:rPr sz="1200" b="1" i="0" spc="150">
                <a:solidFill>
                  <a:srgbClr val="556072"/>
                </a:solidFill>
                <a:latin typeface="Calibri"/>
              </a:rPr>
              <a:t>1 · QUÉ HEMOS PROBADO</a:t>
            </a:r>
          </a:p>
        </p:txBody>
      </p:sp>
      <p:sp>
        <p:nvSpPr>
          <p:cNvPr id="4" name="Pie"/>
          <p:cNvSpPr txBox="1"/>
          <p:nvPr/>
        </p:nvSpPr>
        <p:spPr>
          <a:xfrm>
            <a:off x="812800" y="6350000"/>
            <a:ext cx="7620000" cy="190500"/>
          </a:xfrm>
          <a:prstGeom prst="rect">
            <a:avLst/>
          </a:prstGeom>
          <a:noFill/>
        </p:spPr>
        <p:txBody>
          <a:bodyPr wrap="square" lIns="0" rIns="0" tIns="0" bIns="0" anchor="t">
            <a:spAutoFit/>
          </a:bodyPr>
          <a:lstStyle/>
          <a:p>
            <a:pPr algn="l">
              <a:lnSpc>
                <a:spcPct val="110000"/>
              </a:lnSpc>
              <a:spcAft>
                <a:spcPts val="0"/>
              </a:spcAft>
            </a:pPr>
            <a:r>
              <a:rPr sz="1200" b="0" i="0">
                <a:solidFill>
                  <a:srgbClr val="556072"/>
                </a:solidFill>
                <a:latin typeface="Calibri"/>
              </a:rPr>
              <a:t>Agente de trading con RL tabular · MIAX-14</a:t>
            </a:r>
          </a:p>
        </p:txBody>
      </p:sp>
      <p:sp>
        <p:nvSpPr>
          <p:cNvPr id="5" name="Número de diapositiva"/>
          <p:cNvSpPr txBox="1"/>
          <p:nvPr/>
        </p:nvSpPr>
        <p:spPr>
          <a:xfrm>
            <a:off x="9855200" y="6350000"/>
            <a:ext cx="1524000" cy="190500"/>
          </a:xfrm>
          <a:prstGeom prst="rect">
            <a:avLst/>
          </a:prstGeom>
          <a:noFill/>
        </p:spPr>
        <p:txBody>
          <a:bodyPr wrap="square" lIns="0" rIns="0" tIns="0" bIns="0" anchor="t">
            <a:spAutoFit/>
          </a:bodyPr>
          <a:lstStyle/>
          <a:p>
            <a:pPr algn="r">
              <a:lnSpc>
                <a:spcPct val="110000"/>
              </a:lnSpc>
              <a:spcAft>
                <a:spcPts val="0"/>
              </a:spcAft>
            </a:pPr>
            <a:fld id="{B6F15528-21DE-4FAA-801E-634DDDAF4B2B}" type="slidenum">
              <a:rPr lang="es-ES" sz="1200">
                <a:solidFill>
                  <a:srgbClr val="556072"/>
                </a:solidFill>
                <a:latin typeface="Calibri"/>
              </a:rPr>
              <a:t>‹#›</a:t>
            </a:fld>
          </a:p>
        </p:txBody>
      </p:sp>
      <p:sp>
        <p:nvSpPr>
          <p:cNvPr id="6" name="Banner"/>
          <p:cNvSpPr/>
          <p:nvPr/>
        </p:nvSpPr>
        <p:spPr>
          <a:xfrm>
            <a:off x="812800" y="1587500"/>
            <a:ext cx="10566400" cy="762000"/>
          </a:xfrm>
          <a:prstGeom prst="roundRect">
            <a:avLst>
              <a:gd name="adj" fmla="val 13333"/>
            </a:avLst>
          </a:prstGeom>
          <a:solidFill>
            <a:srgbClr val="101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66800" y="1714500"/>
            <a:ext cx="10058400" cy="533400"/>
          </a:xfrm>
          <a:prstGeom prst="rect">
            <a:avLst/>
          </a:prstGeom>
          <a:noFill/>
        </p:spPr>
        <p:txBody>
          <a:bodyPr wrap="square" lIns="0" rIns="0" tIns="0" bIns="0" anchor="ctr">
            <a:spAutoFit/>
          </a:bodyPr>
          <a:lstStyle/>
          <a:p>
            <a:pPr algn="l">
              <a:lnSpc>
                <a:spcPct val="115000"/>
              </a:lnSpc>
              <a:spcAft>
                <a:spcPts val="0"/>
              </a:spcAft>
            </a:pPr>
            <a:r>
              <a:rPr sz="1600" b="0" i="0">
                <a:solidFill>
                  <a:srgbClr val="F5F3EC"/>
                </a:solidFill>
                <a:latin typeface="Calibri"/>
              </a:rPr>
              <a:t>Al juntar los resultados vimos que Q-Learning y SARSA no se habían evaluado con las mismas series de test ni con las mismas métricas, así que repetimos la evaluación con un protocolo común.</a:t>
            </a:r>
          </a:p>
        </p:txBody>
      </p:sp>
      <p:sp>
        <p:nvSpPr>
          <p:cNvPr id="8" name="Separador"/>
          <p:cNvSpPr/>
          <p:nvPr/>
        </p:nvSpPr>
        <p:spPr>
          <a:xfrm>
            <a:off x="812800" y="2540000"/>
            <a:ext cx="10566400" cy="12700"/>
          </a:xfrm>
          <a:prstGeom prst="rect">
            <a:avLst/>
          </a:prstGeom>
          <a:solidFill>
            <a:srgbClr val="DDD8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12800" y="2679700"/>
            <a:ext cx="1905000" cy="190500"/>
          </a:xfrm>
          <a:prstGeom prst="rect">
            <a:avLst/>
          </a:prstGeom>
          <a:noFill/>
        </p:spPr>
        <p:txBody>
          <a:bodyPr wrap="square" lIns="0" rIns="0" tIns="0" bIns="0" anchor="t">
            <a:spAutoFit/>
          </a:bodyPr>
          <a:lstStyle/>
          <a:p>
            <a:pPr algn="l">
              <a:lnSpc>
                <a:spcPct val="110000"/>
              </a:lnSpc>
              <a:spcAft>
                <a:spcPts val="0"/>
              </a:spcAft>
            </a:pPr>
            <a:r>
              <a:rPr sz="1300" b="1" i="0">
                <a:solidFill>
                  <a:srgbClr val="556072"/>
                </a:solidFill>
                <a:latin typeface="Calibri"/>
              </a:rPr>
              <a:t>Series de test</a:t>
            </a:r>
          </a:p>
        </p:txBody>
      </p:sp>
      <p:sp>
        <p:nvSpPr>
          <p:cNvPr id="10" name="TextBox 9"/>
          <p:cNvSpPr txBox="1"/>
          <p:nvPr/>
        </p:nvSpPr>
        <p:spPr>
          <a:xfrm>
            <a:off x="2857500" y="2654300"/>
            <a:ext cx="8521700" cy="508000"/>
          </a:xfrm>
          <a:prstGeom prst="rect">
            <a:avLst/>
          </a:prstGeom>
          <a:noFill/>
        </p:spPr>
        <p:txBody>
          <a:bodyPr wrap="square" lIns="0" rIns="0" tIns="0" bIns="0" anchor="t">
            <a:spAutoFit/>
          </a:bodyPr>
          <a:lstStyle/>
          <a:p>
            <a:pPr algn="l">
              <a:lnSpc>
                <a:spcPct val="115000"/>
              </a:lnSpc>
              <a:spcAft>
                <a:spcPts val="0"/>
              </a:spcAft>
            </a:pPr>
            <a:r>
              <a:rPr sz="1600" b="0" i="0">
                <a:solidFill>
                  <a:srgbClr val="1B2433"/>
                </a:solidFill>
                <a:latin typeface="Calibri"/>
              </a:rPr>
              <a:t>Las mismas 100 por mercado, que no se han usado para ajustar nada.</a:t>
            </a:r>
          </a:p>
        </p:txBody>
      </p:sp>
      <p:sp>
        <p:nvSpPr>
          <p:cNvPr id="11" name="Separador"/>
          <p:cNvSpPr/>
          <p:nvPr/>
        </p:nvSpPr>
        <p:spPr>
          <a:xfrm>
            <a:off x="812800" y="3175000"/>
            <a:ext cx="10566400" cy="12700"/>
          </a:xfrm>
          <a:prstGeom prst="rect">
            <a:avLst/>
          </a:prstGeom>
          <a:solidFill>
            <a:srgbClr val="DDD8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812800" y="3314700"/>
            <a:ext cx="1905000" cy="190500"/>
          </a:xfrm>
          <a:prstGeom prst="rect">
            <a:avLst/>
          </a:prstGeom>
          <a:noFill/>
        </p:spPr>
        <p:txBody>
          <a:bodyPr wrap="square" lIns="0" rIns="0" tIns="0" bIns="0" anchor="t">
            <a:spAutoFit/>
          </a:bodyPr>
          <a:lstStyle/>
          <a:p>
            <a:pPr algn="l">
              <a:lnSpc>
                <a:spcPct val="110000"/>
              </a:lnSpc>
              <a:spcAft>
                <a:spcPts val="0"/>
              </a:spcAft>
            </a:pPr>
            <a:r>
              <a:rPr sz="1300" b="1" i="0">
                <a:solidFill>
                  <a:srgbClr val="556072"/>
                </a:solidFill>
                <a:latin typeface="Calibri"/>
              </a:rPr>
              <a:t>Métrica principal</a:t>
            </a:r>
          </a:p>
        </p:txBody>
      </p:sp>
      <p:sp>
        <p:nvSpPr>
          <p:cNvPr id="13" name="TextBox 12"/>
          <p:cNvSpPr txBox="1"/>
          <p:nvPr/>
        </p:nvSpPr>
        <p:spPr>
          <a:xfrm>
            <a:off x="2857500" y="3289300"/>
            <a:ext cx="8521700" cy="508000"/>
          </a:xfrm>
          <a:prstGeom prst="rect">
            <a:avLst/>
          </a:prstGeom>
          <a:noFill/>
        </p:spPr>
        <p:txBody>
          <a:bodyPr wrap="square" lIns="0" rIns="0" tIns="0" bIns="0" anchor="t">
            <a:spAutoFit/>
          </a:bodyPr>
          <a:lstStyle/>
          <a:p>
            <a:pPr algn="l">
              <a:lnSpc>
                <a:spcPct val="115000"/>
              </a:lnSpc>
              <a:spcAft>
                <a:spcPts val="0"/>
              </a:spcAft>
            </a:pPr>
            <a:r>
              <a:rPr sz="1600" b="0" i="0">
                <a:solidFill>
                  <a:srgbClr val="1B2433"/>
                </a:solidFill>
                <a:latin typeface="Calibri"/>
              </a:rPr>
              <a:t>Log-retorno medio del capital: la media del balance la dominan unas pocas series.</a:t>
            </a:r>
          </a:p>
        </p:txBody>
      </p:sp>
      <p:sp>
        <p:nvSpPr>
          <p:cNvPr id="14" name="Separador"/>
          <p:cNvSpPr/>
          <p:nvPr/>
        </p:nvSpPr>
        <p:spPr>
          <a:xfrm>
            <a:off x="812800" y="3810000"/>
            <a:ext cx="10566400" cy="12700"/>
          </a:xfrm>
          <a:prstGeom prst="rect">
            <a:avLst/>
          </a:prstGeom>
          <a:solidFill>
            <a:srgbClr val="DDD8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812800" y="3949700"/>
            <a:ext cx="1905000" cy="190500"/>
          </a:xfrm>
          <a:prstGeom prst="rect">
            <a:avLst/>
          </a:prstGeom>
          <a:noFill/>
        </p:spPr>
        <p:txBody>
          <a:bodyPr wrap="square" lIns="0" rIns="0" tIns="0" bIns="0" anchor="t">
            <a:spAutoFit/>
          </a:bodyPr>
          <a:lstStyle/>
          <a:p>
            <a:pPr algn="l">
              <a:lnSpc>
                <a:spcPct val="110000"/>
              </a:lnSpc>
              <a:spcAft>
                <a:spcPts val="0"/>
              </a:spcAft>
            </a:pPr>
            <a:r>
              <a:rPr sz="1300" b="1" i="0">
                <a:solidFill>
                  <a:srgbClr val="556072"/>
                </a:solidFill>
                <a:latin typeface="Calibri"/>
              </a:rPr>
              <a:t>Convergencia</a:t>
            </a:r>
          </a:p>
        </p:txBody>
      </p:sp>
      <p:sp>
        <p:nvSpPr>
          <p:cNvPr id="16" name="TextBox 15"/>
          <p:cNvSpPr txBox="1"/>
          <p:nvPr/>
        </p:nvSpPr>
        <p:spPr>
          <a:xfrm>
            <a:off x="2857500" y="3924300"/>
            <a:ext cx="8521700" cy="952500"/>
          </a:xfrm>
          <a:prstGeom prst="rect">
            <a:avLst/>
          </a:prstGeom>
          <a:noFill/>
        </p:spPr>
        <p:txBody>
          <a:bodyPr wrap="square" lIns="0" rIns="0" tIns="0" bIns="0" anchor="t">
            <a:spAutoFit/>
          </a:bodyPr>
          <a:lstStyle/>
          <a:p>
            <a:pPr algn="l">
              <a:lnSpc>
                <a:spcPct val="115000"/>
              </a:lnSpc>
              <a:spcAft>
                <a:spcPts val="0"/>
              </a:spcAft>
            </a:pPr>
            <a:r>
              <a:rPr sz="1600" b="0" i="0">
                <a:solidFill>
                  <a:srgbClr val="1B2433"/>
                </a:solidFill>
                <a:latin typeface="Calibri"/>
              </a:rPr>
              <a:t>Primer episodio a partir del cual la curva de validación ya no sale de una banda alrededor de su valor final. En segundos: episodios × coste de un episodio (8–11 ms, medido en serie en el mismo ordenador).</a:t>
            </a:r>
          </a:p>
        </p:txBody>
      </p:sp>
      <p:sp>
        <p:nvSpPr>
          <p:cNvPr id="17" name="Separador"/>
          <p:cNvSpPr/>
          <p:nvPr/>
        </p:nvSpPr>
        <p:spPr>
          <a:xfrm>
            <a:off x="812800" y="4889500"/>
            <a:ext cx="10566400" cy="12700"/>
          </a:xfrm>
          <a:prstGeom prst="rect">
            <a:avLst/>
          </a:prstGeom>
          <a:solidFill>
            <a:srgbClr val="DDD8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12800" y="5029200"/>
            <a:ext cx="1905000" cy="190500"/>
          </a:xfrm>
          <a:prstGeom prst="rect">
            <a:avLst/>
          </a:prstGeom>
          <a:noFill/>
        </p:spPr>
        <p:txBody>
          <a:bodyPr wrap="square" lIns="0" rIns="0" tIns="0" bIns="0" anchor="t">
            <a:spAutoFit/>
          </a:bodyPr>
          <a:lstStyle/>
          <a:p>
            <a:pPr algn="l">
              <a:lnSpc>
                <a:spcPct val="110000"/>
              </a:lnSpc>
              <a:spcAft>
                <a:spcPts val="0"/>
              </a:spcAft>
            </a:pPr>
            <a:r>
              <a:rPr sz="1300" b="1" i="0">
                <a:solidFill>
                  <a:srgbClr val="556072"/>
                </a:solidFill>
                <a:latin typeface="Calibri"/>
              </a:rPr>
              <a:t>Referencias</a:t>
            </a:r>
          </a:p>
        </p:txBody>
      </p:sp>
      <p:sp>
        <p:nvSpPr>
          <p:cNvPr id="19" name="TextBox 18"/>
          <p:cNvSpPr txBox="1"/>
          <p:nvPr/>
        </p:nvSpPr>
        <p:spPr>
          <a:xfrm>
            <a:off x="2857500" y="5003800"/>
            <a:ext cx="8521700" cy="508000"/>
          </a:xfrm>
          <a:prstGeom prst="rect">
            <a:avLst/>
          </a:prstGeom>
          <a:noFill/>
        </p:spPr>
        <p:txBody>
          <a:bodyPr wrap="square" lIns="0" rIns="0" tIns="0" bIns="0" anchor="t">
            <a:spAutoFit/>
          </a:bodyPr>
          <a:lstStyle/>
          <a:p>
            <a:pPr algn="l">
              <a:lnSpc>
                <a:spcPct val="115000"/>
              </a:lnSpc>
              <a:spcAft>
                <a:spcPts val="0"/>
              </a:spcAft>
            </a:pPr>
            <a:r>
              <a:rPr sz="1600" b="0" i="0">
                <a:solidFill>
                  <a:srgbClr val="1B2433"/>
                </a:solidFill>
                <a:latin typeface="Calibri"/>
              </a:rPr>
              <a:t>Agente aleatorio, </a:t>
            </a:r>
            <a:r>
              <a:rPr sz="1600" b="0" i="1">
                <a:solidFill>
                  <a:srgbClr val="1B2433"/>
                </a:solidFill>
                <a:latin typeface="Calibri"/>
              </a:rPr>
              <a:t>buy &amp; hold</a:t>
            </a:r>
            <a:r>
              <a:rPr sz="1600" b="0" i="0">
                <a:solidFill>
                  <a:srgbClr val="1B2433"/>
                </a:solidFill>
                <a:latin typeface="Calibri"/>
              </a:rPr>
              <a:t>, no invertir nunca y dos reglas fijas: </a:t>
            </a:r>
            <a:r>
              <a:rPr sz="1600" b="0" i="1">
                <a:solidFill>
                  <a:srgbClr val="1B2433"/>
                </a:solidFill>
                <a:latin typeface="Calibri"/>
              </a:rPr>
              <a:t>momentum</a:t>
            </a:r>
            <a:r>
              <a:rPr sz="1600" b="0" i="0">
                <a:solidFill>
                  <a:srgbClr val="1B2433"/>
                </a:solidFill>
                <a:latin typeface="Calibri"/>
              </a:rPr>
              <a:t> y </a:t>
            </a:r>
            <a:r>
              <a:rPr sz="1600" b="0" i="1">
                <a:solidFill>
                  <a:srgbClr val="1B2433"/>
                </a:solidFill>
                <a:latin typeface="Calibri"/>
              </a:rPr>
              <a:t>contrarian</a:t>
            </a:r>
            <a:r>
              <a:rPr sz="1600" b="0" i="0">
                <a:solidFill>
                  <a:srgbClr val="1B2433"/>
                </a:solidFill>
                <a:latin typeface="Calibri"/>
              </a:rPr>
              <a: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itle 1"/>
          <p:cNvSpPr>
            <a:spLocks noGrp="1"/>
          </p:cNvSpPr>
          <p:nvPr>
            <p:ph type="title"/>
          </p:nvPr>
        </p:nvSpPr>
        <p:spPr>
          <a:xfrm>
            <a:off x="812800" y="812800"/>
            <a:ext cx="10566400" cy="546100"/>
          </a:xfrm>
        </p:spPr>
        <p:txBody>
          <a:bodyPr wrap="square" lIns="0" rIns="0" tIns="0" bIns="0" anchor="t"/>
          <a:lstStyle/>
          <a:p>
            <a:pPr algn="l"/>
            <a:r>
              <a:rPr sz="3200" b="1" i="0">
                <a:solidFill>
                  <a:srgbClr val="1B2433"/>
                </a:solidFill>
                <a:latin typeface="Cambria"/>
              </a:rPr>
              <a:t>Rendimiento en test</a:t>
            </a:r>
          </a:p>
        </p:txBody>
      </p:sp>
      <p:sp>
        <p:nvSpPr>
          <p:cNvPr id="3" name="Sección"/>
          <p:cNvSpPr txBox="1"/>
          <p:nvPr/>
        </p:nvSpPr>
        <p:spPr>
          <a:xfrm>
            <a:off x="812800" y="533400"/>
            <a:ext cx="10566400" cy="215900"/>
          </a:xfrm>
          <a:prstGeom prst="rect">
            <a:avLst/>
          </a:prstGeom>
          <a:noFill/>
        </p:spPr>
        <p:txBody>
          <a:bodyPr wrap="square" lIns="0" rIns="0" tIns="0" bIns="0" anchor="t">
            <a:spAutoFit/>
          </a:bodyPr>
          <a:lstStyle/>
          <a:p>
            <a:pPr algn="l">
              <a:lnSpc>
                <a:spcPct val="110000"/>
              </a:lnSpc>
              <a:spcAft>
                <a:spcPts val="0"/>
              </a:spcAft>
            </a:pPr>
            <a:r>
              <a:rPr sz="1200" b="1" i="0" spc="150">
                <a:solidFill>
                  <a:srgbClr val="556072"/>
                </a:solidFill>
                <a:latin typeface="Calibri"/>
              </a:rPr>
              <a:t>2 · RESULTADOS</a:t>
            </a:r>
          </a:p>
        </p:txBody>
      </p:sp>
      <p:sp>
        <p:nvSpPr>
          <p:cNvPr id="4" name="Pie"/>
          <p:cNvSpPr txBox="1"/>
          <p:nvPr/>
        </p:nvSpPr>
        <p:spPr>
          <a:xfrm>
            <a:off x="812800" y="6350000"/>
            <a:ext cx="7620000" cy="190500"/>
          </a:xfrm>
          <a:prstGeom prst="rect">
            <a:avLst/>
          </a:prstGeom>
          <a:noFill/>
        </p:spPr>
        <p:txBody>
          <a:bodyPr wrap="square" lIns="0" rIns="0" tIns="0" bIns="0" anchor="t">
            <a:spAutoFit/>
          </a:bodyPr>
          <a:lstStyle/>
          <a:p>
            <a:pPr algn="l">
              <a:lnSpc>
                <a:spcPct val="110000"/>
              </a:lnSpc>
              <a:spcAft>
                <a:spcPts val="0"/>
              </a:spcAft>
            </a:pPr>
            <a:r>
              <a:rPr sz="1200" b="0" i="0">
                <a:solidFill>
                  <a:srgbClr val="556072"/>
                </a:solidFill>
                <a:latin typeface="Calibri"/>
              </a:rPr>
              <a:t>Agente de trading con RL tabular · MIAX-14</a:t>
            </a:r>
          </a:p>
        </p:txBody>
      </p:sp>
      <p:sp>
        <p:nvSpPr>
          <p:cNvPr id="5" name="Número de diapositiva"/>
          <p:cNvSpPr txBox="1"/>
          <p:nvPr/>
        </p:nvSpPr>
        <p:spPr>
          <a:xfrm>
            <a:off x="9855200" y="6350000"/>
            <a:ext cx="1524000" cy="190500"/>
          </a:xfrm>
          <a:prstGeom prst="rect">
            <a:avLst/>
          </a:prstGeom>
          <a:noFill/>
        </p:spPr>
        <p:txBody>
          <a:bodyPr wrap="square" lIns="0" rIns="0" tIns="0" bIns="0" anchor="t">
            <a:spAutoFit/>
          </a:bodyPr>
          <a:lstStyle/>
          <a:p>
            <a:pPr algn="r">
              <a:lnSpc>
                <a:spcPct val="110000"/>
              </a:lnSpc>
              <a:spcAft>
                <a:spcPts val="0"/>
              </a:spcAft>
            </a:pPr>
            <a:fld id="{B6F15528-21DE-4FAA-801E-634DDDAF4B2B}" type="slidenum">
              <a:rPr lang="es-ES" sz="1200">
                <a:solidFill>
                  <a:srgbClr val="556072"/>
                </a:solidFill>
                <a:latin typeface="Calibri"/>
              </a:rPr>
              <a:t>‹#›</a:t>
            </a:fld>
          </a:p>
        </p:txBody>
      </p:sp>
      <p:sp>
        <p:nvSpPr>
          <p:cNvPr id="6" name="TextBox 5"/>
          <p:cNvSpPr txBox="1"/>
          <p:nvPr/>
        </p:nvSpPr>
        <p:spPr>
          <a:xfrm>
            <a:off x="812800" y="1524000"/>
            <a:ext cx="10566400" cy="825500"/>
          </a:xfrm>
          <a:prstGeom prst="rect">
            <a:avLst/>
          </a:prstGeom>
          <a:noFill/>
        </p:spPr>
        <p:txBody>
          <a:bodyPr wrap="square" lIns="0" rIns="0" tIns="0" bIns="0" anchor="t">
            <a:spAutoFit/>
          </a:bodyPr>
          <a:lstStyle/>
          <a:p>
            <a:pPr algn="l">
              <a:lnSpc>
                <a:spcPct val="115000"/>
              </a:lnSpc>
              <a:spcAft>
                <a:spcPts val="0"/>
              </a:spcAft>
            </a:pPr>
            <a:r>
              <a:rPr sz="1600" b="0" i="0">
                <a:solidFill>
                  <a:srgbClr val="1B2433"/>
                </a:solidFill>
                <a:latin typeface="Calibri"/>
              </a:rPr>
              <a:t>Los tres algoritmos ganan a </a:t>
            </a:r>
            <a:r>
              <a:rPr sz="1600" b="0" i="1">
                <a:solidFill>
                  <a:srgbClr val="1B2433"/>
                </a:solidFill>
                <a:latin typeface="Calibri"/>
              </a:rPr>
              <a:t>buy &amp; hold</a:t>
            </a:r>
            <a:r>
              <a:rPr sz="1600" b="0" i="0">
                <a:solidFill>
                  <a:srgbClr val="1B2433"/>
                </a:solidFill>
                <a:latin typeface="Calibri"/>
              </a:rPr>
              <a:t> y al agente aleatorio en los cuatro mercados; en el browniano, quedándose fuera. Mejores resultados: 6,5 en tendencia + ciclo y +27 % en reversión (Monte Carlo), y +4 % en regímenes (Q-Learning).</a:t>
            </a:r>
          </a:p>
        </p:txBody>
      </p:sp>
      <p:sp>
        <p:nvSpPr>
          <p:cNvPr id="7" name="Marco de figura"/>
          <p:cNvSpPr/>
          <p:nvPr/>
        </p:nvSpPr>
        <p:spPr>
          <a:xfrm>
            <a:off x="1231900" y="2501900"/>
            <a:ext cx="9728200" cy="2847689"/>
          </a:xfrm>
          <a:prstGeom prst="roundRect">
            <a:avLst>
              <a:gd name="adj" fmla="val 3567"/>
            </a:avLst>
          </a:prstGeom>
          <a:solidFill>
            <a:srgbClr val="FFFFFF"/>
          </a:solidFill>
          <a:ln w="9525">
            <a:solidFill>
              <a:srgbClr val="DDD8C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Figura rend" descr="Log-retorno medio en test por mercado. Tendencia + ciclo: Q-Learning 6,34, SARSA 6,32, Monte Carlo 6,52, buy and hold 3,32, aleatorio 1,56. Browniano: 0,00, 0,00, −0,01, −0,06, −0,19. Reversión a la media: 0,15, 0,20, 0,24, −0,00, −0,17. Regímenes: 0,04, 0,00, 0,03, −0,13, −0,22."/>
          <p:cNvPicPr>
            <a:picLocks noChangeAspect="1"/>
          </p:cNvPicPr>
          <p:nvPr/>
        </p:nvPicPr>
        <p:blipFill>
          <a:blip r:embed="rId3"/>
          <a:stretch>
            <a:fillRect/>
          </a:stretch>
        </p:blipFill>
        <p:spPr>
          <a:xfrm>
            <a:off x="1333500" y="2603500"/>
            <a:ext cx="9525000" cy="2644489"/>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itle 1"/>
          <p:cNvSpPr>
            <a:spLocks noGrp="1"/>
          </p:cNvSpPr>
          <p:nvPr>
            <p:ph type="title"/>
          </p:nvPr>
        </p:nvSpPr>
        <p:spPr>
          <a:xfrm>
            <a:off x="812800" y="812800"/>
            <a:ext cx="10566400" cy="546100"/>
          </a:xfrm>
        </p:spPr>
        <p:txBody>
          <a:bodyPr wrap="square" lIns="0" rIns="0" tIns="0" bIns="0" anchor="t"/>
          <a:lstStyle/>
          <a:p>
            <a:pPr algn="l"/>
            <a:r>
              <a:rPr sz="3200" b="1" i="0">
                <a:solidFill>
                  <a:srgbClr val="1B2433"/>
                </a:solidFill>
                <a:latin typeface="Cambria"/>
              </a:rPr>
              <a:t>Tabla 1 · Tendencia + ciclo y Browniano</a:t>
            </a:r>
          </a:p>
        </p:txBody>
      </p:sp>
      <p:sp>
        <p:nvSpPr>
          <p:cNvPr id="3" name="Sección"/>
          <p:cNvSpPr txBox="1"/>
          <p:nvPr/>
        </p:nvSpPr>
        <p:spPr>
          <a:xfrm>
            <a:off x="812800" y="533400"/>
            <a:ext cx="10566400" cy="215900"/>
          </a:xfrm>
          <a:prstGeom prst="rect">
            <a:avLst/>
          </a:prstGeom>
          <a:noFill/>
        </p:spPr>
        <p:txBody>
          <a:bodyPr wrap="square" lIns="0" rIns="0" tIns="0" bIns="0" anchor="t">
            <a:spAutoFit/>
          </a:bodyPr>
          <a:lstStyle/>
          <a:p>
            <a:pPr algn="l">
              <a:lnSpc>
                <a:spcPct val="110000"/>
              </a:lnSpc>
              <a:spcAft>
                <a:spcPts val="0"/>
              </a:spcAft>
            </a:pPr>
            <a:r>
              <a:rPr sz="1200" b="1" i="0" spc="150">
                <a:solidFill>
                  <a:srgbClr val="556072"/>
                </a:solidFill>
                <a:latin typeface="Calibri"/>
              </a:rPr>
              <a:t>2 · RESULTADOS · TEST: 100 SERIES, MEDIA DE 5 SEMILLAS</a:t>
            </a:r>
          </a:p>
        </p:txBody>
      </p:sp>
      <p:sp>
        <p:nvSpPr>
          <p:cNvPr id="4" name="Pie"/>
          <p:cNvSpPr txBox="1"/>
          <p:nvPr/>
        </p:nvSpPr>
        <p:spPr>
          <a:xfrm>
            <a:off x="812800" y="6350000"/>
            <a:ext cx="7620000" cy="190500"/>
          </a:xfrm>
          <a:prstGeom prst="rect">
            <a:avLst/>
          </a:prstGeom>
          <a:noFill/>
        </p:spPr>
        <p:txBody>
          <a:bodyPr wrap="square" lIns="0" rIns="0" tIns="0" bIns="0" anchor="t">
            <a:spAutoFit/>
          </a:bodyPr>
          <a:lstStyle/>
          <a:p>
            <a:pPr algn="l">
              <a:lnSpc>
                <a:spcPct val="110000"/>
              </a:lnSpc>
              <a:spcAft>
                <a:spcPts val="0"/>
              </a:spcAft>
            </a:pPr>
            <a:r>
              <a:rPr sz="1200" b="0" i="0">
                <a:solidFill>
                  <a:srgbClr val="556072"/>
                </a:solidFill>
                <a:latin typeface="Calibri"/>
              </a:rPr>
              <a:t>Agente de trading con RL tabular · MIAX-14</a:t>
            </a:r>
          </a:p>
        </p:txBody>
      </p:sp>
      <p:sp>
        <p:nvSpPr>
          <p:cNvPr id="5" name="Número de diapositiva"/>
          <p:cNvSpPr txBox="1"/>
          <p:nvPr/>
        </p:nvSpPr>
        <p:spPr>
          <a:xfrm>
            <a:off x="9855200" y="6350000"/>
            <a:ext cx="1524000" cy="190500"/>
          </a:xfrm>
          <a:prstGeom prst="rect">
            <a:avLst/>
          </a:prstGeom>
          <a:noFill/>
        </p:spPr>
        <p:txBody>
          <a:bodyPr wrap="square" lIns="0" rIns="0" tIns="0" bIns="0" anchor="t">
            <a:spAutoFit/>
          </a:bodyPr>
          <a:lstStyle/>
          <a:p>
            <a:pPr algn="r">
              <a:lnSpc>
                <a:spcPct val="110000"/>
              </a:lnSpc>
              <a:spcAft>
                <a:spcPts val="0"/>
              </a:spcAft>
            </a:pPr>
            <a:fld id="{B6F15528-21DE-4FAA-801E-634DDDAF4B2B}" type="slidenum">
              <a:rPr lang="es-ES" sz="1200">
                <a:solidFill>
                  <a:srgbClr val="556072"/>
                </a:solidFill>
                <a:latin typeface="Calibri"/>
              </a:rPr>
              <a:t>‹#›</a:t>
            </a:fld>
          </a:p>
        </p:txBody>
      </p:sp>
      <p:graphicFrame>
        <p:nvGraphicFramePr>
          <p:cNvPr id="6" name="Tabla"/>
          <p:cNvGraphicFramePr>
            <a:graphicFrameLocks noGrp="1"/>
          </p:cNvGraphicFramePr>
          <p:nvPr/>
        </p:nvGraphicFramePr>
        <p:xfrm>
          <a:off x="812800" y="1587500"/>
          <a:ext cx="10566400" cy="3835400"/>
        </p:xfrm>
        <a:graphic>
          <a:graphicData uri="http://schemas.openxmlformats.org/drawingml/2006/table">
            <a:tbl>
              <a:tblPr firstRow="1">
                <a:tableStyleId>{2D5ABB26-0587-4C30-8999-92F81FD0307C}</a:tableStyleId>
              </a:tblPr>
              <a:tblGrid>
                <a:gridCol w="1689100"/>
                <a:gridCol w="1371600"/>
                <a:gridCol w="952500"/>
                <a:gridCol w="1270000"/>
                <a:gridCol w="1054100"/>
                <a:gridCol w="844550"/>
                <a:gridCol w="844550"/>
                <a:gridCol w="844550"/>
                <a:gridCol w="952500"/>
                <a:gridCol w="742950"/>
              </a:tblGrid>
              <a:tr h="533400">
                <a:tc>
                  <a:txBody>
                    <a:bodyPr/>
                    <a:lstStyle/>
                    <a:p>
                      <a:pPr algn="l"/>
                      <a:r>
                        <a:rPr sz="1200" b="1" i="0">
                          <a:solidFill>
                            <a:srgbClr val="1B2433"/>
                          </a:solidFill>
                          <a:latin typeface="Calibri"/>
                        </a:rPr>
                        <a:t>Mercado</a:t>
                      </a:r>
                    </a:p>
                  </a:txBody>
                  <a:tcPr marL="91440" marR="91440" marT="36576" marB="36576" anchor="ctr">
                    <a:lnB w="9525" cap="flat" cmpd="sng" algn="ctr">
                      <a:solidFill>
                        <a:srgbClr val="DDD8C9"/>
                      </a:solidFill>
                      <a:prstDash val="solid"/>
                    </a:lnB>
                    <a:solidFill>
                      <a:srgbClr val="E4E0D2"/>
                    </a:solidFill>
                  </a:tcPr>
                </a:tc>
                <a:tc>
                  <a:txBody>
                    <a:bodyPr/>
                    <a:lstStyle/>
                    <a:p>
                      <a:pPr algn="l"/>
                      <a:r>
                        <a:rPr sz="1200" b="1" i="0">
                          <a:solidFill>
                            <a:srgbClr val="1B2433"/>
                          </a:solidFill>
                          <a:latin typeface="Calibri"/>
                        </a:rPr>
                        <a:t>Agente</a:t>
                      </a:r>
                    </a:p>
                  </a:txBody>
                  <a:tcPr marL="91440" marR="91440" marT="36576" marB="36576" anchor="ctr">
                    <a:lnB w="9525" cap="flat" cmpd="sng" algn="ctr">
                      <a:solidFill>
                        <a:srgbClr val="DDD8C9"/>
                      </a:solidFill>
                      <a:prstDash val="solid"/>
                    </a:lnB>
                    <a:solidFill>
                      <a:srgbClr val="E4E0D2"/>
                    </a:solidFill>
                  </a:tcPr>
                </a:tc>
                <a:tc>
                  <a:txBody>
                    <a:bodyPr/>
                    <a:lstStyle/>
                    <a:p>
                      <a:pPr algn="r"/>
                      <a:r>
                        <a:rPr sz="1200" b="1" i="0">
                          <a:solidFill>
                            <a:srgbClr val="1B2433"/>
                          </a:solidFill>
                          <a:latin typeface="Calibri"/>
                        </a:rPr>
                        <a:t>Log-ret.</a:t>
                      </a:r>
                    </a:p>
                  </a:txBody>
                  <a:tcPr marL="91440" marR="91440" marT="36576" marB="36576" anchor="ctr">
                    <a:lnB w="9525" cap="flat" cmpd="sng" algn="ctr">
                      <a:solidFill>
                        <a:srgbClr val="DDD8C9"/>
                      </a:solidFill>
                      <a:prstDash val="solid"/>
                    </a:lnB>
                    <a:solidFill>
                      <a:srgbClr val="E4E0D2"/>
                    </a:solidFill>
                  </a:tcPr>
                </a:tc>
                <a:tc>
                  <a:txBody>
                    <a:bodyPr/>
                    <a:lstStyle/>
                    <a:p>
                      <a:pPr algn="r"/>
                      <a:r>
                        <a:rPr sz="1200" b="1" i="0">
                          <a:solidFill>
                            <a:srgbClr val="1B2433"/>
                          </a:solidFill>
                          <a:latin typeface="Calibri"/>
                        </a:rPr>
                        <a:t>Ret. geom. (%)</a:t>
                      </a:r>
                    </a:p>
                  </a:txBody>
                  <a:tcPr marL="91440" marR="91440" marT="36576" marB="36576" anchor="ctr">
                    <a:lnB w="9525" cap="flat" cmpd="sng" algn="ctr">
                      <a:solidFill>
                        <a:srgbClr val="DDD8C9"/>
                      </a:solidFill>
                      <a:prstDash val="solid"/>
                    </a:lnB>
                    <a:solidFill>
                      <a:srgbClr val="E4E0D2"/>
                    </a:solidFill>
                  </a:tcPr>
                </a:tc>
                <a:tc>
                  <a:txBody>
                    <a:bodyPr/>
                    <a:lstStyle/>
                    <a:p>
                      <a:pPr algn="r"/>
                      <a:r>
                        <a:rPr sz="1200" b="1" i="0">
                          <a:solidFill>
                            <a:srgbClr val="1B2433"/>
                          </a:solidFill>
                          <a:latin typeface="Calibri"/>
                        </a:rPr>
                        <a:t>% series &gt; B&amp;H</a:t>
                      </a:r>
                    </a:p>
                  </a:txBody>
                  <a:tcPr marL="91440" marR="91440" marT="36576" marB="36576" anchor="ctr">
                    <a:lnB w="9525" cap="flat" cmpd="sng" algn="ctr">
                      <a:solidFill>
                        <a:srgbClr val="DDD8C9"/>
                      </a:solidFill>
                      <a:prstDash val="solid"/>
                    </a:lnB>
                    <a:solidFill>
                      <a:srgbClr val="E4E0D2"/>
                    </a:solidFill>
                  </a:tcPr>
                </a:tc>
                <a:tc>
                  <a:txBody>
                    <a:bodyPr/>
                    <a:lstStyle/>
                    <a:p>
                      <a:pPr algn="r"/>
                      <a:r>
                        <a:rPr sz="1200" b="1" i="0">
                          <a:solidFill>
                            <a:srgbClr val="1B2433"/>
                          </a:solidFill>
                          <a:latin typeface="Calibri"/>
                        </a:rPr>
                        <a:t>Sharpe</a:t>
                      </a:r>
                    </a:p>
                  </a:txBody>
                  <a:tcPr marL="91440" marR="91440" marT="36576" marB="36576" anchor="ctr">
                    <a:lnB w="9525" cap="flat" cmpd="sng" algn="ctr">
                      <a:solidFill>
                        <a:srgbClr val="DDD8C9"/>
                      </a:solidFill>
                      <a:prstDash val="solid"/>
                    </a:lnB>
                    <a:solidFill>
                      <a:srgbClr val="E4E0D2"/>
                    </a:solidFill>
                  </a:tcPr>
                </a:tc>
                <a:tc>
                  <a:txBody>
                    <a:bodyPr/>
                    <a:lstStyle/>
                    <a:p>
                      <a:pPr algn="r"/>
                      <a:r>
                        <a:rPr sz="1200" b="1" i="0">
                          <a:solidFill>
                            <a:srgbClr val="1B2433"/>
                          </a:solidFill>
                          <a:latin typeface="Calibri"/>
                        </a:rPr>
                        <a:t>DD máx. (%)</a:t>
                      </a:r>
                    </a:p>
                  </a:txBody>
                  <a:tcPr marL="91440" marR="91440" marT="36576" marB="36576" anchor="ctr">
                    <a:lnB w="9525" cap="flat" cmpd="sng" algn="ctr">
                      <a:solidFill>
                        <a:srgbClr val="DDD8C9"/>
                      </a:solidFill>
                      <a:prstDash val="solid"/>
                    </a:lnB>
                    <a:solidFill>
                      <a:srgbClr val="E4E0D2"/>
                    </a:solidFill>
                  </a:tcPr>
                </a:tc>
                <a:tc>
                  <a:txBody>
                    <a:bodyPr/>
                    <a:lstStyle/>
                    <a:p>
                      <a:pPr algn="r"/>
                      <a:r>
                        <a:rPr sz="1200" b="1" i="0">
                          <a:solidFill>
                            <a:srgbClr val="1B2433"/>
                          </a:solidFill>
                          <a:latin typeface="Calibri"/>
                        </a:rPr>
                        <a:t>Operac.</a:t>
                      </a:r>
                    </a:p>
                  </a:txBody>
                  <a:tcPr marL="91440" marR="91440" marT="36576" marB="36576" anchor="ctr">
                    <a:lnB w="9525" cap="flat" cmpd="sng" algn="ctr">
                      <a:solidFill>
                        <a:srgbClr val="DDD8C9"/>
                      </a:solidFill>
                      <a:prstDash val="solid"/>
                    </a:lnB>
                    <a:solidFill>
                      <a:srgbClr val="E4E0D2"/>
                    </a:solidFill>
                  </a:tcPr>
                </a:tc>
                <a:tc>
                  <a:txBody>
                    <a:bodyPr/>
                    <a:lstStyle/>
                    <a:p>
                      <a:pPr algn="r"/>
                      <a:r>
                        <a:rPr sz="1200" b="1" i="0">
                          <a:solidFill>
                            <a:srgbClr val="1B2433"/>
                          </a:solidFill>
                          <a:latin typeface="Calibri"/>
                        </a:rPr>
                        <a:t>Conv. (ep.)</a:t>
                      </a:r>
                    </a:p>
                  </a:txBody>
                  <a:tcPr marL="91440" marR="91440" marT="36576" marB="36576" anchor="ctr">
                    <a:lnB w="9525" cap="flat" cmpd="sng" algn="ctr">
                      <a:solidFill>
                        <a:srgbClr val="DDD8C9"/>
                      </a:solidFill>
                      <a:prstDash val="solid"/>
                    </a:lnB>
                    <a:solidFill>
                      <a:srgbClr val="E4E0D2"/>
                    </a:solidFill>
                  </a:tcPr>
                </a:tc>
                <a:tc>
                  <a:txBody>
                    <a:bodyPr/>
                    <a:lstStyle/>
                    <a:p>
                      <a:pPr algn="r"/>
                      <a:r>
                        <a:rPr sz="1200" b="1" i="0">
                          <a:solidFill>
                            <a:srgbClr val="1B2433"/>
                          </a:solidFill>
                          <a:latin typeface="Calibri"/>
                        </a:rPr>
                        <a:t>Conv. (s)</a:t>
                      </a:r>
                    </a:p>
                  </a:txBody>
                  <a:tcPr marL="91440" marR="91440" marT="36576" marB="36576" anchor="ctr">
                    <a:lnB w="9525" cap="flat" cmpd="sng" algn="ctr">
                      <a:solidFill>
                        <a:srgbClr val="DDD8C9"/>
                      </a:solidFill>
                      <a:prstDash val="solid"/>
                    </a:lnB>
                    <a:solidFill>
                      <a:srgbClr val="E4E0D2"/>
                    </a:solidFill>
                  </a:tcPr>
                </a:tc>
              </a:tr>
              <a:tr h="330200">
                <a:tc>
                  <a:txBody>
                    <a:bodyPr/>
                    <a:lstStyle/>
                    <a:p>
                      <a:pPr algn="l"/>
                      <a:r>
                        <a:rPr sz="1200" b="1" i="0">
                          <a:solidFill>
                            <a:srgbClr val="1B2433"/>
                          </a:solidFill>
                          <a:latin typeface="Calibri"/>
                        </a:rPr>
                        <a:t>Tendencia + ciclo</a:t>
                      </a:r>
                    </a:p>
                  </a:txBody>
                  <a:tcPr marL="91440" marR="91440" marT="36576" marB="36576" anchor="ctr">
                    <a:lnB w="9525" cap="flat" cmpd="sng" algn="ctr">
                      <a:solidFill>
                        <a:srgbClr val="DDD8C9"/>
                      </a:solidFill>
                      <a:prstDash val="solid"/>
                    </a:lnB>
                    <a:solidFill>
                      <a:srgbClr val="E3EEFA"/>
                    </a:solidFill>
                  </a:tcPr>
                </a:tc>
                <a:tc>
                  <a:txBody>
                    <a:bodyPr/>
                    <a:lstStyle/>
                    <a:p>
                      <a:pPr algn="l"/>
                      <a:r>
                        <a:rPr sz="1200" b="0" i="0">
                          <a:solidFill>
                            <a:srgbClr val="1B2433"/>
                          </a:solidFill>
                          <a:latin typeface="Calibri"/>
                        </a:rPr>
                        <a:t>Q-Learning</a:t>
                      </a:r>
                    </a:p>
                  </a:txBody>
                  <a:tcPr marL="91440" marR="91440" marT="36576" marB="36576" anchor="ctr">
                    <a:lnB w="9525" cap="flat" cmpd="sng" algn="ctr">
                      <a:solidFill>
                        <a:srgbClr val="DDD8C9"/>
                      </a:solidFill>
                      <a:prstDash val="solid"/>
                    </a:lnB>
                    <a:solidFill>
                      <a:srgbClr val="E3EEFA"/>
                    </a:solidFill>
                  </a:tcPr>
                </a:tc>
                <a:tc>
                  <a:txBody>
                    <a:bodyPr/>
                    <a:lstStyle/>
                    <a:p>
                      <a:pPr algn="r"/>
                      <a:r>
                        <a:rPr sz="1200" b="0" i="0">
                          <a:solidFill>
                            <a:srgbClr val="1B2433"/>
                          </a:solidFill>
                          <a:latin typeface="Calibri"/>
                        </a:rPr>
                        <a:t>+6,338</a:t>
                      </a:r>
                    </a:p>
                  </a:txBody>
                  <a:tcPr marL="91440" marR="91440" marT="36576" marB="36576" anchor="ctr">
                    <a:lnB w="9525" cap="flat" cmpd="sng" algn="ctr">
                      <a:solidFill>
                        <a:srgbClr val="DDD8C9"/>
                      </a:solidFill>
                      <a:prstDash val="solid"/>
                    </a:lnB>
                    <a:solidFill>
                      <a:srgbClr val="E3EEFA"/>
                    </a:solidFill>
                  </a:tcPr>
                </a:tc>
                <a:tc>
                  <a:txBody>
                    <a:bodyPr/>
                    <a:lstStyle/>
                    <a:p>
                      <a:pPr algn="r"/>
                      <a:r>
                        <a:rPr sz="1200" b="0" i="0">
                          <a:solidFill>
                            <a:srgbClr val="1B2433"/>
                          </a:solidFill>
                          <a:latin typeface="Calibri"/>
                        </a:rPr>
                        <a:t>+56 472,6</a:t>
                      </a:r>
                    </a:p>
                  </a:txBody>
                  <a:tcPr marL="91440" marR="91440" marT="36576" marB="36576" anchor="ctr">
                    <a:lnB w="9525" cap="flat" cmpd="sng" algn="ctr">
                      <a:solidFill>
                        <a:srgbClr val="DDD8C9"/>
                      </a:solidFill>
                      <a:prstDash val="solid"/>
                    </a:lnB>
                    <a:solidFill>
                      <a:srgbClr val="E3EEFA"/>
                    </a:solidFill>
                  </a:tcPr>
                </a:tc>
                <a:tc>
                  <a:txBody>
                    <a:bodyPr/>
                    <a:lstStyle/>
                    <a:p>
                      <a:pPr algn="r"/>
                      <a:r>
                        <a:rPr sz="1200" b="0" i="0">
                          <a:solidFill>
                            <a:srgbClr val="1B2433"/>
                          </a:solidFill>
                          <a:latin typeface="Calibri"/>
                        </a:rPr>
                        <a:t>96</a:t>
                      </a:r>
                    </a:p>
                  </a:txBody>
                  <a:tcPr marL="91440" marR="91440" marT="36576" marB="36576" anchor="ctr">
                    <a:lnB w="9525" cap="flat" cmpd="sng" algn="ctr">
                      <a:solidFill>
                        <a:srgbClr val="DDD8C9"/>
                      </a:solidFill>
                      <a:prstDash val="solid"/>
                    </a:lnB>
                    <a:solidFill>
                      <a:srgbClr val="E3EEFA"/>
                    </a:solidFill>
                  </a:tcPr>
                </a:tc>
                <a:tc>
                  <a:txBody>
                    <a:bodyPr/>
                    <a:lstStyle/>
                    <a:p>
                      <a:pPr algn="r"/>
                      <a:r>
                        <a:rPr sz="1200" b="0" i="0">
                          <a:solidFill>
                            <a:srgbClr val="1B2433"/>
                          </a:solidFill>
                          <a:latin typeface="Calibri"/>
                        </a:rPr>
                        <a:t>3,11</a:t>
                      </a:r>
                    </a:p>
                  </a:txBody>
                  <a:tcPr marL="91440" marR="91440" marT="36576" marB="36576" anchor="ctr">
                    <a:lnB w="9525" cap="flat" cmpd="sng" algn="ctr">
                      <a:solidFill>
                        <a:srgbClr val="DDD8C9"/>
                      </a:solidFill>
                      <a:prstDash val="solid"/>
                    </a:lnB>
                    <a:solidFill>
                      <a:srgbClr val="E3EEFA"/>
                    </a:solidFill>
                  </a:tcPr>
                </a:tc>
                <a:tc>
                  <a:txBody>
                    <a:bodyPr/>
                    <a:lstStyle/>
                    <a:p>
                      <a:pPr algn="r"/>
                      <a:r>
                        <a:rPr sz="1200" b="0" i="0">
                          <a:solidFill>
                            <a:srgbClr val="1B2433"/>
                          </a:solidFill>
                          <a:latin typeface="Calibri"/>
                        </a:rPr>
                        <a:t>63,3</a:t>
                      </a:r>
                    </a:p>
                  </a:txBody>
                  <a:tcPr marL="91440" marR="91440" marT="36576" marB="36576" anchor="ctr">
                    <a:lnB w="9525" cap="flat" cmpd="sng" algn="ctr">
                      <a:solidFill>
                        <a:srgbClr val="DDD8C9"/>
                      </a:solidFill>
                      <a:prstDash val="solid"/>
                    </a:lnB>
                    <a:solidFill>
                      <a:srgbClr val="E3EEFA"/>
                    </a:solidFill>
                  </a:tcPr>
                </a:tc>
                <a:tc>
                  <a:txBody>
                    <a:bodyPr/>
                    <a:lstStyle/>
                    <a:p>
                      <a:pPr algn="r"/>
                      <a:r>
                        <a:rPr sz="1200" b="0" i="0">
                          <a:solidFill>
                            <a:srgbClr val="1B2433"/>
                          </a:solidFill>
                          <a:latin typeface="Calibri"/>
                        </a:rPr>
                        <a:t>57,8</a:t>
                      </a:r>
                    </a:p>
                  </a:txBody>
                  <a:tcPr marL="91440" marR="91440" marT="36576" marB="36576" anchor="ctr">
                    <a:lnB w="9525" cap="flat" cmpd="sng" algn="ctr">
                      <a:solidFill>
                        <a:srgbClr val="DDD8C9"/>
                      </a:solidFill>
                      <a:prstDash val="solid"/>
                    </a:lnB>
                    <a:solidFill>
                      <a:srgbClr val="E3EEFA"/>
                    </a:solidFill>
                  </a:tcPr>
                </a:tc>
                <a:tc>
                  <a:txBody>
                    <a:bodyPr/>
                    <a:lstStyle/>
                    <a:p>
                      <a:pPr algn="r"/>
                      <a:r>
                        <a:rPr sz="1200" b="0" i="0">
                          <a:solidFill>
                            <a:srgbClr val="1B2433"/>
                          </a:solidFill>
                          <a:latin typeface="Calibri"/>
                        </a:rPr>
                        <a:t>300</a:t>
                      </a:r>
                    </a:p>
                  </a:txBody>
                  <a:tcPr marL="91440" marR="91440" marT="36576" marB="36576" anchor="ctr">
                    <a:lnB w="9525" cap="flat" cmpd="sng" algn="ctr">
                      <a:solidFill>
                        <a:srgbClr val="DDD8C9"/>
                      </a:solidFill>
                      <a:prstDash val="solid"/>
                    </a:lnB>
                    <a:solidFill>
                      <a:srgbClr val="E3EEFA"/>
                    </a:solidFill>
                  </a:tcPr>
                </a:tc>
                <a:tc>
                  <a:txBody>
                    <a:bodyPr/>
                    <a:lstStyle/>
                    <a:p>
                      <a:pPr algn="r"/>
                      <a:r>
                        <a:rPr sz="1200" b="0" i="0">
                          <a:solidFill>
                            <a:srgbClr val="1B2433"/>
                          </a:solidFill>
                          <a:latin typeface="Calibri"/>
                        </a:rPr>
                        <a:t>2,4</a:t>
                      </a:r>
                    </a:p>
                  </a:txBody>
                  <a:tcPr marL="91440" marR="91440" marT="36576" marB="36576" anchor="ctr">
                    <a:lnB w="9525" cap="flat" cmpd="sng" algn="ctr">
                      <a:solidFill>
                        <a:srgbClr val="DDD8C9"/>
                      </a:solidFill>
                      <a:prstDash val="solid"/>
                    </a:lnB>
                    <a:solidFill>
                      <a:srgbClr val="E3EEFA"/>
                    </a:solidFill>
                  </a:tcPr>
                </a:tc>
              </a:tr>
              <a:tr h="330200">
                <a:tc>
                  <a:txBody>
                    <a:bodyPr/>
                    <a:lstStyle/>
                    <a:p>
                      <a:pPr algn="l"/>
                    </a:p>
                  </a:txBody>
                  <a:tcPr marL="91440" marR="91440" marT="36576" marB="36576" anchor="ctr">
                    <a:lnB w="9525" cap="flat" cmpd="sng" algn="ctr">
                      <a:solidFill>
                        <a:srgbClr val="DDD8C9"/>
                      </a:solidFill>
                      <a:prstDash val="solid"/>
                    </a:lnB>
                    <a:solidFill>
                      <a:srgbClr val="ECE6FB"/>
                    </a:solidFill>
                  </a:tcPr>
                </a:tc>
                <a:tc>
                  <a:txBody>
                    <a:bodyPr/>
                    <a:lstStyle/>
                    <a:p>
                      <a:pPr algn="l"/>
                      <a:r>
                        <a:rPr sz="1200" b="0" i="0">
                          <a:solidFill>
                            <a:srgbClr val="1B2433"/>
                          </a:solidFill>
                          <a:latin typeface="Calibri"/>
                        </a:rPr>
                        <a:t>SARSA</a:t>
                      </a:r>
                    </a:p>
                  </a:txBody>
                  <a:tcPr marL="91440" marR="91440" marT="36576" marB="36576" anchor="ctr">
                    <a:lnB w="9525" cap="flat" cmpd="sng" algn="ctr">
                      <a:solidFill>
                        <a:srgbClr val="DDD8C9"/>
                      </a:solidFill>
                      <a:prstDash val="solid"/>
                    </a:lnB>
                    <a:solidFill>
                      <a:srgbClr val="ECE6FB"/>
                    </a:solidFill>
                  </a:tcPr>
                </a:tc>
                <a:tc>
                  <a:txBody>
                    <a:bodyPr/>
                    <a:lstStyle/>
                    <a:p>
                      <a:pPr algn="r"/>
                      <a:r>
                        <a:rPr sz="1200" b="0" i="0">
                          <a:solidFill>
                            <a:srgbClr val="1B2433"/>
                          </a:solidFill>
                          <a:latin typeface="Calibri"/>
                        </a:rPr>
                        <a:t>+6,316</a:t>
                      </a:r>
                    </a:p>
                  </a:txBody>
                  <a:tcPr marL="91440" marR="91440" marT="36576" marB="36576" anchor="ctr">
                    <a:lnB w="9525" cap="flat" cmpd="sng" algn="ctr">
                      <a:solidFill>
                        <a:srgbClr val="DDD8C9"/>
                      </a:solidFill>
                      <a:prstDash val="solid"/>
                    </a:lnB>
                    <a:solidFill>
                      <a:srgbClr val="ECE6FB"/>
                    </a:solidFill>
                  </a:tcPr>
                </a:tc>
                <a:tc>
                  <a:txBody>
                    <a:bodyPr/>
                    <a:lstStyle/>
                    <a:p>
                      <a:pPr algn="r"/>
                      <a:r>
                        <a:rPr sz="1200" b="0" i="0">
                          <a:solidFill>
                            <a:srgbClr val="1B2433"/>
                          </a:solidFill>
                          <a:latin typeface="Calibri"/>
                        </a:rPr>
                        <a:t>+55 244,5</a:t>
                      </a:r>
                    </a:p>
                  </a:txBody>
                  <a:tcPr marL="91440" marR="91440" marT="36576" marB="36576" anchor="ctr">
                    <a:lnB w="9525" cap="flat" cmpd="sng" algn="ctr">
                      <a:solidFill>
                        <a:srgbClr val="DDD8C9"/>
                      </a:solidFill>
                      <a:prstDash val="solid"/>
                    </a:lnB>
                    <a:solidFill>
                      <a:srgbClr val="ECE6FB"/>
                    </a:solidFill>
                  </a:tcPr>
                </a:tc>
                <a:tc>
                  <a:txBody>
                    <a:bodyPr/>
                    <a:lstStyle/>
                    <a:p>
                      <a:pPr algn="r"/>
                      <a:r>
                        <a:rPr sz="1200" b="0" i="0">
                          <a:solidFill>
                            <a:srgbClr val="1B2433"/>
                          </a:solidFill>
                          <a:latin typeface="Calibri"/>
                        </a:rPr>
                        <a:t>97</a:t>
                      </a:r>
                    </a:p>
                  </a:txBody>
                  <a:tcPr marL="91440" marR="91440" marT="36576" marB="36576" anchor="ctr">
                    <a:lnB w="9525" cap="flat" cmpd="sng" algn="ctr">
                      <a:solidFill>
                        <a:srgbClr val="DDD8C9"/>
                      </a:solidFill>
                      <a:prstDash val="solid"/>
                    </a:lnB>
                    <a:solidFill>
                      <a:srgbClr val="ECE6FB"/>
                    </a:solidFill>
                  </a:tcPr>
                </a:tc>
                <a:tc>
                  <a:txBody>
                    <a:bodyPr/>
                    <a:lstStyle/>
                    <a:p>
                      <a:pPr algn="r"/>
                      <a:r>
                        <a:rPr sz="1200" b="0" i="0">
                          <a:solidFill>
                            <a:srgbClr val="1B2433"/>
                          </a:solidFill>
                          <a:latin typeface="Calibri"/>
                        </a:rPr>
                        <a:t>3,14</a:t>
                      </a:r>
                    </a:p>
                  </a:txBody>
                  <a:tcPr marL="91440" marR="91440" marT="36576" marB="36576" anchor="ctr">
                    <a:lnB w="9525" cap="flat" cmpd="sng" algn="ctr">
                      <a:solidFill>
                        <a:srgbClr val="DDD8C9"/>
                      </a:solidFill>
                      <a:prstDash val="solid"/>
                    </a:lnB>
                    <a:solidFill>
                      <a:srgbClr val="ECE6FB"/>
                    </a:solidFill>
                  </a:tcPr>
                </a:tc>
                <a:tc>
                  <a:txBody>
                    <a:bodyPr/>
                    <a:lstStyle/>
                    <a:p>
                      <a:pPr algn="r"/>
                      <a:r>
                        <a:rPr sz="1200" b="0" i="0">
                          <a:solidFill>
                            <a:srgbClr val="1B2433"/>
                          </a:solidFill>
                          <a:latin typeface="Calibri"/>
                        </a:rPr>
                        <a:t>61,5</a:t>
                      </a:r>
                    </a:p>
                  </a:txBody>
                  <a:tcPr marL="91440" marR="91440" marT="36576" marB="36576" anchor="ctr">
                    <a:lnB w="9525" cap="flat" cmpd="sng" algn="ctr">
                      <a:solidFill>
                        <a:srgbClr val="DDD8C9"/>
                      </a:solidFill>
                      <a:prstDash val="solid"/>
                    </a:lnB>
                    <a:solidFill>
                      <a:srgbClr val="ECE6FB"/>
                    </a:solidFill>
                  </a:tcPr>
                </a:tc>
                <a:tc>
                  <a:txBody>
                    <a:bodyPr/>
                    <a:lstStyle/>
                    <a:p>
                      <a:pPr algn="r"/>
                      <a:r>
                        <a:rPr sz="1200" b="0" i="0">
                          <a:solidFill>
                            <a:srgbClr val="1B2433"/>
                          </a:solidFill>
                          <a:latin typeface="Calibri"/>
                        </a:rPr>
                        <a:t>47,0</a:t>
                      </a:r>
                    </a:p>
                  </a:txBody>
                  <a:tcPr marL="91440" marR="91440" marT="36576" marB="36576" anchor="ctr">
                    <a:lnB w="9525" cap="flat" cmpd="sng" algn="ctr">
                      <a:solidFill>
                        <a:srgbClr val="DDD8C9"/>
                      </a:solidFill>
                      <a:prstDash val="solid"/>
                    </a:lnB>
                    <a:solidFill>
                      <a:srgbClr val="ECE6FB"/>
                    </a:solidFill>
                  </a:tcPr>
                </a:tc>
                <a:tc>
                  <a:txBody>
                    <a:bodyPr/>
                    <a:lstStyle/>
                    <a:p>
                      <a:pPr algn="r"/>
                      <a:r>
                        <a:rPr sz="1200" b="0" i="0">
                          <a:solidFill>
                            <a:srgbClr val="1B2433"/>
                          </a:solidFill>
                          <a:latin typeface="Calibri"/>
                        </a:rPr>
                        <a:t>500</a:t>
                      </a:r>
                    </a:p>
                  </a:txBody>
                  <a:tcPr marL="91440" marR="91440" marT="36576" marB="36576" anchor="ctr">
                    <a:lnB w="9525" cap="flat" cmpd="sng" algn="ctr">
                      <a:solidFill>
                        <a:srgbClr val="DDD8C9"/>
                      </a:solidFill>
                      <a:prstDash val="solid"/>
                    </a:lnB>
                    <a:solidFill>
                      <a:srgbClr val="ECE6FB"/>
                    </a:solidFill>
                  </a:tcPr>
                </a:tc>
                <a:tc>
                  <a:txBody>
                    <a:bodyPr/>
                    <a:lstStyle/>
                    <a:p>
                      <a:pPr algn="r"/>
                      <a:r>
                        <a:rPr sz="1200" b="0" i="0">
                          <a:solidFill>
                            <a:srgbClr val="1B2433"/>
                          </a:solidFill>
                          <a:latin typeface="Calibri"/>
                        </a:rPr>
                        <a:t>4,0</a:t>
                      </a:r>
                    </a:p>
                  </a:txBody>
                  <a:tcPr marL="91440" marR="91440" marT="36576" marB="36576" anchor="ctr">
                    <a:lnB w="9525" cap="flat" cmpd="sng" algn="ctr">
                      <a:solidFill>
                        <a:srgbClr val="DDD8C9"/>
                      </a:solidFill>
                      <a:prstDash val="solid"/>
                    </a:lnB>
                    <a:solidFill>
                      <a:srgbClr val="ECE6FB"/>
                    </a:solidFill>
                  </a:tcPr>
                </a:tc>
              </a:tr>
              <a:tr h="330200">
                <a:tc>
                  <a:txBody>
                    <a:bodyPr/>
                    <a:lstStyle/>
                    <a:p>
                      <a:pPr algn="l"/>
                    </a:p>
                  </a:txBody>
                  <a:tcPr marL="91440" marR="91440" marT="36576" marB="36576" anchor="ctr">
                    <a:lnB w="9525" cap="flat" cmpd="sng" algn="ctr">
                      <a:solidFill>
                        <a:srgbClr val="DDD8C9"/>
                      </a:solidFill>
                      <a:prstDash val="solid"/>
                    </a:lnB>
                    <a:solidFill>
                      <a:srgbClr val="F8E7DD"/>
                    </a:solidFill>
                  </a:tcPr>
                </a:tc>
                <a:tc>
                  <a:txBody>
                    <a:bodyPr/>
                    <a:lstStyle/>
                    <a:p>
                      <a:pPr algn="l"/>
                      <a:r>
                        <a:rPr sz="1200" b="0" i="0">
                          <a:solidFill>
                            <a:srgbClr val="1B2433"/>
                          </a:solidFill>
                          <a:latin typeface="Calibri"/>
                        </a:rPr>
                        <a:t>Monte Carlo</a:t>
                      </a:r>
                    </a:p>
                  </a:txBody>
                  <a:tcPr marL="91440" marR="91440" marT="36576" marB="36576" anchor="ctr">
                    <a:lnB w="9525" cap="flat" cmpd="sng" algn="ctr">
                      <a:solidFill>
                        <a:srgbClr val="DDD8C9"/>
                      </a:solidFill>
                      <a:prstDash val="solid"/>
                    </a:lnB>
                    <a:solidFill>
                      <a:srgbClr val="F8E7DD"/>
                    </a:solidFill>
                  </a:tcPr>
                </a:tc>
                <a:tc>
                  <a:txBody>
                    <a:bodyPr/>
                    <a:lstStyle/>
                    <a:p>
                      <a:pPr algn="r"/>
                      <a:r>
                        <a:rPr sz="1200" b="1" i="0">
                          <a:solidFill>
                            <a:srgbClr val="1B2433"/>
                          </a:solidFill>
                          <a:latin typeface="Calibri"/>
                        </a:rPr>
                        <a:t>+6,522</a:t>
                      </a:r>
                    </a:p>
                  </a:txBody>
                  <a:tcPr marL="91440" marR="91440" marT="36576" marB="36576" anchor="ctr">
                    <a:lnB w="9525" cap="flat" cmpd="sng" algn="ctr">
                      <a:solidFill>
                        <a:srgbClr val="DDD8C9"/>
                      </a:solidFill>
                      <a:prstDash val="solid"/>
                    </a:lnB>
                    <a:solidFill>
                      <a:srgbClr val="F8E7DD"/>
                    </a:solidFill>
                  </a:tcPr>
                </a:tc>
                <a:tc>
                  <a:txBody>
                    <a:bodyPr/>
                    <a:lstStyle/>
                    <a:p>
                      <a:pPr algn="r"/>
                      <a:r>
                        <a:rPr sz="1200" b="0" i="0">
                          <a:solidFill>
                            <a:srgbClr val="1B2433"/>
                          </a:solidFill>
                          <a:latin typeface="Calibri"/>
                        </a:rPr>
                        <a:t>+67 892,2</a:t>
                      </a:r>
                    </a:p>
                  </a:txBody>
                  <a:tcPr marL="91440" marR="91440" marT="36576" marB="36576" anchor="ctr">
                    <a:lnB w="9525" cap="flat" cmpd="sng" algn="ctr">
                      <a:solidFill>
                        <a:srgbClr val="DDD8C9"/>
                      </a:solidFill>
                      <a:prstDash val="solid"/>
                    </a:lnB>
                    <a:solidFill>
                      <a:srgbClr val="F8E7DD"/>
                    </a:solidFill>
                  </a:tcPr>
                </a:tc>
                <a:tc>
                  <a:txBody>
                    <a:bodyPr/>
                    <a:lstStyle/>
                    <a:p>
                      <a:pPr algn="r"/>
                      <a:r>
                        <a:rPr sz="1200" b="0" i="0">
                          <a:solidFill>
                            <a:srgbClr val="1B2433"/>
                          </a:solidFill>
                          <a:latin typeface="Calibri"/>
                        </a:rPr>
                        <a:t>97</a:t>
                      </a:r>
                    </a:p>
                  </a:txBody>
                  <a:tcPr marL="91440" marR="91440" marT="36576" marB="36576" anchor="ctr">
                    <a:lnB w="9525" cap="flat" cmpd="sng" algn="ctr">
                      <a:solidFill>
                        <a:srgbClr val="DDD8C9"/>
                      </a:solidFill>
                      <a:prstDash val="solid"/>
                    </a:lnB>
                    <a:solidFill>
                      <a:srgbClr val="F8E7DD"/>
                    </a:solidFill>
                  </a:tcPr>
                </a:tc>
                <a:tc>
                  <a:txBody>
                    <a:bodyPr/>
                    <a:lstStyle/>
                    <a:p>
                      <a:pPr algn="r"/>
                      <a:r>
                        <a:rPr sz="1200" b="0" i="0">
                          <a:solidFill>
                            <a:srgbClr val="1B2433"/>
                          </a:solidFill>
                          <a:latin typeface="Calibri"/>
                        </a:rPr>
                        <a:t>3,21</a:t>
                      </a:r>
                    </a:p>
                  </a:txBody>
                  <a:tcPr marL="91440" marR="91440" marT="36576" marB="36576" anchor="ctr">
                    <a:lnB w="9525" cap="flat" cmpd="sng" algn="ctr">
                      <a:solidFill>
                        <a:srgbClr val="DDD8C9"/>
                      </a:solidFill>
                      <a:prstDash val="solid"/>
                    </a:lnB>
                    <a:solidFill>
                      <a:srgbClr val="F8E7DD"/>
                    </a:solidFill>
                  </a:tcPr>
                </a:tc>
                <a:tc>
                  <a:txBody>
                    <a:bodyPr/>
                    <a:lstStyle/>
                    <a:p>
                      <a:pPr algn="r"/>
                      <a:r>
                        <a:rPr sz="1200" b="0" i="0">
                          <a:solidFill>
                            <a:srgbClr val="1B2433"/>
                          </a:solidFill>
                          <a:latin typeface="Calibri"/>
                        </a:rPr>
                        <a:t>61,4</a:t>
                      </a:r>
                    </a:p>
                  </a:txBody>
                  <a:tcPr marL="91440" marR="91440" marT="36576" marB="36576" anchor="ctr">
                    <a:lnB w="9525" cap="flat" cmpd="sng" algn="ctr">
                      <a:solidFill>
                        <a:srgbClr val="DDD8C9"/>
                      </a:solidFill>
                      <a:prstDash val="solid"/>
                    </a:lnB>
                    <a:solidFill>
                      <a:srgbClr val="F8E7DD"/>
                    </a:solidFill>
                  </a:tcPr>
                </a:tc>
                <a:tc>
                  <a:txBody>
                    <a:bodyPr/>
                    <a:lstStyle/>
                    <a:p>
                      <a:pPr algn="r"/>
                      <a:r>
                        <a:rPr sz="1200" b="0" i="0">
                          <a:solidFill>
                            <a:srgbClr val="1B2433"/>
                          </a:solidFill>
                          <a:latin typeface="Calibri"/>
                        </a:rPr>
                        <a:t>39,5</a:t>
                      </a:r>
                    </a:p>
                  </a:txBody>
                  <a:tcPr marL="91440" marR="91440" marT="36576" marB="36576" anchor="ctr">
                    <a:lnB w="9525" cap="flat" cmpd="sng" algn="ctr">
                      <a:solidFill>
                        <a:srgbClr val="DDD8C9"/>
                      </a:solidFill>
                      <a:prstDash val="solid"/>
                    </a:lnB>
                    <a:solidFill>
                      <a:srgbClr val="F8E7DD"/>
                    </a:solidFill>
                  </a:tcPr>
                </a:tc>
                <a:tc>
                  <a:txBody>
                    <a:bodyPr/>
                    <a:lstStyle/>
                    <a:p>
                      <a:pPr algn="r"/>
                      <a:r>
                        <a:rPr sz="1200" b="0" i="0">
                          <a:solidFill>
                            <a:srgbClr val="1B2433"/>
                          </a:solidFill>
                          <a:latin typeface="Calibri"/>
                        </a:rPr>
                        <a:t>500</a:t>
                      </a:r>
                    </a:p>
                  </a:txBody>
                  <a:tcPr marL="91440" marR="91440" marT="36576" marB="36576" anchor="ctr">
                    <a:lnB w="9525" cap="flat" cmpd="sng" algn="ctr">
                      <a:solidFill>
                        <a:srgbClr val="DDD8C9"/>
                      </a:solidFill>
                      <a:prstDash val="solid"/>
                    </a:lnB>
                    <a:solidFill>
                      <a:srgbClr val="F8E7DD"/>
                    </a:solidFill>
                  </a:tcPr>
                </a:tc>
                <a:tc>
                  <a:txBody>
                    <a:bodyPr/>
                    <a:lstStyle/>
                    <a:p>
                      <a:pPr algn="r"/>
                      <a:r>
                        <a:rPr sz="1200" b="0" i="0">
                          <a:solidFill>
                            <a:srgbClr val="1B2433"/>
                          </a:solidFill>
                          <a:latin typeface="Calibri"/>
                        </a:rPr>
                        <a:t>4,8</a:t>
                      </a:r>
                    </a:p>
                  </a:txBody>
                  <a:tcPr marL="91440" marR="91440" marT="36576" marB="36576" anchor="ctr">
                    <a:lnB w="9525" cap="flat" cmpd="sng" algn="ctr">
                      <a:solidFill>
                        <a:srgbClr val="DDD8C9"/>
                      </a:solidFill>
                      <a:prstDash val="solid"/>
                    </a:lnB>
                    <a:solidFill>
                      <a:srgbClr val="F8E7DD"/>
                    </a:solidFill>
                  </a:tcPr>
                </a:tc>
              </a:tr>
              <a:tr h="330200">
                <a:tc>
                  <a:txBody>
                    <a:bodyPr/>
                    <a:lstStyle/>
                    <a:p>
                      <a:pPr algn="l"/>
                    </a:p>
                  </a:txBody>
                  <a:tcPr marL="91440" marR="91440" marT="36576" marB="36576" anchor="ctr">
                    <a:lnB w="9525" cap="flat" cmpd="sng" algn="ctr">
                      <a:solidFill>
                        <a:srgbClr val="DDD8C9"/>
                      </a:solidFill>
                      <a:prstDash val="solid"/>
                    </a:lnB>
                    <a:noFill/>
                  </a:tcPr>
                </a:tc>
                <a:tc>
                  <a:txBody>
                    <a:bodyPr/>
                    <a:lstStyle/>
                    <a:p>
                      <a:pPr algn="l"/>
                      <a:r>
                        <a:rPr sz="1200" b="0" i="0">
                          <a:solidFill>
                            <a:srgbClr val="1B2433"/>
                          </a:solidFill>
                          <a:latin typeface="Calibri"/>
                        </a:rPr>
                        <a:t>Buy &amp; Hold</a:t>
                      </a:r>
                    </a:p>
                  </a:txBody>
                  <a:tcPr marL="91440" marR="91440" marT="36576" marB="36576" anchor="ctr">
                    <a:lnB w="9525" cap="flat" cmpd="sng" algn="ctr">
                      <a:solidFill>
                        <a:srgbClr val="DDD8C9"/>
                      </a:solidFill>
                      <a:prstDash val="solid"/>
                    </a:lnB>
                    <a:noFill/>
                  </a:tcPr>
                </a:tc>
                <a:tc>
                  <a:txBody>
                    <a:bodyPr/>
                    <a:lstStyle/>
                    <a:p>
                      <a:pPr algn="r"/>
                      <a:r>
                        <a:rPr sz="1200" b="0" i="0">
                          <a:solidFill>
                            <a:srgbClr val="1B2433"/>
                          </a:solidFill>
                          <a:latin typeface="Calibri"/>
                        </a:rPr>
                        <a:t>+3,316</a:t>
                      </a:r>
                    </a:p>
                  </a:txBody>
                  <a:tcPr marL="91440" marR="91440" marT="36576" marB="36576" anchor="ctr">
                    <a:lnB w="9525" cap="flat" cmpd="sng" algn="ctr">
                      <a:solidFill>
                        <a:srgbClr val="DDD8C9"/>
                      </a:solidFill>
                      <a:prstDash val="solid"/>
                    </a:lnB>
                    <a:noFill/>
                  </a:tcPr>
                </a:tc>
                <a:tc>
                  <a:txBody>
                    <a:bodyPr/>
                    <a:lstStyle/>
                    <a:p>
                      <a:pPr algn="r"/>
                      <a:r>
                        <a:rPr sz="1200" b="0" i="0">
                          <a:solidFill>
                            <a:srgbClr val="1B2433"/>
                          </a:solidFill>
                          <a:latin typeface="Calibri"/>
                        </a:rPr>
                        <a:t>+2 656,0</a:t>
                      </a:r>
                    </a:p>
                  </a:txBody>
                  <a:tcPr marL="91440" marR="91440" marT="36576" marB="36576" anchor="ctr">
                    <a:lnB w="9525" cap="flat" cmpd="sng" algn="ctr">
                      <a:solidFill>
                        <a:srgbClr val="DDD8C9"/>
                      </a:solidFill>
                      <a:prstDash val="solid"/>
                    </a:lnB>
                    <a:noFill/>
                  </a:tcPr>
                </a:tc>
                <a:tc>
                  <a:txBody>
                    <a:bodyPr/>
                    <a:lstStyle/>
                    <a:p>
                      <a:pPr algn="r"/>
                      <a:r>
                        <a:rPr sz="1200" b="0" i="0">
                          <a:solidFill>
                            <a:srgbClr val="1B2433"/>
                          </a:solidFill>
                          <a:latin typeface="Calibri"/>
                        </a:rPr>
                        <a:t>—</a:t>
                      </a:r>
                    </a:p>
                  </a:txBody>
                  <a:tcPr marL="91440" marR="91440" marT="36576" marB="36576" anchor="ctr">
                    <a:lnB w="9525" cap="flat" cmpd="sng" algn="ctr">
                      <a:solidFill>
                        <a:srgbClr val="DDD8C9"/>
                      </a:solidFill>
                      <a:prstDash val="solid"/>
                    </a:lnB>
                    <a:noFill/>
                  </a:tcPr>
                </a:tc>
                <a:tc>
                  <a:txBody>
                    <a:bodyPr/>
                    <a:lstStyle/>
                    <a:p>
                      <a:pPr algn="r"/>
                      <a:r>
                        <a:rPr sz="1200" b="0" i="0">
                          <a:solidFill>
                            <a:srgbClr val="1B2433"/>
                          </a:solidFill>
                          <a:latin typeface="Calibri"/>
                        </a:rPr>
                        <a:t>1,86</a:t>
                      </a:r>
                    </a:p>
                  </a:txBody>
                  <a:tcPr marL="91440" marR="91440" marT="36576" marB="36576" anchor="ctr">
                    <a:lnB w="9525" cap="flat" cmpd="sng" algn="ctr">
                      <a:solidFill>
                        <a:srgbClr val="DDD8C9"/>
                      </a:solidFill>
                      <a:prstDash val="solid"/>
                    </a:lnB>
                    <a:noFill/>
                  </a:tcPr>
                </a:tc>
                <a:tc>
                  <a:txBody>
                    <a:bodyPr/>
                    <a:lstStyle/>
                    <a:p>
                      <a:pPr algn="r"/>
                      <a:r>
                        <a:rPr sz="1200" b="0" i="0">
                          <a:solidFill>
                            <a:srgbClr val="1B2433"/>
                          </a:solidFill>
                          <a:latin typeface="Calibri"/>
                        </a:rPr>
                        <a:t>90,3</a:t>
                      </a:r>
                    </a:p>
                  </a:txBody>
                  <a:tcPr marL="91440" marR="91440" marT="36576" marB="36576" anchor="ctr">
                    <a:lnB w="9525" cap="flat" cmpd="sng" algn="ctr">
                      <a:solidFill>
                        <a:srgbClr val="DDD8C9"/>
                      </a:solidFill>
                      <a:prstDash val="solid"/>
                    </a:lnB>
                    <a:noFill/>
                  </a:tcPr>
                </a:tc>
                <a:tc>
                  <a:txBody>
                    <a:bodyPr/>
                    <a:lstStyle/>
                    <a:p>
                      <a:pPr algn="r"/>
                      <a:r>
                        <a:rPr sz="1200" b="0" i="0">
                          <a:solidFill>
                            <a:srgbClr val="1B2433"/>
                          </a:solidFill>
                          <a:latin typeface="Calibri"/>
                        </a:rPr>
                        <a:t>1,0</a:t>
                      </a:r>
                    </a:p>
                  </a:txBody>
                  <a:tcPr marL="91440" marR="91440" marT="36576" marB="36576" anchor="ctr">
                    <a:lnB w="9525" cap="flat" cmpd="sng" algn="ctr">
                      <a:solidFill>
                        <a:srgbClr val="DDD8C9"/>
                      </a:solidFill>
                      <a:prstDash val="solid"/>
                    </a:lnB>
                    <a:noFill/>
                  </a:tcPr>
                </a:tc>
                <a:tc>
                  <a:txBody>
                    <a:bodyPr/>
                    <a:lstStyle/>
                    <a:p>
                      <a:pPr algn="r"/>
                      <a:r>
                        <a:rPr sz="1200" b="0" i="0">
                          <a:solidFill>
                            <a:srgbClr val="1B2433"/>
                          </a:solidFill>
                          <a:latin typeface="Calibri"/>
                        </a:rPr>
                        <a:t>—</a:t>
                      </a:r>
                    </a:p>
                  </a:txBody>
                  <a:tcPr marL="91440" marR="91440" marT="36576" marB="36576" anchor="ctr">
                    <a:lnB w="9525" cap="flat" cmpd="sng" algn="ctr">
                      <a:solidFill>
                        <a:srgbClr val="DDD8C9"/>
                      </a:solidFill>
                      <a:prstDash val="solid"/>
                    </a:lnB>
                    <a:noFill/>
                  </a:tcPr>
                </a:tc>
                <a:tc>
                  <a:txBody>
                    <a:bodyPr/>
                    <a:lstStyle/>
                    <a:p>
                      <a:pPr algn="r"/>
                      <a:r>
                        <a:rPr sz="1200" b="0" i="0">
                          <a:solidFill>
                            <a:srgbClr val="1B2433"/>
                          </a:solidFill>
                          <a:latin typeface="Calibri"/>
                        </a:rPr>
                        <a:t>—</a:t>
                      </a:r>
                    </a:p>
                  </a:txBody>
                  <a:tcPr marL="91440" marR="91440" marT="36576" marB="36576" anchor="ctr">
                    <a:lnB w="9525" cap="flat" cmpd="sng" algn="ctr">
                      <a:solidFill>
                        <a:srgbClr val="DDD8C9"/>
                      </a:solidFill>
                      <a:prstDash val="solid"/>
                    </a:lnB>
                    <a:noFill/>
                  </a:tcPr>
                </a:tc>
              </a:tr>
              <a:tr h="330200">
                <a:tc>
                  <a:txBody>
                    <a:bodyPr/>
                    <a:lstStyle/>
                    <a:p>
                      <a:pPr algn="l"/>
                    </a:p>
                  </a:txBody>
                  <a:tcPr marL="91440" marR="91440" marT="36576" marB="36576" anchor="ctr">
                    <a:lnB w="9525" cap="flat" cmpd="sng" algn="ctr">
                      <a:solidFill>
                        <a:srgbClr val="DDD8C9"/>
                      </a:solidFill>
                      <a:prstDash val="solid"/>
                    </a:lnB>
                    <a:noFill/>
                  </a:tcPr>
                </a:tc>
                <a:tc>
                  <a:txBody>
                    <a:bodyPr/>
                    <a:lstStyle/>
                    <a:p>
                      <a:pPr algn="l"/>
                      <a:r>
                        <a:rPr sz="1200" b="0" i="0">
                          <a:solidFill>
                            <a:srgbClr val="1B2433"/>
                          </a:solidFill>
                          <a:latin typeface="Calibri"/>
                        </a:rPr>
                        <a:t>Aleatorio</a:t>
                      </a:r>
                    </a:p>
                  </a:txBody>
                  <a:tcPr marL="91440" marR="91440" marT="36576" marB="36576" anchor="ctr">
                    <a:lnB w="9525" cap="flat" cmpd="sng" algn="ctr">
                      <a:solidFill>
                        <a:srgbClr val="DDD8C9"/>
                      </a:solidFill>
                      <a:prstDash val="solid"/>
                    </a:lnB>
                    <a:noFill/>
                  </a:tcPr>
                </a:tc>
                <a:tc>
                  <a:txBody>
                    <a:bodyPr/>
                    <a:lstStyle/>
                    <a:p>
                      <a:pPr algn="r"/>
                      <a:r>
                        <a:rPr sz="1200" b="0" i="0">
                          <a:solidFill>
                            <a:srgbClr val="1B2433"/>
                          </a:solidFill>
                          <a:latin typeface="Calibri"/>
                        </a:rPr>
                        <a:t>+1,558</a:t>
                      </a:r>
                    </a:p>
                  </a:txBody>
                  <a:tcPr marL="91440" marR="91440" marT="36576" marB="36576" anchor="ctr">
                    <a:lnB w="9525" cap="flat" cmpd="sng" algn="ctr">
                      <a:solidFill>
                        <a:srgbClr val="DDD8C9"/>
                      </a:solidFill>
                      <a:prstDash val="solid"/>
                    </a:lnB>
                    <a:noFill/>
                  </a:tcPr>
                </a:tc>
                <a:tc>
                  <a:txBody>
                    <a:bodyPr/>
                    <a:lstStyle/>
                    <a:p>
                      <a:pPr algn="r"/>
                      <a:r>
                        <a:rPr sz="1200" b="0" i="0">
                          <a:solidFill>
                            <a:srgbClr val="1B2433"/>
                          </a:solidFill>
                          <a:latin typeface="Calibri"/>
                        </a:rPr>
                        <a:t>+375,1</a:t>
                      </a:r>
                    </a:p>
                  </a:txBody>
                  <a:tcPr marL="91440" marR="91440" marT="36576" marB="36576" anchor="ctr">
                    <a:lnB w="9525" cap="flat" cmpd="sng" algn="ctr">
                      <a:solidFill>
                        <a:srgbClr val="DDD8C9"/>
                      </a:solidFill>
                      <a:prstDash val="solid"/>
                    </a:lnB>
                    <a:noFill/>
                  </a:tcPr>
                </a:tc>
                <a:tc>
                  <a:txBody>
                    <a:bodyPr/>
                    <a:lstStyle/>
                    <a:p>
                      <a:pPr algn="r"/>
                      <a:r>
                        <a:rPr sz="1200" b="0" i="0">
                          <a:solidFill>
                            <a:srgbClr val="1B2433"/>
                          </a:solidFill>
                          <a:latin typeface="Calibri"/>
                        </a:rPr>
                        <a:t>19</a:t>
                      </a:r>
                    </a:p>
                  </a:txBody>
                  <a:tcPr marL="91440" marR="91440" marT="36576" marB="36576" anchor="ctr">
                    <a:lnB w="9525" cap="flat" cmpd="sng" algn="ctr">
                      <a:solidFill>
                        <a:srgbClr val="DDD8C9"/>
                      </a:solidFill>
                      <a:prstDash val="solid"/>
                    </a:lnB>
                    <a:noFill/>
                  </a:tcPr>
                </a:tc>
                <a:tc>
                  <a:txBody>
                    <a:bodyPr/>
                    <a:lstStyle/>
                    <a:p>
                      <a:pPr algn="r"/>
                      <a:r>
                        <a:rPr sz="1200" b="0" i="0">
                          <a:solidFill>
                            <a:srgbClr val="1B2433"/>
                          </a:solidFill>
                          <a:latin typeface="Calibri"/>
                        </a:rPr>
                        <a:t>1,27</a:t>
                      </a:r>
                    </a:p>
                  </a:txBody>
                  <a:tcPr marL="91440" marR="91440" marT="36576" marB="36576" anchor="ctr">
                    <a:lnB w="9525" cap="flat" cmpd="sng" algn="ctr">
                      <a:solidFill>
                        <a:srgbClr val="DDD8C9"/>
                      </a:solidFill>
                      <a:prstDash val="solid"/>
                    </a:lnB>
                    <a:noFill/>
                  </a:tcPr>
                </a:tc>
                <a:tc>
                  <a:txBody>
                    <a:bodyPr/>
                    <a:lstStyle/>
                    <a:p>
                      <a:pPr algn="r"/>
                      <a:r>
                        <a:rPr sz="1200" b="0" i="0">
                          <a:solidFill>
                            <a:srgbClr val="1B2433"/>
                          </a:solidFill>
                          <a:latin typeface="Calibri"/>
                        </a:rPr>
                        <a:t>80,4</a:t>
                      </a:r>
                    </a:p>
                  </a:txBody>
                  <a:tcPr marL="91440" marR="91440" marT="36576" marB="36576" anchor="ctr">
                    <a:lnB w="9525" cap="flat" cmpd="sng" algn="ctr">
                      <a:solidFill>
                        <a:srgbClr val="DDD8C9"/>
                      </a:solidFill>
                      <a:prstDash val="solid"/>
                    </a:lnB>
                    <a:noFill/>
                  </a:tcPr>
                </a:tc>
                <a:tc>
                  <a:txBody>
                    <a:bodyPr/>
                    <a:lstStyle/>
                    <a:p>
                      <a:pPr algn="r"/>
                      <a:r>
                        <a:rPr sz="1200" b="0" i="0">
                          <a:solidFill>
                            <a:srgbClr val="1B2433"/>
                          </a:solidFill>
                          <a:latin typeface="Calibri"/>
                        </a:rPr>
                        <a:t>164,3</a:t>
                      </a:r>
                    </a:p>
                  </a:txBody>
                  <a:tcPr marL="91440" marR="91440" marT="36576" marB="36576" anchor="ctr">
                    <a:lnB w="9525" cap="flat" cmpd="sng" algn="ctr">
                      <a:solidFill>
                        <a:srgbClr val="DDD8C9"/>
                      </a:solidFill>
                      <a:prstDash val="solid"/>
                    </a:lnB>
                    <a:noFill/>
                  </a:tcPr>
                </a:tc>
                <a:tc>
                  <a:txBody>
                    <a:bodyPr/>
                    <a:lstStyle/>
                    <a:p>
                      <a:pPr algn="r"/>
                      <a:r>
                        <a:rPr sz="1200" b="0" i="0">
                          <a:solidFill>
                            <a:srgbClr val="1B2433"/>
                          </a:solidFill>
                          <a:latin typeface="Calibri"/>
                        </a:rPr>
                        <a:t>—</a:t>
                      </a:r>
                    </a:p>
                  </a:txBody>
                  <a:tcPr marL="91440" marR="91440" marT="36576" marB="36576" anchor="ctr">
                    <a:lnB w="9525" cap="flat" cmpd="sng" algn="ctr">
                      <a:solidFill>
                        <a:srgbClr val="DDD8C9"/>
                      </a:solidFill>
                      <a:prstDash val="solid"/>
                    </a:lnB>
                    <a:noFill/>
                  </a:tcPr>
                </a:tc>
                <a:tc>
                  <a:txBody>
                    <a:bodyPr/>
                    <a:lstStyle/>
                    <a:p>
                      <a:pPr algn="r"/>
                      <a:r>
                        <a:rPr sz="1200" b="0" i="0">
                          <a:solidFill>
                            <a:srgbClr val="1B2433"/>
                          </a:solidFill>
                          <a:latin typeface="Calibri"/>
                        </a:rPr>
                        <a:t>—</a:t>
                      </a:r>
                    </a:p>
                  </a:txBody>
                  <a:tcPr marL="91440" marR="91440" marT="36576" marB="36576" anchor="ctr">
                    <a:lnB w="9525" cap="flat" cmpd="sng" algn="ctr">
                      <a:solidFill>
                        <a:srgbClr val="DDD8C9"/>
                      </a:solidFill>
                      <a:prstDash val="solid"/>
                    </a:lnB>
                    <a:noFill/>
                  </a:tcPr>
                </a:tc>
              </a:tr>
              <a:tr h="330200">
                <a:tc>
                  <a:txBody>
                    <a:bodyPr/>
                    <a:lstStyle/>
                    <a:p>
                      <a:pPr algn="l"/>
                      <a:r>
                        <a:rPr sz="1200" b="1" i="0">
                          <a:solidFill>
                            <a:srgbClr val="1B2433"/>
                          </a:solidFill>
                          <a:latin typeface="Calibri"/>
                        </a:rPr>
                        <a:t>Browniano</a:t>
                      </a:r>
                    </a:p>
                  </a:txBody>
                  <a:tcPr marL="91440" marR="91440" marT="36576" marB="36576" anchor="ctr">
                    <a:lnB w="9525" cap="flat" cmpd="sng" algn="ctr">
                      <a:solidFill>
                        <a:srgbClr val="DDD8C9"/>
                      </a:solidFill>
                      <a:prstDash val="solid"/>
                    </a:lnB>
                    <a:solidFill>
                      <a:srgbClr val="E3EEFA"/>
                    </a:solidFill>
                  </a:tcPr>
                </a:tc>
                <a:tc>
                  <a:txBody>
                    <a:bodyPr/>
                    <a:lstStyle/>
                    <a:p>
                      <a:pPr algn="l"/>
                      <a:r>
                        <a:rPr sz="1200" b="0" i="0">
                          <a:solidFill>
                            <a:srgbClr val="1B2433"/>
                          </a:solidFill>
                          <a:latin typeface="Calibri"/>
                        </a:rPr>
                        <a:t>Q-Learning</a:t>
                      </a:r>
                    </a:p>
                  </a:txBody>
                  <a:tcPr marL="91440" marR="91440" marT="36576" marB="36576" anchor="ctr">
                    <a:lnB w="9525" cap="flat" cmpd="sng" algn="ctr">
                      <a:solidFill>
                        <a:srgbClr val="DDD8C9"/>
                      </a:solidFill>
                      <a:prstDash val="solid"/>
                    </a:lnB>
                    <a:solidFill>
                      <a:srgbClr val="E3EEFA"/>
                    </a:solidFill>
                  </a:tcPr>
                </a:tc>
                <a:tc>
                  <a:txBody>
                    <a:bodyPr/>
                    <a:lstStyle/>
                    <a:p>
                      <a:pPr algn="r"/>
                      <a:r>
                        <a:rPr sz="1200" b="1" i="0">
                          <a:solidFill>
                            <a:srgbClr val="1B2433"/>
                          </a:solidFill>
                          <a:latin typeface="Calibri"/>
                        </a:rPr>
                        <a:t>+0,000</a:t>
                      </a:r>
                    </a:p>
                  </a:txBody>
                  <a:tcPr marL="91440" marR="91440" marT="36576" marB="36576" anchor="ctr">
                    <a:lnB w="9525" cap="flat" cmpd="sng" algn="ctr">
                      <a:solidFill>
                        <a:srgbClr val="DDD8C9"/>
                      </a:solidFill>
                      <a:prstDash val="solid"/>
                    </a:lnB>
                    <a:solidFill>
                      <a:srgbClr val="E3EEFA"/>
                    </a:solidFill>
                  </a:tcPr>
                </a:tc>
                <a:tc>
                  <a:txBody>
                    <a:bodyPr/>
                    <a:lstStyle/>
                    <a:p>
                      <a:pPr algn="r"/>
                      <a:r>
                        <a:rPr sz="1200" b="0" i="0">
                          <a:solidFill>
                            <a:srgbClr val="1B2433"/>
                          </a:solidFill>
                          <a:latin typeface="Calibri"/>
                        </a:rPr>
                        <a:t>+0,0</a:t>
                      </a:r>
                    </a:p>
                  </a:txBody>
                  <a:tcPr marL="91440" marR="91440" marT="36576" marB="36576" anchor="ctr">
                    <a:lnB w="9525" cap="flat" cmpd="sng" algn="ctr">
                      <a:solidFill>
                        <a:srgbClr val="DDD8C9"/>
                      </a:solidFill>
                      <a:prstDash val="solid"/>
                    </a:lnB>
                    <a:solidFill>
                      <a:srgbClr val="E3EEFA"/>
                    </a:solidFill>
                  </a:tcPr>
                </a:tc>
                <a:tc>
                  <a:txBody>
                    <a:bodyPr/>
                    <a:lstStyle/>
                    <a:p>
                      <a:pPr algn="r"/>
                      <a:r>
                        <a:rPr sz="1200" b="0" i="0">
                          <a:solidFill>
                            <a:srgbClr val="1B2433"/>
                          </a:solidFill>
                          <a:latin typeface="Calibri"/>
                        </a:rPr>
                        <a:t>51</a:t>
                      </a:r>
                    </a:p>
                  </a:txBody>
                  <a:tcPr marL="91440" marR="91440" marT="36576" marB="36576" anchor="ctr">
                    <a:lnB w="9525" cap="flat" cmpd="sng" algn="ctr">
                      <a:solidFill>
                        <a:srgbClr val="DDD8C9"/>
                      </a:solidFill>
                      <a:prstDash val="solid"/>
                    </a:lnB>
                    <a:solidFill>
                      <a:srgbClr val="E3EEFA"/>
                    </a:solidFill>
                  </a:tcPr>
                </a:tc>
                <a:tc>
                  <a:txBody>
                    <a:bodyPr/>
                    <a:lstStyle/>
                    <a:p>
                      <a:pPr algn="r"/>
                      <a:r>
                        <a:rPr sz="1200" b="0" i="0">
                          <a:solidFill>
                            <a:srgbClr val="1B2433"/>
                          </a:solidFill>
                          <a:latin typeface="Calibri"/>
                        </a:rPr>
                        <a:t>0,00</a:t>
                      </a:r>
                    </a:p>
                  </a:txBody>
                  <a:tcPr marL="91440" marR="91440" marT="36576" marB="36576" anchor="ctr">
                    <a:lnB w="9525" cap="flat" cmpd="sng" algn="ctr">
                      <a:solidFill>
                        <a:srgbClr val="DDD8C9"/>
                      </a:solidFill>
                      <a:prstDash val="solid"/>
                    </a:lnB>
                    <a:solidFill>
                      <a:srgbClr val="E3EEFA"/>
                    </a:solidFill>
                  </a:tcPr>
                </a:tc>
                <a:tc>
                  <a:txBody>
                    <a:bodyPr/>
                    <a:lstStyle/>
                    <a:p>
                      <a:pPr algn="r"/>
                      <a:r>
                        <a:rPr sz="1200" b="0" i="0">
                          <a:solidFill>
                            <a:srgbClr val="1B2433"/>
                          </a:solidFill>
                          <a:latin typeface="Calibri"/>
                        </a:rPr>
                        <a:t>0,0</a:t>
                      </a:r>
                    </a:p>
                  </a:txBody>
                  <a:tcPr marL="91440" marR="91440" marT="36576" marB="36576" anchor="ctr">
                    <a:lnB w="9525" cap="flat" cmpd="sng" algn="ctr">
                      <a:solidFill>
                        <a:srgbClr val="DDD8C9"/>
                      </a:solidFill>
                      <a:prstDash val="solid"/>
                    </a:lnB>
                    <a:solidFill>
                      <a:srgbClr val="E3EEFA"/>
                    </a:solidFill>
                  </a:tcPr>
                </a:tc>
                <a:tc>
                  <a:txBody>
                    <a:bodyPr/>
                    <a:lstStyle/>
                    <a:p>
                      <a:pPr algn="r"/>
                      <a:r>
                        <a:rPr sz="1200" b="0" i="0">
                          <a:solidFill>
                            <a:srgbClr val="1B2433"/>
                          </a:solidFill>
                          <a:latin typeface="Calibri"/>
                        </a:rPr>
                        <a:t>0,0</a:t>
                      </a:r>
                    </a:p>
                  </a:txBody>
                  <a:tcPr marL="91440" marR="91440" marT="36576" marB="36576" anchor="ctr">
                    <a:lnB w="9525" cap="flat" cmpd="sng" algn="ctr">
                      <a:solidFill>
                        <a:srgbClr val="DDD8C9"/>
                      </a:solidFill>
                      <a:prstDash val="solid"/>
                    </a:lnB>
                    <a:solidFill>
                      <a:srgbClr val="E3EEFA"/>
                    </a:solidFill>
                  </a:tcPr>
                </a:tc>
                <a:tc>
                  <a:txBody>
                    <a:bodyPr/>
                    <a:lstStyle/>
                    <a:p>
                      <a:pPr algn="r"/>
                      <a:r>
                        <a:rPr sz="1200" b="0" i="0">
                          <a:solidFill>
                            <a:srgbClr val="1B2433"/>
                          </a:solidFill>
                          <a:latin typeface="Calibri"/>
                        </a:rPr>
                        <a:t>400</a:t>
                      </a:r>
                    </a:p>
                  </a:txBody>
                  <a:tcPr marL="91440" marR="91440" marT="36576" marB="36576" anchor="ctr">
                    <a:lnB w="9525" cap="flat" cmpd="sng" algn="ctr">
                      <a:solidFill>
                        <a:srgbClr val="DDD8C9"/>
                      </a:solidFill>
                      <a:prstDash val="solid"/>
                    </a:lnB>
                    <a:solidFill>
                      <a:srgbClr val="E3EEFA"/>
                    </a:solidFill>
                  </a:tcPr>
                </a:tc>
                <a:tc>
                  <a:txBody>
                    <a:bodyPr/>
                    <a:lstStyle/>
                    <a:p>
                      <a:pPr algn="r"/>
                      <a:r>
                        <a:rPr sz="1200" b="0" i="0">
                          <a:solidFill>
                            <a:srgbClr val="1B2433"/>
                          </a:solidFill>
                          <a:latin typeface="Calibri"/>
                        </a:rPr>
                        <a:t>4,2</a:t>
                      </a:r>
                    </a:p>
                  </a:txBody>
                  <a:tcPr marL="91440" marR="91440" marT="36576" marB="36576" anchor="ctr">
                    <a:lnB w="9525" cap="flat" cmpd="sng" algn="ctr">
                      <a:solidFill>
                        <a:srgbClr val="DDD8C9"/>
                      </a:solidFill>
                      <a:prstDash val="solid"/>
                    </a:lnB>
                    <a:solidFill>
                      <a:srgbClr val="E3EEFA"/>
                    </a:solidFill>
                  </a:tcPr>
                </a:tc>
              </a:tr>
              <a:tr h="330200">
                <a:tc>
                  <a:txBody>
                    <a:bodyPr/>
                    <a:lstStyle/>
                    <a:p>
                      <a:pPr algn="l"/>
                    </a:p>
                  </a:txBody>
                  <a:tcPr marL="91440" marR="91440" marT="36576" marB="36576" anchor="ctr">
                    <a:lnB w="9525" cap="flat" cmpd="sng" algn="ctr">
                      <a:solidFill>
                        <a:srgbClr val="DDD8C9"/>
                      </a:solidFill>
                      <a:prstDash val="solid"/>
                    </a:lnB>
                    <a:solidFill>
                      <a:srgbClr val="ECE6FB"/>
                    </a:solidFill>
                  </a:tcPr>
                </a:tc>
                <a:tc>
                  <a:txBody>
                    <a:bodyPr/>
                    <a:lstStyle/>
                    <a:p>
                      <a:pPr algn="l"/>
                      <a:r>
                        <a:rPr sz="1200" b="0" i="0">
                          <a:solidFill>
                            <a:srgbClr val="1B2433"/>
                          </a:solidFill>
                          <a:latin typeface="Calibri"/>
                        </a:rPr>
                        <a:t>SARSA</a:t>
                      </a:r>
                    </a:p>
                  </a:txBody>
                  <a:tcPr marL="91440" marR="91440" marT="36576" marB="36576" anchor="ctr">
                    <a:lnB w="9525" cap="flat" cmpd="sng" algn="ctr">
                      <a:solidFill>
                        <a:srgbClr val="DDD8C9"/>
                      </a:solidFill>
                      <a:prstDash val="solid"/>
                    </a:lnB>
                    <a:solidFill>
                      <a:srgbClr val="ECE6FB"/>
                    </a:solidFill>
                  </a:tcPr>
                </a:tc>
                <a:tc>
                  <a:txBody>
                    <a:bodyPr/>
                    <a:lstStyle/>
                    <a:p>
                      <a:pPr algn="r"/>
                      <a:r>
                        <a:rPr sz="1200" b="1" i="0">
                          <a:solidFill>
                            <a:srgbClr val="1B2433"/>
                          </a:solidFill>
                          <a:latin typeface="Calibri"/>
                        </a:rPr>
                        <a:t>+0,000</a:t>
                      </a:r>
                    </a:p>
                  </a:txBody>
                  <a:tcPr marL="91440" marR="91440" marT="36576" marB="36576" anchor="ctr">
                    <a:lnB w="9525" cap="flat" cmpd="sng" algn="ctr">
                      <a:solidFill>
                        <a:srgbClr val="DDD8C9"/>
                      </a:solidFill>
                      <a:prstDash val="solid"/>
                    </a:lnB>
                    <a:solidFill>
                      <a:srgbClr val="ECE6FB"/>
                    </a:solidFill>
                  </a:tcPr>
                </a:tc>
                <a:tc>
                  <a:txBody>
                    <a:bodyPr/>
                    <a:lstStyle/>
                    <a:p>
                      <a:pPr algn="r"/>
                      <a:r>
                        <a:rPr sz="1200" b="0" i="0">
                          <a:solidFill>
                            <a:srgbClr val="1B2433"/>
                          </a:solidFill>
                          <a:latin typeface="Calibri"/>
                        </a:rPr>
                        <a:t>+0,0</a:t>
                      </a:r>
                    </a:p>
                  </a:txBody>
                  <a:tcPr marL="91440" marR="91440" marT="36576" marB="36576" anchor="ctr">
                    <a:lnB w="9525" cap="flat" cmpd="sng" algn="ctr">
                      <a:solidFill>
                        <a:srgbClr val="DDD8C9"/>
                      </a:solidFill>
                      <a:prstDash val="solid"/>
                    </a:lnB>
                    <a:solidFill>
                      <a:srgbClr val="ECE6FB"/>
                    </a:solidFill>
                  </a:tcPr>
                </a:tc>
                <a:tc>
                  <a:txBody>
                    <a:bodyPr/>
                    <a:lstStyle/>
                    <a:p>
                      <a:pPr algn="r"/>
                      <a:r>
                        <a:rPr sz="1200" b="0" i="0">
                          <a:solidFill>
                            <a:srgbClr val="1B2433"/>
                          </a:solidFill>
                          <a:latin typeface="Calibri"/>
                        </a:rPr>
                        <a:t>51</a:t>
                      </a:r>
                    </a:p>
                  </a:txBody>
                  <a:tcPr marL="91440" marR="91440" marT="36576" marB="36576" anchor="ctr">
                    <a:lnB w="9525" cap="flat" cmpd="sng" algn="ctr">
                      <a:solidFill>
                        <a:srgbClr val="DDD8C9"/>
                      </a:solidFill>
                      <a:prstDash val="solid"/>
                    </a:lnB>
                    <a:solidFill>
                      <a:srgbClr val="ECE6FB"/>
                    </a:solidFill>
                  </a:tcPr>
                </a:tc>
                <a:tc>
                  <a:txBody>
                    <a:bodyPr/>
                    <a:lstStyle/>
                    <a:p>
                      <a:pPr algn="r"/>
                      <a:r>
                        <a:rPr sz="1200" b="0" i="0">
                          <a:solidFill>
                            <a:srgbClr val="1B2433"/>
                          </a:solidFill>
                          <a:latin typeface="Calibri"/>
                        </a:rPr>
                        <a:t>0,00</a:t>
                      </a:r>
                    </a:p>
                  </a:txBody>
                  <a:tcPr marL="91440" marR="91440" marT="36576" marB="36576" anchor="ctr">
                    <a:lnB w="9525" cap="flat" cmpd="sng" algn="ctr">
                      <a:solidFill>
                        <a:srgbClr val="DDD8C9"/>
                      </a:solidFill>
                      <a:prstDash val="solid"/>
                    </a:lnB>
                    <a:solidFill>
                      <a:srgbClr val="ECE6FB"/>
                    </a:solidFill>
                  </a:tcPr>
                </a:tc>
                <a:tc>
                  <a:txBody>
                    <a:bodyPr/>
                    <a:lstStyle/>
                    <a:p>
                      <a:pPr algn="r"/>
                      <a:r>
                        <a:rPr sz="1200" b="0" i="0">
                          <a:solidFill>
                            <a:srgbClr val="1B2433"/>
                          </a:solidFill>
                          <a:latin typeface="Calibri"/>
                        </a:rPr>
                        <a:t>0,0</a:t>
                      </a:r>
                    </a:p>
                  </a:txBody>
                  <a:tcPr marL="91440" marR="91440" marT="36576" marB="36576" anchor="ctr">
                    <a:lnB w="9525" cap="flat" cmpd="sng" algn="ctr">
                      <a:solidFill>
                        <a:srgbClr val="DDD8C9"/>
                      </a:solidFill>
                      <a:prstDash val="solid"/>
                    </a:lnB>
                    <a:solidFill>
                      <a:srgbClr val="ECE6FB"/>
                    </a:solidFill>
                  </a:tcPr>
                </a:tc>
                <a:tc>
                  <a:txBody>
                    <a:bodyPr/>
                    <a:lstStyle/>
                    <a:p>
                      <a:pPr algn="r"/>
                      <a:r>
                        <a:rPr sz="1200" b="0" i="0">
                          <a:solidFill>
                            <a:srgbClr val="1B2433"/>
                          </a:solidFill>
                          <a:latin typeface="Calibri"/>
                        </a:rPr>
                        <a:t>0,0</a:t>
                      </a:r>
                    </a:p>
                  </a:txBody>
                  <a:tcPr marL="91440" marR="91440" marT="36576" marB="36576" anchor="ctr">
                    <a:lnB w="9525" cap="flat" cmpd="sng" algn="ctr">
                      <a:solidFill>
                        <a:srgbClr val="DDD8C9"/>
                      </a:solidFill>
                      <a:prstDash val="solid"/>
                    </a:lnB>
                    <a:solidFill>
                      <a:srgbClr val="ECE6FB"/>
                    </a:solidFill>
                  </a:tcPr>
                </a:tc>
                <a:tc>
                  <a:txBody>
                    <a:bodyPr/>
                    <a:lstStyle/>
                    <a:p>
                      <a:pPr algn="r"/>
                      <a:r>
                        <a:rPr sz="1200" b="0" i="0">
                          <a:solidFill>
                            <a:srgbClr val="1B2433"/>
                          </a:solidFill>
                          <a:latin typeface="Calibri"/>
                        </a:rPr>
                        <a:t>1 700</a:t>
                      </a:r>
                    </a:p>
                  </a:txBody>
                  <a:tcPr marL="91440" marR="91440" marT="36576" marB="36576" anchor="ctr">
                    <a:lnB w="9525" cap="flat" cmpd="sng" algn="ctr">
                      <a:solidFill>
                        <a:srgbClr val="DDD8C9"/>
                      </a:solidFill>
                      <a:prstDash val="solid"/>
                    </a:lnB>
                    <a:solidFill>
                      <a:srgbClr val="ECE6FB"/>
                    </a:solidFill>
                  </a:tcPr>
                </a:tc>
                <a:tc>
                  <a:txBody>
                    <a:bodyPr/>
                    <a:lstStyle/>
                    <a:p>
                      <a:pPr algn="r"/>
                      <a:r>
                        <a:rPr sz="1200" b="0" i="0">
                          <a:solidFill>
                            <a:srgbClr val="1B2433"/>
                          </a:solidFill>
                          <a:latin typeface="Calibri"/>
                        </a:rPr>
                        <a:t>13,0</a:t>
                      </a:r>
                    </a:p>
                  </a:txBody>
                  <a:tcPr marL="91440" marR="91440" marT="36576" marB="36576" anchor="ctr">
                    <a:lnB w="9525" cap="flat" cmpd="sng" algn="ctr">
                      <a:solidFill>
                        <a:srgbClr val="DDD8C9"/>
                      </a:solidFill>
                      <a:prstDash val="solid"/>
                    </a:lnB>
                    <a:solidFill>
                      <a:srgbClr val="ECE6FB"/>
                    </a:solidFill>
                  </a:tcPr>
                </a:tc>
              </a:tr>
              <a:tr h="330200">
                <a:tc>
                  <a:txBody>
                    <a:bodyPr/>
                    <a:lstStyle/>
                    <a:p>
                      <a:pPr algn="l"/>
                    </a:p>
                  </a:txBody>
                  <a:tcPr marL="91440" marR="91440" marT="36576" marB="36576" anchor="ctr">
                    <a:lnB w="9525" cap="flat" cmpd="sng" algn="ctr">
                      <a:solidFill>
                        <a:srgbClr val="DDD8C9"/>
                      </a:solidFill>
                      <a:prstDash val="solid"/>
                    </a:lnB>
                    <a:solidFill>
                      <a:srgbClr val="F8E7DD"/>
                    </a:solidFill>
                  </a:tcPr>
                </a:tc>
                <a:tc>
                  <a:txBody>
                    <a:bodyPr/>
                    <a:lstStyle/>
                    <a:p>
                      <a:pPr algn="l"/>
                      <a:r>
                        <a:rPr sz="1200" b="0" i="0">
                          <a:solidFill>
                            <a:srgbClr val="1B2433"/>
                          </a:solidFill>
                          <a:latin typeface="Calibri"/>
                        </a:rPr>
                        <a:t>Monte Carlo</a:t>
                      </a:r>
                    </a:p>
                  </a:txBody>
                  <a:tcPr marL="91440" marR="91440" marT="36576" marB="36576" anchor="ctr">
                    <a:lnB w="9525" cap="flat" cmpd="sng" algn="ctr">
                      <a:solidFill>
                        <a:srgbClr val="DDD8C9"/>
                      </a:solidFill>
                      <a:prstDash val="solid"/>
                    </a:lnB>
                    <a:solidFill>
                      <a:srgbClr val="F8E7DD"/>
                    </a:solidFill>
                  </a:tcPr>
                </a:tc>
                <a:tc>
                  <a:txBody>
                    <a:bodyPr/>
                    <a:lstStyle/>
                    <a:p>
                      <a:pPr algn="r"/>
                      <a:r>
                        <a:rPr sz="1200" b="0" i="0">
                          <a:solidFill>
                            <a:srgbClr val="1B2433"/>
                          </a:solidFill>
                          <a:latin typeface="Calibri"/>
                        </a:rPr>
                        <a:t>−0,012</a:t>
                      </a:r>
                    </a:p>
                  </a:txBody>
                  <a:tcPr marL="91440" marR="91440" marT="36576" marB="36576" anchor="ctr">
                    <a:lnB w="9525" cap="flat" cmpd="sng" algn="ctr">
                      <a:solidFill>
                        <a:srgbClr val="DDD8C9"/>
                      </a:solidFill>
                      <a:prstDash val="solid"/>
                    </a:lnB>
                    <a:solidFill>
                      <a:srgbClr val="F8E7DD"/>
                    </a:solidFill>
                  </a:tcPr>
                </a:tc>
                <a:tc>
                  <a:txBody>
                    <a:bodyPr/>
                    <a:lstStyle/>
                    <a:p>
                      <a:pPr algn="r"/>
                      <a:r>
                        <a:rPr sz="1200" b="0" i="0">
                          <a:solidFill>
                            <a:srgbClr val="1B2433"/>
                          </a:solidFill>
                          <a:latin typeface="Calibri"/>
                        </a:rPr>
                        <a:t>−1,2</a:t>
                      </a:r>
                    </a:p>
                  </a:txBody>
                  <a:tcPr marL="91440" marR="91440" marT="36576" marB="36576" anchor="ctr">
                    <a:lnB w="9525" cap="flat" cmpd="sng" algn="ctr">
                      <a:solidFill>
                        <a:srgbClr val="DDD8C9"/>
                      </a:solidFill>
                      <a:prstDash val="solid"/>
                    </a:lnB>
                    <a:solidFill>
                      <a:srgbClr val="F8E7DD"/>
                    </a:solidFill>
                  </a:tcPr>
                </a:tc>
                <a:tc>
                  <a:txBody>
                    <a:bodyPr/>
                    <a:lstStyle/>
                    <a:p>
                      <a:pPr algn="r"/>
                      <a:r>
                        <a:rPr sz="1200" b="0" i="0">
                          <a:solidFill>
                            <a:srgbClr val="1B2433"/>
                          </a:solidFill>
                          <a:latin typeface="Calibri"/>
                        </a:rPr>
                        <a:t>49</a:t>
                      </a:r>
                    </a:p>
                  </a:txBody>
                  <a:tcPr marL="91440" marR="91440" marT="36576" marB="36576" anchor="ctr">
                    <a:lnB w="9525" cap="flat" cmpd="sng" algn="ctr">
                      <a:solidFill>
                        <a:srgbClr val="DDD8C9"/>
                      </a:solidFill>
                      <a:prstDash val="solid"/>
                    </a:lnB>
                    <a:solidFill>
                      <a:srgbClr val="F8E7DD"/>
                    </a:solidFill>
                  </a:tcPr>
                </a:tc>
                <a:tc>
                  <a:txBody>
                    <a:bodyPr/>
                    <a:lstStyle/>
                    <a:p>
                      <a:pPr algn="r"/>
                      <a:r>
                        <a:rPr sz="1200" b="0" i="0">
                          <a:solidFill>
                            <a:srgbClr val="1B2433"/>
                          </a:solidFill>
                          <a:latin typeface="Calibri"/>
                        </a:rPr>
                        <a:t>0,01</a:t>
                      </a:r>
                    </a:p>
                  </a:txBody>
                  <a:tcPr marL="91440" marR="91440" marT="36576" marB="36576" anchor="ctr">
                    <a:lnB w="9525" cap="flat" cmpd="sng" algn="ctr">
                      <a:solidFill>
                        <a:srgbClr val="DDD8C9"/>
                      </a:solidFill>
                      <a:prstDash val="solid"/>
                    </a:lnB>
                    <a:solidFill>
                      <a:srgbClr val="F8E7DD"/>
                    </a:solidFill>
                  </a:tcPr>
                </a:tc>
                <a:tc>
                  <a:txBody>
                    <a:bodyPr/>
                    <a:lstStyle/>
                    <a:p>
                      <a:pPr algn="r"/>
                      <a:r>
                        <a:rPr sz="1200" b="0" i="0">
                          <a:solidFill>
                            <a:srgbClr val="1B2433"/>
                          </a:solidFill>
                          <a:latin typeface="Calibri"/>
                        </a:rPr>
                        <a:t>8,3</a:t>
                      </a:r>
                    </a:p>
                  </a:txBody>
                  <a:tcPr marL="91440" marR="91440" marT="36576" marB="36576" anchor="ctr">
                    <a:lnB w="9525" cap="flat" cmpd="sng" algn="ctr">
                      <a:solidFill>
                        <a:srgbClr val="DDD8C9"/>
                      </a:solidFill>
                      <a:prstDash val="solid"/>
                    </a:lnB>
                    <a:solidFill>
                      <a:srgbClr val="F8E7DD"/>
                    </a:solidFill>
                  </a:tcPr>
                </a:tc>
                <a:tc>
                  <a:txBody>
                    <a:bodyPr/>
                    <a:lstStyle/>
                    <a:p>
                      <a:pPr algn="r"/>
                      <a:r>
                        <a:rPr sz="1200" b="0" i="0">
                          <a:solidFill>
                            <a:srgbClr val="1B2433"/>
                          </a:solidFill>
                          <a:latin typeface="Calibri"/>
                        </a:rPr>
                        <a:t>0,2</a:t>
                      </a:r>
                    </a:p>
                  </a:txBody>
                  <a:tcPr marL="91440" marR="91440" marT="36576" marB="36576" anchor="ctr">
                    <a:lnB w="9525" cap="flat" cmpd="sng" algn="ctr">
                      <a:solidFill>
                        <a:srgbClr val="DDD8C9"/>
                      </a:solidFill>
                      <a:prstDash val="solid"/>
                    </a:lnB>
                    <a:solidFill>
                      <a:srgbClr val="F8E7DD"/>
                    </a:solidFill>
                  </a:tcPr>
                </a:tc>
                <a:tc>
                  <a:txBody>
                    <a:bodyPr/>
                    <a:lstStyle/>
                    <a:p>
                      <a:pPr algn="r"/>
                      <a:r>
                        <a:rPr sz="1200" b="0" i="0">
                          <a:solidFill>
                            <a:srgbClr val="1B2433"/>
                          </a:solidFill>
                          <a:latin typeface="Calibri"/>
                        </a:rPr>
                        <a:t>700</a:t>
                      </a:r>
                    </a:p>
                  </a:txBody>
                  <a:tcPr marL="91440" marR="91440" marT="36576" marB="36576" anchor="ctr">
                    <a:lnB w="9525" cap="flat" cmpd="sng" algn="ctr">
                      <a:solidFill>
                        <a:srgbClr val="DDD8C9"/>
                      </a:solidFill>
                      <a:prstDash val="solid"/>
                    </a:lnB>
                    <a:solidFill>
                      <a:srgbClr val="F8E7DD"/>
                    </a:solidFill>
                  </a:tcPr>
                </a:tc>
                <a:tc>
                  <a:txBody>
                    <a:bodyPr/>
                    <a:lstStyle/>
                    <a:p>
                      <a:pPr algn="r"/>
                      <a:r>
                        <a:rPr sz="1200" b="0" i="0">
                          <a:solidFill>
                            <a:srgbClr val="1B2433"/>
                          </a:solidFill>
                          <a:latin typeface="Calibri"/>
                        </a:rPr>
                        <a:t>6,5</a:t>
                      </a:r>
                    </a:p>
                  </a:txBody>
                  <a:tcPr marL="91440" marR="91440" marT="36576" marB="36576" anchor="ctr">
                    <a:lnB w="9525" cap="flat" cmpd="sng" algn="ctr">
                      <a:solidFill>
                        <a:srgbClr val="DDD8C9"/>
                      </a:solidFill>
                      <a:prstDash val="solid"/>
                    </a:lnB>
                    <a:solidFill>
                      <a:srgbClr val="F8E7DD"/>
                    </a:solidFill>
                  </a:tcPr>
                </a:tc>
              </a:tr>
              <a:tr h="330200">
                <a:tc>
                  <a:txBody>
                    <a:bodyPr/>
                    <a:lstStyle/>
                    <a:p>
                      <a:pPr algn="l"/>
                    </a:p>
                  </a:txBody>
                  <a:tcPr marL="91440" marR="91440" marT="36576" marB="36576" anchor="ctr">
                    <a:lnB w="9525" cap="flat" cmpd="sng" algn="ctr">
                      <a:solidFill>
                        <a:srgbClr val="DDD8C9"/>
                      </a:solidFill>
                      <a:prstDash val="solid"/>
                    </a:lnB>
                    <a:noFill/>
                  </a:tcPr>
                </a:tc>
                <a:tc>
                  <a:txBody>
                    <a:bodyPr/>
                    <a:lstStyle/>
                    <a:p>
                      <a:pPr algn="l"/>
                      <a:r>
                        <a:rPr sz="1200" b="0" i="0">
                          <a:solidFill>
                            <a:srgbClr val="1B2433"/>
                          </a:solidFill>
                          <a:latin typeface="Calibri"/>
                        </a:rPr>
                        <a:t>Buy &amp; Hold</a:t>
                      </a:r>
                    </a:p>
                  </a:txBody>
                  <a:tcPr marL="91440" marR="91440" marT="36576" marB="36576" anchor="ctr">
                    <a:lnB w="9525" cap="flat" cmpd="sng" algn="ctr">
                      <a:solidFill>
                        <a:srgbClr val="DDD8C9"/>
                      </a:solidFill>
                      <a:prstDash val="solid"/>
                    </a:lnB>
                    <a:noFill/>
                  </a:tcPr>
                </a:tc>
                <a:tc>
                  <a:txBody>
                    <a:bodyPr/>
                    <a:lstStyle/>
                    <a:p>
                      <a:pPr algn="r"/>
                      <a:r>
                        <a:rPr sz="1200" b="0" i="0">
                          <a:solidFill>
                            <a:srgbClr val="1B2433"/>
                          </a:solidFill>
                          <a:latin typeface="Calibri"/>
                        </a:rPr>
                        <a:t>−0,062</a:t>
                      </a:r>
                    </a:p>
                  </a:txBody>
                  <a:tcPr marL="91440" marR="91440" marT="36576" marB="36576" anchor="ctr">
                    <a:lnB w="9525" cap="flat" cmpd="sng" algn="ctr">
                      <a:solidFill>
                        <a:srgbClr val="DDD8C9"/>
                      </a:solidFill>
                      <a:prstDash val="solid"/>
                    </a:lnB>
                    <a:noFill/>
                  </a:tcPr>
                </a:tc>
                <a:tc>
                  <a:txBody>
                    <a:bodyPr/>
                    <a:lstStyle/>
                    <a:p>
                      <a:pPr algn="r"/>
                      <a:r>
                        <a:rPr sz="1200" b="0" i="0">
                          <a:solidFill>
                            <a:srgbClr val="1B2433"/>
                          </a:solidFill>
                          <a:latin typeface="Calibri"/>
                        </a:rPr>
                        <a:t>−6,0</a:t>
                      </a:r>
                    </a:p>
                  </a:txBody>
                  <a:tcPr marL="91440" marR="91440" marT="36576" marB="36576" anchor="ctr">
                    <a:lnB w="9525" cap="flat" cmpd="sng" algn="ctr">
                      <a:solidFill>
                        <a:srgbClr val="DDD8C9"/>
                      </a:solidFill>
                      <a:prstDash val="solid"/>
                    </a:lnB>
                    <a:noFill/>
                  </a:tcPr>
                </a:tc>
                <a:tc>
                  <a:txBody>
                    <a:bodyPr/>
                    <a:lstStyle/>
                    <a:p>
                      <a:pPr algn="r"/>
                      <a:r>
                        <a:rPr sz="1200" b="0" i="0">
                          <a:solidFill>
                            <a:srgbClr val="1B2433"/>
                          </a:solidFill>
                          <a:latin typeface="Calibri"/>
                        </a:rPr>
                        <a:t>—</a:t>
                      </a:r>
                    </a:p>
                  </a:txBody>
                  <a:tcPr marL="91440" marR="91440" marT="36576" marB="36576" anchor="ctr">
                    <a:lnB w="9525" cap="flat" cmpd="sng" algn="ctr">
                      <a:solidFill>
                        <a:srgbClr val="DDD8C9"/>
                      </a:solidFill>
                      <a:prstDash val="solid"/>
                    </a:lnB>
                    <a:noFill/>
                  </a:tcPr>
                </a:tc>
                <a:tc>
                  <a:txBody>
                    <a:bodyPr/>
                    <a:lstStyle/>
                    <a:p>
                      <a:pPr algn="r"/>
                      <a:r>
                        <a:rPr sz="1200" b="0" i="0">
                          <a:solidFill>
                            <a:srgbClr val="1B2433"/>
                          </a:solidFill>
                          <a:latin typeface="Calibri"/>
                        </a:rPr>
                        <a:t>0,06</a:t>
                      </a:r>
                    </a:p>
                  </a:txBody>
                  <a:tcPr marL="91440" marR="91440" marT="36576" marB="36576" anchor="ctr">
                    <a:lnB w="9525" cap="flat" cmpd="sng" algn="ctr">
                      <a:solidFill>
                        <a:srgbClr val="DDD8C9"/>
                      </a:solidFill>
                      <a:prstDash val="solid"/>
                    </a:lnB>
                    <a:noFill/>
                  </a:tcPr>
                </a:tc>
                <a:tc>
                  <a:txBody>
                    <a:bodyPr/>
                    <a:lstStyle/>
                    <a:p>
                      <a:pPr algn="r"/>
                      <a:r>
                        <a:rPr sz="1200" b="0" i="0">
                          <a:solidFill>
                            <a:srgbClr val="1B2433"/>
                          </a:solidFill>
                          <a:latin typeface="Calibri"/>
                        </a:rPr>
                        <a:t>41,9</a:t>
                      </a:r>
                    </a:p>
                  </a:txBody>
                  <a:tcPr marL="91440" marR="91440" marT="36576" marB="36576" anchor="ctr">
                    <a:lnB w="9525" cap="flat" cmpd="sng" algn="ctr">
                      <a:solidFill>
                        <a:srgbClr val="DDD8C9"/>
                      </a:solidFill>
                      <a:prstDash val="solid"/>
                    </a:lnB>
                    <a:noFill/>
                  </a:tcPr>
                </a:tc>
                <a:tc>
                  <a:txBody>
                    <a:bodyPr/>
                    <a:lstStyle/>
                    <a:p>
                      <a:pPr algn="r"/>
                      <a:r>
                        <a:rPr sz="1200" b="0" i="0">
                          <a:solidFill>
                            <a:srgbClr val="1B2433"/>
                          </a:solidFill>
                          <a:latin typeface="Calibri"/>
                        </a:rPr>
                        <a:t>1,0</a:t>
                      </a:r>
                    </a:p>
                  </a:txBody>
                  <a:tcPr marL="91440" marR="91440" marT="36576" marB="36576" anchor="ctr">
                    <a:lnB w="9525" cap="flat" cmpd="sng" algn="ctr">
                      <a:solidFill>
                        <a:srgbClr val="DDD8C9"/>
                      </a:solidFill>
                      <a:prstDash val="solid"/>
                    </a:lnB>
                    <a:noFill/>
                  </a:tcPr>
                </a:tc>
                <a:tc>
                  <a:txBody>
                    <a:bodyPr/>
                    <a:lstStyle/>
                    <a:p>
                      <a:pPr algn="r"/>
                      <a:r>
                        <a:rPr sz="1200" b="0" i="0">
                          <a:solidFill>
                            <a:srgbClr val="1B2433"/>
                          </a:solidFill>
                          <a:latin typeface="Calibri"/>
                        </a:rPr>
                        <a:t>—</a:t>
                      </a:r>
                    </a:p>
                  </a:txBody>
                  <a:tcPr marL="91440" marR="91440" marT="36576" marB="36576" anchor="ctr">
                    <a:lnB w="9525" cap="flat" cmpd="sng" algn="ctr">
                      <a:solidFill>
                        <a:srgbClr val="DDD8C9"/>
                      </a:solidFill>
                      <a:prstDash val="solid"/>
                    </a:lnB>
                    <a:noFill/>
                  </a:tcPr>
                </a:tc>
                <a:tc>
                  <a:txBody>
                    <a:bodyPr/>
                    <a:lstStyle/>
                    <a:p>
                      <a:pPr algn="r"/>
                      <a:r>
                        <a:rPr sz="1200" b="0" i="0">
                          <a:solidFill>
                            <a:srgbClr val="1B2433"/>
                          </a:solidFill>
                          <a:latin typeface="Calibri"/>
                        </a:rPr>
                        <a:t>—</a:t>
                      </a:r>
                    </a:p>
                  </a:txBody>
                  <a:tcPr marL="91440" marR="91440" marT="36576" marB="36576" anchor="ctr">
                    <a:lnB w="9525" cap="flat" cmpd="sng" algn="ctr">
                      <a:solidFill>
                        <a:srgbClr val="DDD8C9"/>
                      </a:solidFill>
                      <a:prstDash val="solid"/>
                    </a:lnB>
                    <a:noFill/>
                  </a:tcPr>
                </a:tc>
              </a:tr>
              <a:tr h="330200">
                <a:tc>
                  <a:txBody>
                    <a:bodyPr/>
                    <a:lstStyle/>
                    <a:p>
                      <a:pPr algn="l"/>
                    </a:p>
                  </a:txBody>
                  <a:tcPr marL="91440" marR="91440" marT="36576" marB="36576" anchor="ctr">
                    <a:lnB w="9525" cap="flat" cmpd="sng" algn="ctr">
                      <a:solidFill>
                        <a:srgbClr val="DDD8C9"/>
                      </a:solidFill>
                      <a:prstDash val="solid"/>
                    </a:lnB>
                    <a:noFill/>
                  </a:tcPr>
                </a:tc>
                <a:tc>
                  <a:txBody>
                    <a:bodyPr/>
                    <a:lstStyle/>
                    <a:p>
                      <a:pPr algn="l"/>
                      <a:r>
                        <a:rPr sz="1200" b="0" i="0">
                          <a:solidFill>
                            <a:srgbClr val="1B2433"/>
                          </a:solidFill>
                          <a:latin typeface="Calibri"/>
                        </a:rPr>
                        <a:t>Aleatorio</a:t>
                      </a:r>
                    </a:p>
                  </a:txBody>
                  <a:tcPr marL="91440" marR="91440" marT="36576" marB="36576" anchor="ctr">
                    <a:lnB w="9525" cap="flat" cmpd="sng" algn="ctr">
                      <a:solidFill>
                        <a:srgbClr val="DDD8C9"/>
                      </a:solidFill>
                      <a:prstDash val="solid"/>
                    </a:lnB>
                    <a:noFill/>
                  </a:tcPr>
                </a:tc>
                <a:tc>
                  <a:txBody>
                    <a:bodyPr/>
                    <a:lstStyle/>
                    <a:p>
                      <a:pPr algn="r"/>
                      <a:r>
                        <a:rPr sz="1200" b="0" i="0">
                          <a:solidFill>
                            <a:srgbClr val="1B2433"/>
                          </a:solidFill>
                          <a:latin typeface="Calibri"/>
                        </a:rPr>
                        <a:t>−0,187</a:t>
                      </a:r>
                    </a:p>
                  </a:txBody>
                  <a:tcPr marL="91440" marR="91440" marT="36576" marB="36576" anchor="ctr">
                    <a:lnB w="9525" cap="flat" cmpd="sng" algn="ctr">
                      <a:solidFill>
                        <a:srgbClr val="DDD8C9"/>
                      </a:solidFill>
                      <a:prstDash val="solid"/>
                    </a:lnB>
                    <a:noFill/>
                  </a:tcPr>
                </a:tc>
                <a:tc>
                  <a:txBody>
                    <a:bodyPr/>
                    <a:lstStyle/>
                    <a:p>
                      <a:pPr algn="r"/>
                      <a:r>
                        <a:rPr sz="1200" b="0" i="0">
                          <a:solidFill>
                            <a:srgbClr val="1B2433"/>
                          </a:solidFill>
                          <a:latin typeface="Calibri"/>
                        </a:rPr>
                        <a:t>−17,1</a:t>
                      </a:r>
                    </a:p>
                  </a:txBody>
                  <a:tcPr marL="91440" marR="91440" marT="36576" marB="36576" anchor="ctr">
                    <a:lnB w="9525" cap="flat" cmpd="sng" algn="ctr">
                      <a:solidFill>
                        <a:srgbClr val="DDD8C9"/>
                      </a:solidFill>
                      <a:prstDash val="solid"/>
                    </a:lnB>
                    <a:noFill/>
                  </a:tcPr>
                </a:tc>
                <a:tc>
                  <a:txBody>
                    <a:bodyPr/>
                    <a:lstStyle/>
                    <a:p>
                      <a:pPr algn="r"/>
                      <a:r>
                        <a:rPr sz="1200" b="0" i="0">
                          <a:solidFill>
                            <a:srgbClr val="1B2433"/>
                          </a:solidFill>
                          <a:latin typeface="Calibri"/>
                        </a:rPr>
                        <a:t>37</a:t>
                      </a:r>
                    </a:p>
                  </a:txBody>
                  <a:tcPr marL="91440" marR="91440" marT="36576" marB="36576" anchor="ctr">
                    <a:lnB w="9525" cap="flat" cmpd="sng" algn="ctr">
                      <a:solidFill>
                        <a:srgbClr val="DDD8C9"/>
                      </a:solidFill>
                      <a:prstDash val="solid"/>
                    </a:lnB>
                    <a:noFill/>
                  </a:tcPr>
                </a:tc>
                <a:tc>
                  <a:txBody>
                    <a:bodyPr/>
                    <a:lstStyle/>
                    <a:p>
                      <a:pPr algn="r"/>
                      <a:r>
                        <a:rPr sz="1200" b="0" i="0">
                          <a:solidFill>
                            <a:srgbClr val="1B2433"/>
                          </a:solidFill>
                          <a:latin typeface="Calibri"/>
                        </a:rPr>
                        <a:t>−0,31</a:t>
                      </a:r>
                    </a:p>
                  </a:txBody>
                  <a:tcPr marL="91440" marR="91440" marT="36576" marB="36576" anchor="ctr">
                    <a:lnB w="9525" cap="flat" cmpd="sng" algn="ctr">
                      <a:solidFill>
                        <a:srgbClr val="DDD8C9"/>
                      </a:solidFill>
                      <a:prstDash val="solid"/>
                    </a:lnB>
                    <a:noFill/>
                  </a:tcPr>
                </a:tc>
                <a:tc>
                  <a:txBody>
                    <a:bodyPr/>
                    <a:lstStyle/>
                    <a:p>
                      <a:pPr algn="r"/>
                      <a:r>
                        <a:rPr sz="1200" b="0" i="0">
                          <a:solidFill>
                            <a:srgbClr val="1B2433"/>
                          </a:solidFill>
                          <a:latin typeface="Calibri"/>
                        </a:rPr>
                        <a:t>36,0</a:t>
                      </a:r>
                    </a:p>
                  </a:txBody>
                  <a:tcPr marL="91440" marR="91440" marT="36576" marB="36576" anchor="ctr">
                    <a:lnB w="9525" cap="flat" cmpd="sng" algn="ctr">
                      <a:solidFill>
                        <a:srgbClr val="DDD8C9"/>
                      </a:solidFill>
                      <a:prstDash val="solid"/>
                    </a:lnB>
                    <a:noFill/>
                  </a:tcPr>
                </a:tc>
                <a:tc>
                  <a:txBody>
                    <a:bodyPr/>
                    <a:lstStyle/>
                    <a:p>
                      <a:pPr algn="r"/>
                      <a:r>
                        <a:rPr sz="1200" b="0" i="0">
                          <a:solidFill>
                            <a:srgbClr val="1B2433"/>
                          </a:solidFill>
                          <a:latin typeface="Calibri"/>
                        </a:rPr>
                        <a:t>164,3</a:t>
                      </a:r>
                    </a:p>
                  </a:txBody>
                  <a:tcPr marL="91440" marR="91440" marT="36576" marB="36576" anchor="ctr">
                    <a:lnB w="9525" cap="flat" cmpd="sng" algn="ctr">
                      <a:solidFill>
                        <a:srgbClr val="DDD8C9"/>
                      </a:solidFill>
                      <a:prstDash val="solid"/>
                    </a:lnB>
                    <a:noFill/>
                  </a:tcPr>
                </a:tc>
                <a:tc>
                  <a:txBody>
                    <a:bodyPr/>
                    <a:lstStyle/>
                    <a:p>
                      <a:pPr algn="r"/>
                      <a:r>
                        <a:rPr sz="1200" b="0" i="0">
                          <a:solidFill>
                            <a:srgbClr val="1B2433"/>
                          </a:solidFill>
                          <a:latin typeface="Calibri"/>
                        </a:rPr>
                        <a:t>—</a:t>
                      </a:r>
                    </a:p>
                  </a:txBody>
                  <a:tcPr marL="91440" marR="91440" marT="36576" marB="36576" anchor="ctr">
                    <a:lnB w="9525" cap="flat" cmpd="sng" algn="ctr">
                      <a:solidFill>
                        <a:srgbClr val="DDD8C9"/>
                      </a:solidFill>
                      <a:prstDash val="solid"/>
                    </a:lnB>
                    <a:noFill/>
                  </a:tcPr>
                </a:tc>
                <a:tc>
                  <a:txBody>
                    <a:bodyPr/>
                    <a:lstStyle/>
                    <a:p>
                      <a:pPr algn="r"/>
                      <a:r>
                        <a:rPr sz="1200" b="0" i="0">
                          <a:solidFill>
                            <a:srgbClr val="1B2433"/>
                          </a:solidFill>
                          <a:latin typeface="Calibri"/>
                        </a:rPr>
                        <a:t>—</a:t>
                      </a:r>
                    </a:p>
                  </a:txBody>
                  <a:tcPr marL="91440" marR="91440" marT="36576" marB="36576" anchor="ctr">
                    <a:lnB w="9525" cap="flat" cmpd="sng" algn="ctr">
                      <a:solidFill>
                        <a:srgbClr val="DDD8C9"/>
                      </a:solidFill>
                      <a:prstDash val="solid"/>
                    </a:lnB>
                    <a:noFill/>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itle 1"/>
          <p:cNvSpPr>
            <a:spLocks noGrp="1"/>
          </p:cNvSpPr>
          <p:nvPr>
            <p:ph type="title"/>
          </p:nvPr>
        </p:nvSpPr>
        <p:spPr>
          <a:xfrm>
            <a:off x="812800" y="812800"/>
            <a:ext cx="10566400" cy="546100"/>
          </a:xfrm>
        </p:spPr>
        <p:txBody>
          <a:bodyPr wrap="square" lIns="0" rIns="0" tIns="0" bIns="0" anchor="t"/>
          <a:lstStyle/>
          <a:p>
            <a:pPr algn="l"/>
            <a:r>
              <a:rPr sz="3200" b="1" i="0">
                <a:solidFill>
                  <a:srgbClr val="1B2433"/>
                </a:solidFill>
                <a:latin typeface="Cambria"/>
              </a:rPr>
              <a:t>Tabla 1 · Reversión a la media y Regímenes</a:t>
            </a:r>
          </a:p>
        </p:txBody>
      </p:sp>
      <p:sp>
        <p:nvSpPr>
          <p:cNvPr id="3" name="Sección"/>
          <p:cNvSpPr txBox="1"/>
          <p:nvPr/>
        </p:nvSpPr>
        <p:spPr>
          <a:xfrm>
            <a:off x="812800" y="533400"/>
            <a:ext cx="10566400" cy="215900"/>
          </a:xfrm>
          <a:prstGeom prst="rect">
            <a:avLst/>
          </a:prstGeom>
          <a:noFill/>
        </p:spPr>
        <p:txBody>
          <a:bodyPr wrap="square" lIns="0" rIns="0" tIns="0" bIns="0" anchor="t">
            <a:spAutoFit/>
          </a:bodyPr>
          <a:lstStyle/>
          <a:p>
            <a:pPr algn="l">
              <a:lnSpc>
                <a:spcPct val="110000"/>
              </a:lnSpc>
              <a:spcAft>
                <a:spcPts val="0"/>
              </a:spcAft>
            </a:pPr>
            <a:r>
              <a:rPr sz="1200" b="1" i="0" spc="150">
                <a:solidFill>
                  <a:srgbClr val="556072"/>
                </a:solidFill>
                <a:latin typeface="Calibri"/>
              </a:rPr>
              <a:t>2 · RESULTADOS · TEST: 100 SERIES, MEDIA DE 5 SEMILLAS</a:t>
            </a:r>
          </a:p>
        </p:txBody>
      </p:sp>
      <p:sp>
        <p:nvSpPr>
          <p:cNvPr id="4" name="Pie"/>
          <p:cNvSpPr txBox="1"/>
          <p:nvPr/>
        </p:nvSpPr>
        <p:spPr>
          <a:xfrm>
            <a:off x="812800" y="6350000"/>
            <a:ext cx="7620000" cy="190500"/>
          </a:xfrm>
          <a:prstGeom prst="rect">
            <a:avLst/>
          </a:prstGeom>
          <a:noFill/>
        </p:spPr>
        <p:txBody>
          <a:bodyPr wrap="square" lIns="0" rIns="0" tIns="0" bIns="0" anchor="t">
            <a:spAutoFit/>
          </a:bodyPr>
          <a:lstStyle/>
          <a:p>
            <a:pPr algn="l">
              <a:lnSpc>
                <a:spcPct val="110000"/>
              </a:lnSpc>
              <a:spcAft>
                <a:spcPts val="0"/>
              </a:spcAft>
            </a:pPr>
            <a:r>
              <a:rPr sz="1200" b="0" i="0">
                <a:solidFill>
                  <a:srgbClr val="556072"/>
                </a:solidFill>
                <a:latin typeface="Calibri"/>
              </a:rPr>
              <a:t>Agente de trading con RL tabular · MIAX-14</a:t>
            </a:r>
          </a:p>
        </p:txBody>
      </p:sp>
      <p:sp>
        <p:nvSpPr>
          <p:cNvPr id="5" name="Número de diapositiva"/>
          <p:cNvSpPr txBox="1"/>
          <p:nvPr/>
        </p:nvSpPr>
        <p:spPr>
          <a:xfrm>
            <a:off x="9855200" y="6350000"/>
            <a:ext cx="1524000" cy="190500"/>
          </a:xfrm>
          <a:prstGeom prst="rect">
            <a:avLst/>
          </a:prstGeom>
          <a:noFill/>
        </p:spPr>
        <p:txBody>
          <a:bodyPr wrap="square" lIns="0" rIns="0" tIns="0" bIns="0" anchor="t">
            <a:spAutoFit/>
          </a:bodyPr>
          <a:lstStyle/>
          <a:p>
            <a:pPr algn="r">
              <a:lnSpc>
                <a:spcPct val="110000"/>
              </a:lnSpc>
              <a:spcAft>
                <a:spcPts val="0"/>
              </a:spcAft>
            </a:pPr>
            <a:fld id="{B6F15528-21DE-4FAA-801E-634DDDAF4B2B}" type="slidenum">
              <a:rPr lang="es-ES" sz="1200">
                <a:solidFill>
                  <a:srgbClr val="556072"/>
                </a:solidFill>
                <a:latin typeface="Calibri"/>
              </a:rPr>
              <a:t>‹#›</a:t>
            </a:fld>
          </a:p>
        </p:txBody>
      </p:sp>
      <p:graphicFrame>
        <p:nvGraphicFramePr>
          <p:cNvPr id="6" name="Tabla"/>
          <p:cNvGraphicFramePr>
            <a:graphicFrameLocks noGrp="1"/>
          </p:cNvGraphicFramePr>
          <p:nvPr/>
        </p:nvGraphicFramePr>
        <p:xfrm>
          <a:off x="812800" y="1587500"/>
          <a:ext cx="10566400" cy="3835400"/>
        </p:xfrm>
        <a:graphic>
          <a:graphicData uri="http://schemas.openxmlformats.org/drawingml/2006/table">
            <a:tbl>
              <a:tblPr firstRow="1">
                <a:tableStyleId>{2D5ABB26-0587-4C30-8999-92F81FD0307C}</a:tableStyleId>
              </a:tblPr>
              <a:tblGrid>
                <a:gridCol w="1689100"/>
                <a:gridCol w="1371600"/>
                <a:gridCol w="952500"/>
                <a:gridCol w="1270000"/>
                <a:gridCol w="1054100"/>
                <a:gridCol w="844550"/>
                <a:gridCol w="844550"/>
                <a:gridCol w="844550"/>
                <a:gridCol w="952500"/>
                <a:gridCol w="742950"/>
              </a:tblGrid>
              <a:tr h="533400">
                <a:tc>
                  <a:txBody>
                    <a:bodyPr/>
                    <a:lstStyle/>
                    <a:p>
                      <a:pPr algn="l"/>
                      <a:r>
                        <a:rPr sz="1200" b="1" i="0">
                          <a:solidFill>
                            <a:srgbClr val="1B2433"/>
                          </a:solidFill>
                          <a:latin typeface="Calibri"/>
                        </a:rPr>
                        <a:t>Mercado</a:t>
                      </a:r>
                    </a:p>
                  </a:txBody>
                  <a:tcPr marL="91440" marR="91440" marT="36576" marB="36576" anchor="ctr">
                    <a:lnB w="9525" cap="flat" cmpd="sng" algn="ctr">
                      <a:solidFill>
                        <a:srgbClr val="DDD8C9"/>
                      </a:solidFill>
                      <a:prstDash val="solid"/>
                    </a:lnB>
                    <a:solidFill>
                      <a:srgbClr val="E4E0D2"/>
                    </a:solidFill>
                  </a:tcPr>
                </a:tc>
                <a:tc>
                  <a:txBody>
                    <a:bodyPr/>
                    <a:lstStyle/>
                    <a:p>
                      <a:pPr algn="l"/>
                      <a:r>
                        <a:rPr sz="1200" b="1" i="0">
                          <a:solidFill>
                            <a:srgbClr val="1B2433"/>
                          </a:solidFill>
                          <a:latin typeface="Calibri"/>
                        </a:rPr>
                        <a:t>Agente</a:t>
                      </a:r>
                    </a:p>
                  </a:txBody>
                  <a:tcPr marL="91440" marR="91440" marT="36576" marB="36576" anchor="ctr">
                    <a:lnB w="9525" cap="flat" cmpd="sng" algn="ctr">
                      <a:solidFill>
                        <a:srgbClr val="DDD8C9"/>
                      </a:solidFill>
                      <a:prstDash val="solid"/>
                    </a:lnB>
                    <a:solidFill>
                      <a:srgbClr val="E4E0D2"/>
                    </a:solidFill>
                  </a:tcPr>
                </a:tc>
                <a:tc>
                  <a:txBody>
                    <a:bodyPr/>
                    <a:lstStyle/>
                    <a:p>
                      <a:pPr algn="r"/>
                      <a:r>
                        <a:rPr sz="1200" b="1" i="0">
                          <a:solidFill>
                            <a:srgbClr val="1B2433"/>
                          </a:solidFill>
                          <a:latin typeface="Calibri"/>
                        </a:rPr>
                        <a:t>Log-ret.</a:t>
                      </a:r>
                    </a:p>
                  </a:txBody>
                  <a:tcPr marL="91440" marR="91440" marT="36576" marB="36576" anchor="ctr">
                    <a:lnB w="9525" cap="flat" cmpd="sng" algn="ctr">
                      <a:solidFill>
                        <a:srgbClr val="DDD8C9"/>
                      </a:solidFill>
                      <a:prstDash val="solid"/>
                    </a:lnB>
                    <a:solidFill>
                      <a:srgbClr val="E4E0D2"/>
                    </a:solidFill>
                  </a:tcPr>
                </a:tc>
                <a:tc>
                  <a:txBody>
                    <a:bodyPr/>
                    <a:lstStyle/>
                    <a:p>
                      <a:pPr algn="r"/>
                      <a:r>
                        <a:rPr sz="1200" b="1" i="0">
                          <a:solidFill>
                            <a:srgbClr val="1B2433"/>
                          </a:solidFill>
                          <a:latin typeface="Calibri"/>
                        </a:rPr>
                        <a:t>Ret. geom. (%)</a:t>
                      </a:r>
                    </a:p>
                  </a:txBody>
                  <a:tcPr marL="91440" marR="91440" marT="36576" marB="36576" anchor="ctr">
                    <a:lnB w="9525" cap="flat" cmpd="sng" algn="ctr">
                      <a:solidFill>
                        <a:srgbClr val="DDD8C9"/>
                      </a:solidFill>
                      <a:prstDash val="solid"/>
                    </a:lnB>
                    <a:solidFill>
                      <a:srgbClr val="E4E0D2"/>
                    </a:solidFill>
                  </a:tcPr>
                </a:tc>
                <a:tc>
                  <a:txBody>
                    <a:bodyPr/>
                    <a:lstStyle/>
                    <a:p>
                      <a:pPr algn="r"/>
                      <a:r>
                        <a:rPr sz="1200" b="1" i="0">
                          <a:solidFill>
                            <a:srgbClr val="1B2433"/>
                          </a:solidFill>
                          <a:latin typeface="Calibri"/>
                        </a:rPr>
                        <a:t>% series &gt; B&amp;H</a:t>
                      </a:r>
                    </a:p>
                  </a:txBody>
                  <a:tcPr marL="91440" marR="91440" marT="36576" marB="36576" anchor="ctr">
                    <a:lnB w="9525" cap="flat" cmpd="sng" algn="ctr">
                      <a:solidFill>
                        <a:srgbClr val="DDD8C9"/>
                      </a:solidFill>
                      <a:prstDash val="solid"/>
                    </a:lnB>
                    <a:solidFill>
                      <a:srgbClr val="E4E0D2"/>
                    </a:solidFill>
                  </a:tcPr>
                </a:tc>
                <a:tc>
                  <a:txBody>
                    <a:bodyPr/>
                    <a:lstStyle/>
                    <a:p>
                      <a:pPr algn="r"/>
                      <a:r>
                        <a:rPr sz="1200" b="1" i="0">
                          <a:solidFill>
                            <a:srgbClr val="1B2433"/>
                          </a:solidFill>
                          <a:latin typeface="Calibri"/>
                        </a:rPr>
                        <a:t>Sharpe</a:t>
                      </a:r>
                    </a:p>
                  </a:txBody>
                  <a:tcPr marL="91440" marR="91440" marT="36576" marB="36576" anchor="ctr">
                    <a:lnB w="9525" cap="flat" cmpd="sng" algn="ctr">
                      <a:solidFill>
                        <a:srgbClr val="DDD8C9"/>
                      </a:solidFill>
                      <a:prstDash val="solid"/>
                    </a:lnB>
                    <a:solidFill>
                      <a:srgbClr val="E4E0D2"/>
                    </a:solidFill>
                  </a:tcPr>
                </a:tc>
                <a:tc>
                  <a:txBody>
                    <a:bodyPr/>
                    <a:lstStyle/>
                    <a:p>
                      <a:pPr algn="r"/>
                      <a:r>
                        <a:rPr sz="1200" b="1" i="0">
                          <a:solidFill>
                            <a:srgbClr val="1B2433"/>
                          </a:solidFill>
                          <a:latin typeface="Calibri"/>
                        </a:rPr>
                        <a:t>DD máx. (%)</a:t>
                      </a:r>
                    </a:p>
                  </a:txBody>
                  <a:tcPr marL="91440" marR="91440" marT="36576" marB="36576" anchor="ctr">
                    <a:lnB w="9525" cap="flat" cmpd="sng" algn="ctr">
                      <a:solidFill>
                        <a:srgbClr val="DDD8C9"/>
                      </a:solidFill>
                      <a:prstDash val="solid"/>
                    </a:lnB>
                    <a:solidFill>
                      <a:srgbClr val="E4E0D2"/>
                    </a:solidFill>
                  </a:tcPr>
                </a:tc>
                <a:tc>
                  <a:txBody>
                    <a:bodyPr/>
                    <a:lstStyle/>
                    <a:p>
                      <a:pPr algn="r"/>
                      <a:r>
                        <a:rPr sz="1200" b="1" i="0">
                          <a:solidFill>
                            <a:srgbClr val="1B2433"/>
                          </a:solidFill>
                          <a:latin typeface="Calibri"/>
                        </a:rPr>
                        <a:t>Operac.</a:t>
                      </a:r>
                    </a:p>
                  </a:txBody>
                  <a:tcPr marL="91440" marR="91440" marT="36576" marB="36576" anchor="ctr">
                    <a:lnB w="9525" cap="flat" cmpd="sng" algn="ctr">
                      <a:solidFill>
                        <a:srgbClr val="DDD8C9"/>
                      </a:solidFill>
                      <a:prstDash val="solid"/>
                    </a:lnB>
                    <a:solidFill>
                      <a:srgbClr val="E4E0D2"/>
                    </a:solidFill>
                  </a:tcPr>
                </a:tc>
                <a:tc>
                  <a:txBody>
                    <a:bodyPr/>
                    <a:lstStyle/>
                    <a:p>
                      <a:pPr algn="r"/>
                      <a:r>
                        <a:rPr sz="1200" b="1" i="0">
                          <a:solidFill>
                            <a:srgbClr val="1B2433"/>
                          </a:solidFill>
                          <a:latin typeface="Calibri"/>
                        </a:rPr>
                        <a:t>Conv. (ep.)</a:t>
                      </a:r>
                    </a:p>
                  </a:txBody>
                  <a:tcPr marL="91440" marR="91440" marT="36576" marB="36576" anchor="ctr">
                    <a:lnB w="9525" cap="flat" cmpd="sng" algn="ctr">
                      <a:solidFill>
                        <a:srgbClr val="DDD8C9"/>
                      </a:solidFill>
                      <a:prstDash val="solid"/>
                    </a:lnB>
                    <a:solidFill>
                      <a:srgbClr val="E4E0D2"/>
                    </a:solidFill>
                  </a:tcPr>
                </a:tc>
                <a:tc>
                  <a:txBody>
                    <a:bodyPr/>
                    <a:lstStyle/>
                    <a:p>
                      <a:pPr algn="r"/>
                      <a:r>
                        <a:rPr sz="1200" b="1" i="0">
                          <a:solidFill>
                            <a:srgbClr val="1B2433"/>
                          </a:solidFill>
                          <a:latin typeface="Calibri"/>
                        </a:rPr>
                        <a:t>Conv. (s)</a:t>
                      </a:r>
                    </a:p>
                  </a:txBody>
                  <a:tcPr marL="91440" marR="91440" marT="36576" marB="36576" anchor="ctr">
                    <a:lnB w="9525" cap="flat" cmpd="sng" algn="ctr">
                      <a:solidFill>
                        <a:srgbClr val="DDD8C9"/>
                      </a:solidFill>
                      <a:prstDash val="solid"/>
                    </a:lnB>
                    <a:solidFill>
                      <a:srgbClr val="E4E0D2"/>
                    </a:solidFill>
                  </a:tcPr>
                </a:tc>
              </a:tr>
              <a:tr h="330200">
                <a:tc>
                  <a:txBody>
                    <a:bodyPr/>
                    <a:lstStyle/>
                    <a:p>
                      <a:pPr algn="l"/>
                      <a:r>
                        <a:rPr sz="1200" b="1" i="0">
                          <a:solidFill>
                            <a:srgbClr val="1B2433"/>
                          </a:solidFill>
                          <a:latin typeface="Calibri"/>
                        </a:rPr>
                        <a:t>Reversión a la media</a:t>
                      </a:r>
                    </a:p>
                  </a:txBody>
                  <a:tcPr marL="91440" marR="91440" marT="36576" marB="36576" anchor="ctr">
                    <a:lnB w="9525" cap="flat" cmpd="sng" algn="ctr">
                      <a:solidFill>
                        <a:srgbClr val="DDD8C9"/>
                      </a:solidFill>
                      <a:prstDash val="solid"/>
                    </a:lnB>
                    <a:solidFill>
                      <a:srgbClr val="E3EEFA"/>
                    </a:solidFill>
                  </a:tcPr>
                </a:tc>
                <a:tc>
                  <a:txBody>
                    <a:bodyPr/>
                    <a:lstStyle/>
                    <a:p>
                      <a:pPr algn="l"/>
                      <a:r>
                        <a:rPr sz="1200" b="0" i="0">
                          <a:solidFill>
                            <a:srgbClr val="1B2433"/>
                          </a:solidFill>
                          <a:latin typeface="Calibri"/>
                        </a:rPr>
                        <a:t>Q-Learning</a:t>
                      </a:r>
                    </a:p>
                  </a:txBody>
                  <a:tcPr marL="91440" marR="91440" marT="36576" marB="36576" anchor="ctr">
                    <a:lnB w="9525" cap="flat" cmpd="sng" algn="ctr">
                      <a:solidFill>
                        <a:srgbClr val="DDD8C9"/>
                      </a:solidFill>
                      <a:prstDash val="solid"/>
                    </a:lnB>
                    <a:solidFill>
                      <a:srgbClr val="E3EEFA"/>
                    </a:solidFill>
                  </a:tcPr>
                </a:tc>
                <a:tc>
                  <a:txBody>
                    <a:bodyPr/>
                    <a:lstStyle/>
                    <a:p>
                      <a:pPr algn="r"/>
                      <a:r>
                        <a:rPr sz="1200" b="0" i="0">
                          <a:solidFill>
                            <a:srgbClr val="1B2433"/>
                          </a:solidFill>
                          <a:latin typeface="Calibri"/>
                        </a:rPr>
                        <a:t>+0,155</a:t>
                      </a:r>
                    </a:p>
                  </a:txBody>
                  <a:tcPr marL="91440" marR="91440" marT="36576" marB="36576" anchor="ctr">
                    <a:lnB w="9525" cap="flat" cmpd="sng" algn="ctr">
                      <a:solidFill>
                        <a:srgbClr val="DDD8C9"/>
                      </a:solidFill>
                      <a:prstDash val="solid"/>
                    </a:lnB>
                    <a:solidFill>
                      <a:srgbClr val="E3EEFA"/>
                    </a:solidFill>
                  </a:tcPr>
                </a:tc>
                <a:tc>
                  <a:txBody>
                    <a:bodyPr/>
                    <a:lstStyle/>
                    <a:p>
                      <a:pPr algn="r"/>
                      <a:r>
                        <a:rPr sz="1200" b="0" i="0">
                          <a:solidFill>
                            <a:srgbClr val="1B2433"/>
                          </a:solidFill>
                          <a:latin typeface="Calibri"/>
                        </a:rPr>
                        <a:t>+16,7</a:t>
                      </a:r>
                    </a:p>
                  </a:txBody>
                  <a:tcPr marL="91440" marR="91440" marT="36576" marB="36576" anchor="ctr">
                    <a:lnB w="9525" cap="flat" cmpd="sng" algn="ctr">
                      <a:solidFill>
                        <a:srgbClr val="DDD8C9"/>
                      </a:solidFill>
                      <a:prstDash val="solid"/>
                    </a:lnB>
                    <a:solidFill>
                      <a:srgbClr val="E3EEFA"/>
                    </a:solidFill>
                  </a:tcPr>
                </a:tc>
                <a:tc>
                  <a:txBody>
                    <a:bodyPr/>
                    <a:lstStyle/>
                    <a:p>
                      <a:pPr algn="r"/>
                      <a:r>
                        <a:rPr sz="1200" b="0" i="0">
                          <a:solidFill>
                            <a:srgbClr val="1B2433"/>
                          </a:solidFill>
                          <a:latin typeface="Calibri"/>
                        </a:rPr>
                        <a:t>80</a:t>
                      </a:r>
                    </a:p>
                  </a:txBody>
                  <a:tcPr marL="91440" marR="91440" marT="36576" marB="36576" anchor="ctr">
                    <a:lnB w="9525" cap="flat" cmpd="sng" algn="ctr">
                      <a:solidFill>
                        <a:srgbClr val="DDD8C9"/>
                      </a:solidFill>
                      <a:prstDash val="solid"/>
                    </a:lnB>
                    <a:solidFill>
                      <a:srgbClr val="E3EEFA"/>
                    </a:solidFill>
                  </a:tcPr>
                </a:tc>
                <a:tc>
                  <a:txBody>
                    <a:bodyPr/>
                    <a:lstStyle/>
                    <a:p>
                      <a:pPr algn="r"/>
                      <a:r>
                        <a:rPr sz="1200" b="0" i="0">
                          <a:solidFill>
                            <a:srgbClr val="1B2433"/>
                          </a:solidFill>
                          <a:latin typeface="Calibri"/>
                        </a:rPr>
                        <a:t>0,55</a:t>
                      </a:r>
                    </a:p>
                  </a:txBody>
                  <a:tcPr marL="91440" marR="91440" marT="36576" marB="36576" anchor="ctr">
                    <a:lnB w="9525" cap="flat" cmpd="sng" algn="ctr">
                      <a:solidFill>
                        <a:srgbClr val="DDD8C9"/>
                      </a:solidFill>
                      <a:prstDash val="solid"/>
                    </a:lnB>
                    <a:solidFill>
                      <a:srgbClr val="E3EEFA"/>
                    </a:solidFill>
                  </a:tcPr>
                </a:tc>
                <a:tc>
                  <a:txBody>
                    <a:bodyPr/>
                    <a:lstStyle/>
                    <a:p>
                      <a:pPr algn="r"/>
                      <a:r>
                        <a:rPr sz="1200" b="0" i="0">
                          <a:solidFill>
                            <a:srgbClr val="1B2433"/>
                          </a:solidFill>
                          <a:latin typeface="Calibri"/>
                        </a:rPr>
                        <a:t>16,8</a:t>
                      </a:r>
                    </a:p>
                  </a:txBody>
                  <a:tcPr marL="91440" marR="91440" marT="36576" marB="36576" anchor="ctr">
                    <a:lnB w="9525" cap="flat" cmpd="sng" algn="ctr">
                      <a:solidFill>
                        <a:srgbClr val="DDD8C9"/>
                      </a:solidFill>
                      <a:prstDash val="solid"/>
                    </a:lnB>
                    <a:solidFill>
                      <a:srgbClr val="E3EEFA"/>
                    </a:solidFill>
                  </a:tcPr>
                </a:tc>
                <a:tc>
                  <a:txBody>
                    <a:bodyPr/>
                    <a:lstStyle/>
                    <a:p>
                      <a:pPr algn="r"/>
                      <a:r>
                        <a:rPr sz="1200" b="0" i="0">
                          <a:solidFill>
                            <a:srgbClr val="1B2433"/>
                          </a:solidFill>
                          <a:latin typeface="Calibri"/>
                        </a:rPr>
                        <a:t>52,7</a:t>
                      </a:r>
                    </a:p>
                  </a:txBody>
                  <a:tcPr marL="91440" marR="91440" marT="36576" marB="36576" anchor="ctr">
                    <a:lnB w="9525" cap="flat" cmpd="sng" algn="ctr">
                      <a:solidFill>
                        <a:srgbClr val="DDD8C9"/>
                      </a:solidFill>
                      <a:prstDash val="solid"/>
                    </a:lnB>
                    <a:solidFill>
                      <a:srgbClr val="E3EEFA"/>
                    </a:solidFill>
                  </a:tcPr>
                </a:tc>
                <a:tc>
                  <a:txBody>
                    <a:bodyPr/>
                    <a:lstStyle/>
                    <a:p>
                      <a:pPr algn="r"/>
                      <a:r>
                        <a:rPr sz="1200" b="0" i="0">
                          <a:solidFill>
                            <a:srgbClr val="1B2433"/>
                          </a:solidFill>
                          <a:latin typeface="Calibri"/>
                        </a:rPr>
                        <a:t>2 200</a:t>
                      </a:r>
                    </a:p>
                  </a:txBody>
                  <a:tcPr marL="91440" marR="91440" marT="36576" marB="36576" anchor="ctr">
                    <a:lnB w="9525" cap="flat" cmpd="sng" algn="ctr">
                      <a:solidFill>
                        <a:srgbClr val="DDD8C9"/>
                      </a:solidFill>
                      <a:prstDash val="solid"/>
                    </a:lnB>
                    <a:solidFill>
                      <a:srgbClr val="E3EEFA"/>
                    </a:solidFill>
                  </a:tcPr>
                </a:tc>
                <a:tc>
                  <a:txBody>
                    <a:bodyPr/>
                    <a:lstStyle/>
                    <a:p>
                      <a:pPr algn="r"/>
                      <a:r>
                        <a:rPr sz="1200" b="0" i="0">
                          <a:solidFill>
                            <a:srgbClr val="1B2433"/>
                          </a:solidFill>
                          <a:latin typeface="Calibri"/>
                        </a:rPr>
                        <a:t>18,6</a:t>
                      </a:r>
                    </a:p>
                  </a:txBody>
                  <a:tcPr marL="91440" marR="91440" marT="36576" marB="36576" anchor="ctr">
                    <a:lnB w="9525" cap="flat" cmpd="sng" algn="ctr">
                      <a:solidFill>
                        <a:srgbClr val="DDD8C9"/>
                      </a:solidFill>
                      <a:prstDash val="solid"/>
                    </a:lnB>
                    <a:solidFill>
                      <a:srgbClr val="E3EEFA"/>
                    </a:solidFill>
                  </a:tcPr>
                </a:tc>
              </a:tr>
              <a:tr h="330200">
                <a:tc>
                  <a:txBody>
                    <a:bodyPr/>
                    <a:lstStyle/>
                    <a:p>
                      <a:pPr algn="l"/>
                    </a:p>
                  </a:txBody>
                  <a:tcPr marL="91440" marR="91440" marT="36576" marB="36576" anchor="ctr">
                    <a:lnB w="9525" cap="flat" cmpd="sng" algn="ctr">
                      <a:solidFill>
                        <a:srgbClr val="DDD8C9"/>
                      </a:solidFill>
                      <a:prstDash val="solid"/>
                    </a:lnB>
                    <a:solidFill>
                      <a:srgbClr val="ECE6FB"/>
                    </a:solidFill>
                  </a:tcPr>
                </a:tc>
                <a:tc>
                  <a:txBody>
                    <a:bodyPr/>
                    <a:lstStyle/>
                    <a:p>
                      <a:pPr algn="l"/>
                      <a:r>
                        <a:rPr sz="1200" b="0" i="0">
                          <a:solidFill>
                            <a:srgbClr val="1B2433"/>
                          </a:solidFill>
                          <a:latin typeface="Calibri"/>
                        </a:rPr>
                        <a:t>SARSA</a:t>
                      </a:r>
                    </a:p>
                  </a:txBody>
                  <a:tcPr marL="91440" marR="91440" marT="36576" marB="36576" anchor="ctr">
                    <a:lnB w="9525" cap="flat" cmpd="sng" algn="ctr">
                      <a:solidFill>
                        <a:srgbClr val="DDD8C9"/>
                      </a:solidFill>
                      <a:prstDash val="solid"/>
                    </a:lnB>
                    <a:solidFill>
                      <a:srgbClr val="ECE6FB"/>
                    </a:solidFill>
                  </a:tcPr>
                </a:tc>
                <a:tc>
                  <a:txBody>
                    <a:bodyPr/>
                    <a:lstStyle/>
                    <a:p>
                      <a:pPr algn="r"/>
                      <a:r>
                        <a:rPr sz="1200" b="0" i="0">
                          <a:solidFill>
                            <a:srgbClr val="1B2433"/>
                          </a:solidFill>
                          <a:latin typeface="Calibri"/>
                        </a:rPr>
                        <a:t>+0,203</a:t>
                      </a:r>
                    </a:p>
                  </a:txBody>
                  <a:tcPr marL="91440" marR="91440" marT="36576" marB="36576" anchor="ctr">
                    <a:lnB w="9525" cap="flat" cmpd="sng" algn="ctr">
                      <a:solidFill>
                        <a:srgbClr val="DDD8C9"/>
                      </a:solidFill>
                      <a:prstDash val="solid"/>
                    </a:lnB>
                    <a:solidFill>
                      <a:srgbClr val="ECE6FB"/>
                    </a:solidFill>
                  </a:tcPr>
                </a:tc>
                <a:tc>
                  <a:txBody>
                    <a:bodyPr/>
                    <a:lstStyle/>
                    <a:p>
                      <a:pPr algn="r"/>
                      <a:r>
                        <a:rPr sz="1200" b="0" i="0">
                          <a:solidFill>
                            <a:srgbClr val="1B2433"/>
                          </a:solidFill>
                          <a:latin typeface="Calibri"/>
                        </a:rPr>
                        <a:t>+22,5</a:t>
                      </a:r>
                    </a:p>
                  </a:txBody>
                  <a:tcPr marL="91440" marR="91440" marT="36576" marB="36576" anchor="ctr">
                    <a:lnB w="9525" cap="flat" cmpd="sng" algn="ctr">
                      <a:solidFill>
                        <a:srgbClr val="DDD8C9"/>
                      </a:solidFill>
                      <a:prstDash val="solid"/>
                    </a:lnB>
                    <a:solidFill>
                      <a:srgbClr val="ECE6FB"/>
                    </a:solidFill>
                  </a:tcPr>
                </a:tc>
                <a:tc>
                  <a:txBody>
                    <a:bodyPr/>
                    <a:lstStyle/>
                    <a:p>
                      <a:pPr algn="r"/>
                      <a:r>
                        <a:rPr sz="1200" b="0" i="0">
                          <a:solidFill>
                            <a:srgbClr val="1B2433"/>
                          </a:solidFill>
                          <a:latin typeface="Calibri"/>
                        </a:rPr>
                        <a:t>89</a:t>
                      </a:r>
                    </a:p>
                  </a:txBody>
                  <a:tcPr marL="91440" marR="91440" marT="36576" marB="36576" anchor="ctr">
                    <a:lnB w="9525" cap="flat" cmpd="sng" algn="ctr">
                      <a:solidFill>
                        <a:srgbClr val="DDD8C9"/>
                      </a:solidFill>
                      <a:prstDash val="solid"/>
                    </a:lnB>
                    <a:solidFill>
                      <a:srgbClr val="ECE6FB"/>
                    </a:solidFill>
                  </a:tcPr>
                </a:tc>
                <a:tc>
                  <a:txBody>
                    <a:bodyPr/>
                    <a:lstStyle/>
                    <a:p>
                      <a:pPr algn="r"/>
                      <a:r>
                        <a:rPr sz="1200" b="0" i="0">
                          <a:solidFill>
                            <a:srgbClr val="1B2433"/>
                          </a:solidFill>
                          <a:latin typeface="Calibri"/>
                        </a:rPr>
                        <a:t>0,69</a:t>
                      </a:r>
                    </a:p>
                  </a:txBody>
                  <a:tcPr marL="91440" marR="91440" marT="36576" marB="36576" anchor="ctr">
                    <a:lnB w="9525" cap="flat" cmpd="sng" algn="ctr">
                      <a:solidFill>
                        <a:srgbClr val="DDD8C9"/>
                      </a:solidFill>
                      <a:prstDash val="solid"/>
                    </a:lnB>
                    <a:solidFill>
                      <a:srgbClr val="ECE6FB"/>
                    </a:solidFill>
                  </a:tcPr>
                </a:tc>
                <a:tc>
                  <a:txBody>
                    <a:bodyPr/>
                    <a:lstStyle/>
                    <a:p>
                      <a:pPr algn="r"/>
                      <a:r>
                        <a:rPr sz="1200" b="0" i="0">
                          <a:solidFill>
                            <a:srgbClr val="1B2433"/>
                          </a:solidFill>
                          <a:latin typeface="Calibri"/>
                        </a:rPr>
                        <a:t>15,7</a:t>
                      </a:r>
                    </a:p>
                  </a:txBody>
                  <a:tcPr marL="91440" marR="91440" marT="36576" marB="36576" anchor="ctr">
                    <a:lnB w="9525" cap="flat" cmpd="sng" algn="ctr">
                      <a:solidFill>
                        <a:srgbClr val="DDD8C9"/>
                      </a:solidFill>
                      <a:prstDash val="solid"/>
                    </a:lnB>
                    <a:solidFill>
                      <a:srgbClr val="ECE6FB"/>
                    </a:solidFill>
                  </a:tcPr>
                </a:tc>
                <a:tc>
                  <a:txBody>
                    <a:bodyPr/>
                    <a:lstStyle/>
                    <a:p>
                      <a:pPr algn="r"/>
                      <a:r>
                        <a:rPr sz="1200" b="0" i="0">
                          <a:solidFill>
                            <a:srgbClr val="1B2433"/>
                          </a:solidFill>
                          <a:latin typeface="Calibri"/>
                        </a:rPr>
                        <a:t>25,1</a:t>
                      </a:r>
                    </a:p>
                  </a:txBody>
                  <a:tcPr marL="91440" marR="91440" marT="36576" marB="36576" anchor="ctr">
                    <a:lnB w="9525" cap="flat" cmpd="sng" algn="ctr">
                      <a:solidFill>
                        <a:srgbClr val="DDD8C9"/>
                      </a:solidFill>
                      <a:prstDash val="solid"/>
                    </a:lnB>
                    <a:solidFill>
                      <a:srgbClr val="ECE6FB"/>
                    </a:solidFill>
                  </a:tcPr>
                </a:tc>
                <a:tc>
                  <a:txBody>
                    <a:bodyPr/>
                    <a:lstStyle/>
                    <a:p>
                      <a:pPr algn="r"/>
                      <a:r>
                        <a:rPr sz="1200" b="0" i="0">
                          <a:solidFill>
                            <a:srgbClr val="1B2433"/>
                          </a:solidFill>
                          <a:latin typeface="Calibri"/>
                        </a:rPr>
                        <a:t>1 600</a:t>
                      </a:r>
                    </a:p>
                  </a:txBody>
                  <a:tcPr marL="91440" marR="91440" marT="36576" marB="36576" anchor="ctr">
                    <a:lnB w="9525" cap="flat" cmpd="sng" algn="ctr">
                      <a:solidFill>
                        <a:srgbClr val="DDD8C9"/>
                      </a:solidFill>
                      <a:prstDash val="solid"/>
                    </a:lnB>
                    <a:solidFill>
                      <a:srgbClr val="ECE6FB"/>
                    </a:solidFill>
                  </a:tcPr>
                </a:tc>
                <a:tc>
                  <a:txBody>
                    <a:bodyPr/>
                    <a:lstStyle/>
                    <a:p>
                      <a:pPr algn="r"/>
                      <a:r>
                        <a:rPr sz="1200" b="0" i="0">
                          <a:solidFill>
                            <a:srgbClr val="1B2433"/>
                          </a:solidFill>
                          <a:latin typeface="Calibri"/>
                        </a:rPr>
                        <a:t>14,1</a:t>
                      </a:r>
                    </a:p>
                  </a:txBody>
                  <a:tcPr marL="91440" marR="91440" marT="36576" marB="36576" anchor="ctr">
                    <a:lnB w="9525" cap="flat" cmpd="sng" algn="ctr">
                      <a:solidFill>
                        <a:srgbClr val="DDD8C9"/>
                      </a:solidFill>
                      <a:prstDash val="solid"/>
                    </a:lnB>
                    <a:solidFill>
                      <a:srgbClr val="ECE6FB"/>
                    </a:solidFill>
                  </a:tcPr>
                </a:tc>
              </a:tr>
              <a:tr h="330200">
                <a:tc>
                  <a:txBody>
                    <a:bodyPr/>
                    <a:lstStyle/>
                    <a:p>
                      <a:pPr algn="l"/>
                    </a:p>
                  </a:txBody>
                  <a:tcPr marL="91440" marR="91440" marT="36576" marB="36576" anchor="ctr">
                    <a:lnB w="9525" cap="flat" cmpd="sng" algn="ctr">
                      <a:solidFill>
                        <a:srgbClr val="DDD8C9"/>
                      </a:solidFill>
                      <a:prstDash val="solid"/>
                    </a:lnB>
                    <a:solidFill>
                      <a:srgbClr val="F8E7DD"/>
                    </a:solidFill>
                  </a:tcPr>
                </a:tc>
                <a:tc>
                  <a:txBody>
                    <a:bodyPr/>
                    <a:lstStyle/>
                    <a:p>
                      <a:pPr algn="l"/>
                      <a:r>
                        <a:rPr sz="1200" b="0" i="0">
                          <a:solidFill>
                            <a:srgbClr val="1B2433"/>
                          </a:solidFill>
                          <a:latin typeface="Calibri"/>
                        </a:rPr>
                        <a:t>Monte Carlo</a:t>
                      </a:r>
                    </a:p>
                  </a:txBody>
                  <a:tcPr marL="91440" marR="91440" marT="36576" marB="36576" anchor="ctr">
                    <a:lnB w="9525" cap="flat" cmpd="sng" algn="ctr">
                      <a:solidFill>
                        <a:srgbClr val="DDD8C9"/>
                      </a:solidFill>
                      <a:prstDash val="solid"/>
                    </a:lnB>
                    <a:solidFill>
                      <a:srgbClr val="F8E7DD"/>
                    </a:solidFill>
                  </a:tcPr>
                </a:tc>
                <a:tc>
                  <a:txBody>
                    <a:bodyPr/>
                    <a:lstStyle/>
                    <a:p>
                      <a:pPr algn="r"/>
                      <a:r>
                        <a:rPr sz="1200" b="1" i="0">
                          <a:solidFill>
                            <a:srgbClr val="1B2433"/>
                          </a:solidFill>
                          <a:latin typeface="Calibri"/>
                        </a:rPr>
                        <a:t>+0,238</a:t>
                      </a:r>
                    </a:p>
                  </a:txBody>
                  <a:tcPr marL="91440" marR="91440" marT="36576" marB="36576" anchor="ctr">
                    <a:lnB w="9525" cap="flat" cmpd="sng" algn="ctr">
                      <a:solidFill>
                        <a:srgbClr val="DDD8C9"/>
                      </a:solidFill>
                      <a:prstDash val="solid"/>
                    </a:lnB>
                    <a:solidFill>
                      <a:srgbClr val="F8E7DD"/>
                    </a:solidFill>
                  </a:tcPr>
                </a:tc>
                <a:tc>
                  <a:txBody>
                    <a:bodyPr/>
                    <a:lstStyle/>
                    <a:p>
                      <a:pPr algn="r"/>
                      <a:r>
                        <a:rPr sz="1200" b="0" i="0">
                          <a:solidFill>
                            <a:srgbClr val="1B2433"/>
                          </a:solidFill>
                          <a:latin typeface="Calibri"/>
                        </a:rPr>
                        <a:t>+26,9</a:t>
                      </a:r>
                    </a:p>
                  </a:txBody>
                  <a:tcPr marL="91440" marR="91440" marT="36576" marB="36576" anchor="ctr">
                    <a:lnB w="9525" cap="flat" cmpd="sng" algn="ctr">
                      <a:solidFill>
                        <a:srgbClr val="DDD8C9"/>
                      </a:solidFill>
                      <a:prstDash val="solid"/>
                    </a:lnB>
                    <a:solidFill>
                      <a:srgbClr val="F8E7DD"/>
                    </a:solidFill>
                  </a:tcPr>
                </a:tc>
                <a:tc>
                  <a:txBody>
                    <a:bodyPr/>
                    <a:lstStyle/>
                    <a:p>
                      <a:pPr algn="r"/>
                      <a:r>
                        <a:rPr sz="1200" b="0" i="0">
                          <a:solidFill>
                            <a:srgbClr val="1B2433"/>
                          </a:solidFill>
                          <a:latin typeface="Calibri"/>
                        </a:rPr>
                        <a:t>90</a:t>
                      </a:r>
                    </a:p>
                  </a:txBody>
                  <a:tcPr marL="91440" marR="91440" marT="36576" marB="36576" anchor="ctr">
                    <a:lnB w="9525" cap="flat" cmpd="sng" algn="ctr">
                      <a:solidFill>
                        <a:srgbClr val="DDD8C9"/>
                      </a:solidFill>
                      <a:prstDash val="solid"/>
                    </a:lnB>
                    <a:solidFill>
                      <a:srgbClr val="F8E7DD"/>
                    </a:solidFill>
                  </a:tcPr>
                </a:tc>
                <a:tc>
                  <a:txBody>
                    <a:bodyPr/>
                    <a:lstStyle/>
                    <a:p>
                      <a:pPr algn="r"/>
                      <a:r>
                        <a:rPr sz="1200" b="0" i="0">
                          <a:solidFill>
                            <a:srgbClr val="1B2433"/>
                          </a:solidFill>
                          <a:latin typeface="Calibri"/>
                        </a:rPr>
                        <a:t>0,75</a:t>
                      </a:r>
                    </a:p>
                  </a:txBody>
                  <a:tcPr marL="91440" marR="91440" marT="36576" marB="36576" anchor="ctr">
                    <a:lnB w="9525" cap="flat" cmpd="sng" algn="ctr">
                      <a:solidFill>
                        <a:srgbClr val="DDD8C9"/>
                      </a:solidFill>
                      <a:prstDash val="solid"/>
                    </a:lnB>
                    <a:solidFill>
                      <a:srgbClr val="F8E7DD"/>
                    </a:solidFill>
                  </a:tcPr>
                </a:tc>
                <a:tc>
                  <a:txBody>
                    <a:bodyPr/>
                    <a:lstStyle/>
                    <a:p>
                      <a:pPr algn="r"/>
                      <a:r>
                        <a:rPr sz="1200" b="0" i="0">
                          <a:solidFill>
                            <a:srgbClr val="1B2433"/>
                          </a:solidFill>
                          <a:latin typeface="Calibri"/>
                        </a:rPr>
                        <a:t>16,4</a:t>
                      </a:r>
                    </a:p>
                  </a:txBody>
                  <a:tcPr marL="91440" marR="91440" marT="36576" marB="36576" anchor="ctr">
                    <a:lnB w="9525" cap="flat" cmpd="sng" algn="ctr">
                      <a:solidFill>
                        <a:srgbClr val="DDD8C9"/>
                      </a:solidFill>
                      <a:prstDash val="solid"/>
                    </a:lnB>
                    <a:solidFill>
                      <a:srgbClr val="F8E7DD"/>
                    </a:solidFill>
                  </a:tcPr>
                </a:tc>
                <a:tc>
                  <a:txBody>
                    <a:bodyPr/>
                    <a:lstStyle/>
                    <a:p>
                      <a:pPr algn="r"/>
                      <a:r>
                        <a:rPr sz="1200" b="0" i="0">
                          <a:solidFill>
                            <a:srgbClr val="1B2433"/>
                          </a:solidFill>
                          <a:latin typeface="Calibri"/>
                        </a:rPr>
                        <a:t>21,5</a:t>
                      </a:r>
                    </a:p>
                  </a:txBody>
                  <a:tcPr marL="91440" marR="91440" marT="36576" marB="36576" anchor="ctr">
                    <a:lnB w="9525" cap="flat" cmpd="sng" algn="ctr">
                      <a:solidFill>
                        <a:srgbClr val="DDD8C9"/>
                      </a:solidFill>
                      <a:prstDash val="solid"/>
                    </a:lnB>
                    <a:solidFill>
                      <a:srgbClr val="F8E7DD"/>
                    </a:solidFill>
                  </a:tcPr>
                </a:tc>
                <a:tc>
                  <a:txBody>
                    <a:bodyPr/>
                    <a:lstStyle/>
                    <a:p>
                      <a:pPr algn="r"/>
                      <a:r>
                        <a:rPr sz="1200" b="0" i="0">
                          <a:solidFill>
                            <a:srgbClr val="1B2433"/>
                          </a:solidFill>
                          <a:latin typeface="Calibri"/>
                        </a:rPr>
                        <a:t>1 600</a:t>
                      </a:r>
                    </a:p>
                  </a:txBody>
                  <a:tcPr marL="91440" marR="91440" marT="36576" marB="36576" anchor="ctr">
                    <a:lnB w="9525" cap="flat" cmpd="sng" algn="ctr">
                      <a:solidFill>
                        <a:srgbClr val="DDD8C9"/>
                      </a:solidFill>
                      <a:prstDash val="solid"/>
                    </a:lnB>
                    <a:solidFill>
                      <a:srgbClr val="F8E7DD"/>
                    </a:solidFill>
                  </a:tcPr>
                </a:tc>
                <a:tc>
                  <a:txBody>
                    <a:bodyPr/>
                    <a:lstStyle/>
                    <a:p>
                      <a:pPr algn="r"/>
                      <a:r>
                        <a:rPr sz="1200" b="0" i="0">
                          <a:solidFill>
                            <a:srgbClr val="1B2433"/>
                          </a:solidFill>
                          <a:latin typeface="Calibri"/>
                        </a:rPr>
                        <a:t>17,3</a:t>
                      </a:r>
                    </a:p>
                  </a:txBody>
                  <a:tcPr marL="91440" marR="91440" marT="36576" marB="36576" anchor="ctr">
                    <a:lnB w="9525" cap="flat" cmpd="sng" algn="ctr">
                      <a:solidFill>
                        <a:srgbClr val="DDD8C9"/>
                      </a:solidFill>
                      <a:prstDash val="solid"/>
                    </a:lnB>
                    <a:solidFill>
                      <a:srgbClr val="F8E7DD"/>
                    </a:solidFill>
                  </a:tcPr>
                </a:tc>
              </a:tr>
              <a:tr h="330200">
                <a:tc>
                  <a:txBody>
                    <a:bodyPr/>
                    <a:lstStyle/>
                    <a:p>
                      <a:pPr algn="l"/>
                    </a:p>
                  </a:txBody>
                  <a:tcPr marL="91440" marR="91440" marT="36576" marB="36576" anchor="ctr">
                    <a:lnB w="9525" cap="flat" cmpd="sng" algn="ctr">
                      <a:solidFill>
                        <a:srgbClr val="DDD8C9"/>
                      </a:solidFill>
                      <a:prstDash val="solid"/>
                    </a:lnB>
                    <a:noFill/>
                  </a:tcPr>
                </a:tc>
                <a:tc>
                  <a:txBody>
                    <a:bodyPr/>
                    <a:lstStyle/>
                    <a:p>
                      <a:pPr algn="l"/>
                      <a:r>
                        <a:rPr sz="1200" b="0" i="0">
                          <a:solidFill>
                            <a:srgbClr val="1B2433"/>
                          </a:solidFill>
                          <a:latin typeface="Calibri"/>
                        </a:rPr>
                        <a:t>Buy &amp; Hold</a:t>
                      </a:r>
                    </a:p>
                  </a:txBody>
                  <a:tcPr marL="91440" marR="91440" marT="36576" marB="36576" anchor="ctr">
                    <a:lnB w="9525" cap="flat" cmpd="sng" algn="ctr">
                      <a:solidFill>
                        <a:srgbClr val="DDD8C9"/>
                      </a:solidFill>
                      <a:prstDash val="solid"/>
                    </a:lnB>
                    <a:noFill/>
                  </a:tcPr>
                </a:tc>
                <a:tc>
                  <a:txBody>
                    <a:bodyPr/>
                    <a:lstStyle/>
                    <a:p>
                      <a:pPr algn="r"/>
                      <a:r>
                        <a:rPr sz="1200" b="0" i="0">
                          <a:solidFill>
                            <a:srgbClr val="1B2433"/>
                          </a:solidFill>
                          <a:latin typeface="Calibri"/>
                        </a:rPr>
                        <a:t>−0,005</a:t>
                      </a:r>
                    </a:p>
                  </a:txBody>
                  <a:tcPr marL="91440" marR="91440" marT="36576" marB="36576" anchor="ctr">
                    <a:lnB w="9525" cap="flat" cmpd="sng" algn="ctr">
                      <a:solidFill>
                        <a:srgbClr val="DDD8C9"/>
                      </a:solidFill>
                      <a:prstDash val="solid"/>
                    </a:lnB>
                    <a:noFill/>
                  </a:tcPr>
                </a:tc>
                <a:tc>
                  <a:txBody>
                    <a:bodyPr/>
                    <a:lstStyle/>
                    <a:p>
                      <a:pPr algn="r"/>
                      <a:r>
                        <a:rPr sz="1200" b="0" i="0">
                          <a:solidFill>
                            <a:srgbClr val="1B2433"/>
                          </a:solidFill>
                          <a:latin typeface="Calibri"/>
                        </a:rPr>
                        <a:t>−0,5</a:t>
                      </a:r>
                    </a:p>
                  </a:txBody>
                  <a:tcPr marL="91440" marR="91440" marT="36576" marB="36576" anchor="ctr">
                    <a:lnB w="9525" cap="flat" cmpd="sng" algn="ctr">
                      <a:solidFill>
                        <a:srgbClr val="DDD8C9"/>
                      </a:solidFill>
                      <a:prstDash val="solid"/>
                    </a:lnB>
                    <a:noFill/>
                  </a:tcPr>
                </a:tc>
                <a:tc>
                  <a:txBody>
                    <a:bodyPr/>
                    <a:lstStyle/>
                    <a:p>
                      <a:pPr algn="r"/>
                      <a:r>
                        <a:rPr sz="1200" b="0" i="0">
                          <a:solidFill>
                            <a:srgbClr val="1B2433"/>
                          </a:solidFill>
                          <a:latin typeface="Calibri"/>
                        </a:rPr>
                        <a:t>—</a:t>
                      </a:r>
                    </a:p>
                  </a:txBody>
                  <a:tcPr marL="91440" marR="91440" marT="36576" marB="36576" anchor="ctr">
                    <a:lnB w="9525" cap="flat" cmpd="sng" algn="ctr">
                      <a:solidFill>
                        <a:srgbClr val="DDD8C9"/>
                      </a:solidFill>
                      <a:prstDash val="solid"/>
                    </a:lnB>
                    <a:noFill/>
                  </a:tcPr>
                </a:tc>
                <a:tc>
                  <a:txBody>
                    <a:bodyPr/>
                    <a:lstStyle/>
                    <a:p>
                      <a:pPr algn="r"/>
                      <a:r>
                        <a:rPr sz="1200" b="0" i="0">
                          <a:solidFill>
                            <a:srgbClr val="1B2433"/>
                          </a:solidFill>
                          <a:latin typeface="Calibri"/>
                        </a:rPr>
                        <a:t>0,15</a:t>
                      </a:r>
                    </a:p>
                  </a:txBody>
                  <a:tcPr marL="91440" marR="91440" marT="36576" marB="36576" anchor="ctr">
                    <a:lnB w="9525" cap="flat" cmpd="sng" algn="ctr">
                      <a:solidFill>
                        <a:srgbClr val="DDD8C9"/>
                      </a:solidFill>
                      <a:prstDash val="solid"/>
                    </a:lnB>
                    <a:noFill/>
                  </a:tcPr>
                </a:tc>
                <a:tc>
                  <a:txBody>
                    <a:bodyPr/>
                    <a:lstStyle/>
                    <a:p>
                      <a:pPr algn="r"/>
                      <a:r>
                        <a:rPr sz="1200" b="0" i="0">
                          <a:solidFill>
                            <a:srgbClr val="1B2433"/>
                          </a:solidFill>
                          <a:latin typeface="Calibri"/>
                        </a:rPr>
                        <a:t>25,7</a:t>
                      </a:r>
                    </a:p>
                  </a:txBody>
                  <a:tcPr marL="91440" marR="91440" marT="36576" marB="36576" anchor="ctr">
                    <a:lnB w="9525" cap="flat" cmpd="sng" algn="ctr">
                      <a:solidFill>
                        <a:srgbClr val="DDD8C9"/>
                      </a:solidFill>
                      <a:prstDash val="solid"/>
                    </a:lnB>
                    <a:noFill/>
                  </a:tcPr>
                </a:tc>
                <a:tc>
                  <a:txBody>
                    <a:bodyPr/>
                    <a:lstStyle/>
                    <a:p>
                      <a:pPr algn="r"/>
                      <a:r>
                        <a:rPr sz="1200" b="0" i="0">
                          <a:solidFill>
                            <a:srgbClr val="1B2433"/>
                          </a:solidFill>
                          <a:latin typeface="Calibri"/>
                        </a:rPr>
                        <a:t>1,0</a:t>
                      </a:r>
                    </a:p>
                  </a:txBody>
                  <a:tcPr marL="91440" marR="91440" marT="36576" marB="36576" anchor="ctr">
                    <a:lnB w="9525" cap="flat" cmpd="sng" algn="ctr">
                      <a:solidFill>
                        <a:srgbClr val="DDD8C9"/>
                      </a:solidFill>
                      <a:prstDash val="solid"/>
                    </a:lnB>
                    <a:noFill/>
                  </a:tcPr>
                </a:tc>
                <a:tc>
                  <a:txBody>
                    <a:bodyPr/>
                    <a:lstStyle/>
                    <a:p>
                      <a:pPr algn="r"/>
                      <a:r>
                        <a:rPr sz="1200" b="0" i="0">
                          <a:solidFill>
                            <a:srgbClr val="1B2433"/>
                          </a:solidFill>
                          <a:latin typeface="Calibri"/>
                        </a:rPr>
                        <a:t>—</a:t>
                      </a:r>
                    </a:p>
                  </a:txBody>
                  <a:tcPr marL="91440" marR="91440" marT="36576" marB="36576" anchor="ctr">
                    <a:lnB w="9525" cap="flat" cmpd="sng" algn="ctr">
                      <a:solidFill>
                        <a:srgbClr val="DDD8C9"/>
                      </a:solidFill>
                      <a:prstDash val="solid"/>
                    </a:lnB>
                    <a:noFill/>
                  </a:tcPr>
                </a:tc>
                <a:tc>
                  <a:txBody>
                    <a:bodyPr/>
                    <a:lstStyle/>
                    <a:p>
                      <a:pPr algn="r"/>
                      <a:r>
                        <a:rPr sz="1200" b="0" i="0">
                          <a:solidFill>
                            <a:srgbClr val="1B2433"/>
                          </a:solidFill>
                          <a:latin typeface="Calibri"/>
                        </a:rPr>
                        <a:t>—</a:t>
                      </a:r>
                    </a:p>
                  </a:txBody>
                  <a:tcPr marL="91440" marR="91440" marT="36576" marB="36576" anchor="ctr">
                    <a:lnB w="9525" cap="flat" cmpd="sng" algn="ctr">
                      <a:solidFill>
                        <a:srgbClr val="DDD8C9"/>
                      </a:solidFill>
                      <a:prstDash val="solid"/>
                    </a:lnB>
                    <a:noFill/>
                  </a:tcPr>
                </a:tc>
              </a:tr>
              <a:tr h="330200">
                <a:tc>
                  <a:txBody>
                    <a:bodyPr/>
                    <a:lstStyle/>
                    <a:p>
                      <a:pPr algn="l"/>
                    </a:p>
                  </a:txBody>
                  <a:tcPr marL="91440" marR="91440" marT="36576" marB="36576" anchor="ctr">
                    <a:lnB w="9525" cap="flat" cmpd="sng" algn="ctr">
                      <a:solidFill>
                        <a:srgbClr val="DDD8C9"/>
                      </a:solidFill>
                      <a:prstDash val="solid"/>
                    </a:lnB>
                    <a:noFill/>
                  </a:tcPr>
                </a:tc>
                <a:tc>
                  <a:txBody>
                    <a:bodyPr/>
                    <a:lstStyle/>
                    <a:p>
                      <a:pPr algn="l"/>
                      <a:r>
                        <a:rPr sz="1200" b="0" i="0">
                          <a:solidFill>
                            <a:srgbClr val="1B2433"/>
                          </a:solidFill>
                          <a:latin typeface="Calibri"/>
                        </a:rPr>
                        <a:t>Aleatorio</a:t>
                      </a:r>
                    </a:p>
                  </a:txBody>
                  <a:tcPr marL="91440" marR="91440" marT="36576" marB="36576" anchor="ctr">
                    <a:lnB w="9525" cap="flat" cmpd="sng" algn="ctr">
                      <a:solidFill>
                        <a:srgbClr val="DDD8C9"/>
                      </a:solidFill>
                      <a:prstDash val="solid"/>
                    </a:lnB>
                    <a:noFill/>
                  </a:tcPr>
                </a:tc>
                <a:tc>
                  <a:txBody>
                    <a:bodyPr/>
                    <a:lstStyle/>
                    <a:p>
                      <a:pPr algn="r"/>
                      <a:r>
                        <a:rPr sz="1200" b="0" i="0">
                          <a:solidFill>
                            <a:srgbClr val="1B2433"/>
                          </a:solidFill>
                          <a:latin typeface="Calibri"/>
                        </a:rPr>
                        <a:t>−0,169</a:t>
                      </a:r>
                    </a:p>
                  </a:txBody>
                  <a:tcPr marL="91440" marR="91440" marT="36576" marB="36576" anchor="ctr">
                    <a:lnB w="9525" cap="flat" cmpd="sng" algn="ctr">
                      <a:solidFill>
                        <a:srgbClr val="DDD8C9"/>
                      </a:solidFill>
                      <a:prstDash val="solid"/>
                    </a:lnB>
                    <a:noFill/>
                  </a:tcPr>
                </a:tc>
                <a:tc>
                  <a:txBody>
                    <a:bodyPr/>
                    <a:lstStyle/>
                    <a:p>
                      <a:pPr algn="r"/>
                      <a:r>
                        <a:rPr sz="1200" b="0" i="0">
                          <a:solidFill>
                            <a:srgbClr val="1B2433"/>
                          </a:solidFill>
                          <a:latin typeface="Calibri"/>
                        </a:rPr>
                        <a:t>−15,6</a:t>
                      </a:r>
                    </a:p>
                  </a:txBody>
                  <a:tcPr marL="91440" marR="91440" marT="36576" marB="36576" anchor="ctr">
                    <a:lnB w="9525" cap="flat" cmpd="sng" algn="ctr">
                      <a:solidFill>
                        <a:srgbClr val="DDD8C9"/>
                      </a:solidFill>
                      <a:prstDash val="solid"/>
                    </a:lnB>
                    <a:noFill/>
                  </a:tcPr>
                </a:tc>
                <a:tc>
                  <a:txBody>
                    <a:bodyPr/>
                    <a:lstStyle/>
                    <a:p>
                      <a:pPr algn="r"/>
                      <a:r>
                        <a:rPr sz="1200" b="0" i="0">
                          <a:solidFill>
                            <a:srgbClr val="1B2433"/>
                          </a:solidFill>
                          <a:latin typeface="Calibri"/>
                        </a:rPr>
                        <a:t>24</a:t>
                      </a:r>
                    </a:p>
                  </a:txBody>
                  <a:tcPr marL="91440" marR="91440" marT="36576" marB="36576" anchor="ctr">
                    <a:lnB w="9525" cap="flat" cmpd="sng" algn="ctr">
                      <a:solidFill>
                        <a:srgbClr val="DDD8C9"/>
                      </a:solidFill>
                      <a:prstDash val="solid"/>
                    </a:lnB>
                    <a:noFill/>
                  </a:tcPr>
                </a:tc>
                <a:tc>
                  <a:txBody>
                    <a:bodyPr/>
                    <a:lstStyle/>
                    <a:p>
                      <a:pPr algn="r"/>
                      <a:r>
                        <a:rPr sz="1200" b="0" i="0">
                          <a:solidFill>
                            <a:srgbClr val="1B2433"/>
                          </a:solidFill>
                          <a:latin typeface="Calibri"/>
                        </a:rPr>
                        <a:t>−0,26</a:t>
                      </a:r>
                    </a:p>
                  </a:txBody>
                  <a:tcPr marL="91440" marR="91440" marT="36576" marB="36576" anchor="ctr">
                    <a:lnB w="9525" cap="flat" cmpd="sng" algn="ctr">
                      <a:solidFill>
                        <a:srgbClr val="DDD8C9"/>
                      </a:solidFill>
                      <a:prstDash val="solid"/>
                    </a:lnB>
                    <a:noFill/>
                  </a:tcPr>
                </a:tc>
                <a:tc>
                  <a:txBody>
                    <a:bodyPr/>
                    <a:lstStyle/>
                    <a:p>
                      <a:pPr algn="r"/>
                      <a:r>
                        <a:rPr sz="1200" b="0" i="0">
                          <a:solidFill>
                            <a:srgbClr val="1B2433"/>
                          </a:solidFill>
                          <a:latin typeface="Calibri"/>
                        </a:rPr>
                        <a:t>31,9</a:t>
                      </a:r>
                    </a:p>
                  </a:txBody>
                  <a:tcPr marL="91440" marR="91440" marT="36576" marB="36576" anchor="ctr">
                    <a:lnB w="9525" cap="flat" cmpd="sng" algn="ctr">
                      <a:solidFill>
                        <a:srgbClr val="DDD8C9"/>
                      </a:solidFill>
                      <a:prstDash val="solid"/>
                    </a:lnB>
                    <a:noFill/>
                  </a:tcPr>
                </a:tc>
                <a:tc>
                  <a:txBody>
                    <a:bodyPr/>
                    <a:lstStyle/>
                    <a:p>
                      <a:pPr algn="r"/>
                      <a:r>
                        <a:rPr sz="1200" b="0" i="0">
                          <a:solidFill>
                            <a:srgbClr val="1B2433"/>
                          </a:solidFill>
                          <a:latin typeface="Calibri"/>
                        </a:rPr>
                        <a:t>164,3</a:t>
                      </a:r>
                    </a:p>
                  </a:txBody>
                  <a:tcPr marL="91440" marR="91440" marT="36576" marB="36576" anchor="ctr">
                    <a:lnB w="9525" cap="flat" cmpd="sng" algn="ctr">
                      <a:solidFill>
                        <a:srgbClr val="DDD8C9"/>
                      </a:solidFill>
                      <a:prstDash val="solid"/>
                    </a:lnB>
                    <a:noFill/>
                  </a:tcPr>
                </a:tc>
                <a:tc>
                  <a:txBody>
                    <a:bodyPr/>
                    <a:lstStyle/>
                    <a:p>
                      <a:pPr algn="r"/>
                      <a:r>
                        <a:rPr sz="1200" b="0" i="0">
                          <a:solidFill>
                            <a:srgbClr val="1B2433"/>
                          </a:solidFill>
                          <a:latin typeface="Calibri"/>
                        </a:rPr>
                        <a:t>—</a:t>
                      </a:r>
                    </a:p>
                  </a:txBody>
                  <a:tcPr marL="91440" marR="91440" marT="36576" marB="36576" anchor="ctr">
                    <a:lnB w="9525" cap="flat" cmpd="sng" algn="ctr">
                      <a:solidFill>
                        <a:srgbClr val="DDD8C9"/>
                      </a:solidFill>
                      <a:prstDash val="solid"/>
                    </a:lnB>
                    <a:noFill/>
                  </a:tcPr>
                </a:tc>
                <a:tc>
                  <a:txBody>
                    <a:bodyPr/>
                    <a:lstStyle/>
                    <a:p>
                      <a:pPr algn="r"/>
                      <a:r>
                        <a:rPr sz="1200" b="0" i="0">
                          <a:solidFill>
                            <a:srgbClr val="1B2433"/>
                          </a:solidFill>
                          <a:latin typeface="Calibri"/>
                        </a:rPr>
                        <a:t>—</a:t>
                      </a:r>
                    </a:p>
                  </a:txBody>
                  <a:tcPr marL="91440" marR="91440" marT="36576" marB="36576" anchor="ctr">
                    <a:lnB w="9525" cap="flat" cmpd="sng" algn="ctr">
                      <a:solidFill>
                        <a:srgbClr val="DDD8C9"/>
                      </a:solidFill>
                      <a:prstDash val="solid"/>
                    </a:lnB>
                    <a:noFill/>
                  </a:tcPr>
                </a:tc>
              </a:tr>
              <a:tr h="330200">
                <a:tc>
                  <a:txBody>
                    <a:bodyPr/>
                    <a:lstStyle/>
                    <a:p>
                      <a:pPr algn="l"/>
                      <a:r>
                        <a:rPr sz="1200" b="1" i="0">
                          <a:solidFill>
                            <a:srgbClr val="1B2433"/>
                          </a:solidFill>
                          <a:latin typeface="Calibri"/>
                        </a:rPr>
                        <a:t>Regímenes</a:t>
                      </a:r>
                    </a:p>
                  </a:txBody>
                  <a:tcPr marL="91440" marR="91440" marT="36576" marB="36576" anchor="ctr">
                    <a:lnB w="9525" cap="flat" cmpd="sng" algn="ctr">
                      <a:solidFill>
                        <a:srgbClr val="DDD8C9"/>
                      </a:solidFill>
                      <a:prstDash val="solid"/>
                    </a:lnB>
                    <a:solidFill>
                      <a:srgbClr val="E3EEFA"/>
                    </a:solidFill>
                  </a:tcPr>
                </a:tc>
                <a:tc>
                  <a:txBody>
                    <a:bodyPr/>
                    <a:lstStyle/>
                    <a:p>
                      <a:pPr algn="l"/>
                      <a:r>
                        <a:rPr sz="1200" b="0" i="0">
                          <a:solidFill>
                            <a:srgbClr val="1B2433"/>
                          </a:solidFill>
                          <a:latin typeface="Calibri"/>
                        </a:rPr>
                        <a:t>Q-Learning</a:t>
                      </a:r>
                    </a:p>
                  </a:txBody>
                  <a:tcPr marL="91440" marR="91440" marT="36576" marB="36576" anchor="ctr">
                    <a:lnB w="9525" cap="flat" cmpd="sng" algn="ctr">
                      <a:solidFill>
                        <a:srgbClr val="DDD8C9"/>
                      </a:solidFill>
                      <a:prstDash val="solid"/>
                    </a:lnB>
                    <a:solidFill>
                      <a:srgbClr val="E3EEFA"/>
                    </a:solidFill>
                  </a:tcPr>
                </a:tc>
                <a:tc>
                  <a:txBody>
                    <a:bodyPr/>
                    <a:lstStyle/>
                    <a:p>
                      <a:pPr algn="r"/>
                      <a:r>
                        <a:rPr sz="1200" b="1" i="0">
                          <a:solidFill>
                            <a:srgbClr val="1B2433"/>
                          </a:solidFill>
                          <a:latin typeface="Calibri"/>
                        </a:rPr>
                        <a:t>+0,040</a:t>
                      </a:r>
                    </a:p>
                  </a:txBody>
                  <a:tcPr marL="91440" marR="91440" marT="36576" marB="36576" anchor="ctr">
                    <a:lnB w="9525" cap="flat" cmpd="sng" algn="ctr">
                      <a:solidFill>
                        <a:srgbClr val="DDD8C9"/>
                      </a:solidFill>
                      <a:prstDash val="solid"/>
                    </a:lnB>
                    <a:solidFill>
                      <a:srgbClr val="E3EEFA"/>
                    </a:solidFill>
                  </a:tcPr>
                </a:tc>
                <a:tc>
                  <a:txBody>
                    <a:bodyPr/>
                    <a:lstStyle/>
                    <a:p>
                      <a:pPr algn="r"/>
                      <a:r>
                        <a:rPr sz="1200" b="0" i="0">
                          <a:solidFill>
                            <a:srgbClr val="1B2433"/>
                          </a:solidFill>
                          <a:latin typeface="Calibri"/>
                        </a:rPr>
                        <a:t>+4,0</a:t>
                      </a:r>
                    </a:p>
                  </a:txBody>
                  <a:tcPr marL="91440" marR="91440" marT="36576" marB="36576" anchor="ctr">
                    <a:lnB w="9525" cap="flat" cmpd="sng" algn="ctr">
                      <a:solidFill>
                        <a:srgbClr val="DDD8C9"/>
                      </a:solidFill>
                      <a:prstDash val="solid"/>
                    </a:lnB>
                    <a:solidFill>
                      <a:srgbClr val="E3EEFA"/>
                    </a:solidFill>
                  </a:tcPr>
                </a:tc>
                <a:tc>
                  <a:txBody>
                    <a:bodyPr/>
                    <a:lstStyle/>
                    <a:p>
                      <a:pPr algn="r"/>
                      <a:r>
                        <a:rPr sz="1200" b="0" i="0">
                          <a:solidFill>
                            <a:srgbClr val="1B2433"/>
                          </a:solidFill>
                          <a:latin typeface="Calibri"/>
                        </a:rPr>
                        <a:t>69</a:t>
                      </a:r>
                    </a:p>
                  </a:txBody>
                  <a:tcPr marL="91440" marR="91440" marT="36576" marB="36576" anchor="ctr">
                    <a:lnB w="9525" cap="flat" cmpd="sng" algn="ctr">
                      <a:solidFill>
                        <a:srgbClr val="DDD8C9"/>
                      </a:solidFill>
                      <a:prstDash val="solid"/>
                    </a:lnB>
                    <a:solidFill>
                      <a:srgbClr val="E3EEFA"/>
                    </a:solidFill>
                  </a:tcPr>
                </a:tc>
                <a:tc>
                  <a:txBody>
                    <a:bodyPr/>
                    <a:lstStyle/>
                    <a:p>
                      <a:pPr algn="r"/>
                      <a:r>
                        <a:rPr sz="1200" b="0" i="0">
                          <a:solidFill>
                            <a:srgbClr val="1B2433"/>
                          </a:solidFill>
                          <a:latin typeface="Calibri"/>
                        </a:rPr>
                        <a:t>0,22</a:t>
                      </a:r>
                    </a:p>
                  </a:txBody>
                  <a:tcPr marL="91440" marR="91440" marT="36576" marB="36576" anchor="ctr">
                    <a:lnB w="9525" cap="flat" cmpd="sng" algn="ctr">
                      <a:solidFill>
                        <a:srgbClr val="DDD8C9"/>
                      </a:solidFill>
                      <a:prstDash val="solid"/>
                    </a:lnB>
                    <a:solidFill>
                      <a:srgbClr val="E3EEFA"/>
                    </a:solidFill>
                  </a:tcPr>
                </a:tc>
                <a:tc>
                  <a:txBody>
                    <a:bodyPr/>
                    <a:lstStyle/>
                    <a:p>
                      <a:pPr algn="r"/>
                      <a:r>
                        <a:rPr sz="1200" b="0" i="0">
                          <a:solidFill>
                            <a:srgbClr val="1B2433"/>
                          </a:solidFill>
                          <a:latin typeface="Calibri"/>
                        </a:rPr>
                        <a:t>22,9</a:t>
                      </a:r>
                    </a:p>
                  </a:txBody>
                  <a:tcPr marL="91440" marR="91440" marT="36576" marB="36576" anchor="ctr">
                    <a:lnB w="9525" cap="flat" cmpd="sng" algn="ctr">
                      <a:solidFill>
                        <a:srgbClr val="DDD8C9"/>
                      </a:solidFill>
                      <a:prstDash val="solid"/>
                    </a:lnB>
                    <a:solidFill>
                      <a:srgbClr val="E3EEFA"/>
                    </a:solidFill>
                  </a:tcPr>
                </a:tc>
                <a:tc>
                  <a:txBody>
                    <a:bodyPr/>
                    <a:lstStyle/>
                    <a:p>
                      <a:pPr algn="r"/>
                      <a:r>
                        <a:rPr sz="1200" b="0" i="0">
                          <a:solidFill>
                            <a:srgbClr val="1B2433"/>
                          </a:solidFill>
                          <a:latin typeface="Calibri"/>
                        </a:rPr>
                        <a:t>45,6</a:t>
                      </a:r>
                    </a:p>
                  </a:txBody>
                  <a:tcPr marL="91440" marR="91440" marT="36576" marB="36576" anchor="ctr">
                    <a:lnB w="9525" cap="flat" cmpd="sng" algn="ctr">
                      <a:solidFill>
                        <a:srgbClr val="DDD8C9"/>
                      </a:solidFill>
                      <a:prstDash val="solid"/>
                    </a:lnB>
                    <a:solidFill>
                      <a:srgbClr val="E3EEFA"/>
                    </a:solidFill>
                  </a:tcPr>
                </a:tc>
                <a:tc>
                  <a:txBody>
                    <a:bodyPr/>
                    <a:lstStyle/>
                    <a:p>
                      <a:pPr algn="r"/>
                      <a:r>
                        <a:rPr sz="1200" b="0" i="0">
                          <a:solidFill>
                            <a:srgbClr val="1B2433"/>
                          </a:solidFill>
                          <a:latin typeface="Calibri"/>
                        </a:rPr>
                        <a:t>2 000</a:t>
                      </a:r>
                    </a:p>
                  </a:txBody>
                  <a:tcPr marL="91440" marR="91440" marT="36576" marB="36576" anchor="ctr">
                    <a:lnB w="9525" cap="flat" cmpd="sng" algn="ctr">
                      <a:solidFill>
                        <a:srgbClr val="DDD8C9"/>
                      </a:solidFill>
                      <a:prstDash val="solid"/>
                    </a:lnB>
                    <a:solidFill>
                      <a:srgbClr val="E3EEFA"/>
                    </a:solidFill>
                  </a:tcPr>
                </a:tc>
                <a:tc>
                  <a:txBody>
                    <a:bodyPr/>
                    <a:lstStyle/>
                    <a:p>
                      <a:pPr algn="r"/>
                      <a:r>
                        <a:rPr sz="1200" b="0" i="0">
                          <a:solidFill>
                            <a:srgbClr val="1B2433"/>
                          </a:solidFill>
                          <a:latin typeface="Calibri"/>
                        </a:rPr>
                        <a:t>16,6</a:t>
                      </a:r>
                    </a:p>
                  </a:txBody>
                  <a:tcPr marL="91440" marR="91440" marT="36576" marB="36576" anchor="ctr">
                    <a:lnB w="9525" cap="flat" cmpd="sng" algn="ctr">
                      <a:solidFill>
                        <a:srgbClr val="DDD8C9"/>
                      </a:solidFill>
                      <a:prstDash val="solid"/>
                    </a:lnB>
                    <a:solidFill>
                      <a:srgbClr val="E3EEFA"/>
                    </a:solidFill>
                  </a:tcPr>
                </a:tc>
              </a:tr>
              <a:tr h="330200">
                <a:tc>
                  <a:txBody>
                    <a:bodyPr/>
                    <a:lstStyle/>
                    <a:p>
                      <a:pPr algn="l"/>
                    </a:p>
                  </a:txBody>
                  <a:tcPr marL="91440" marR="91440" marT="36576" marB="36576" anchor="ctr">
                    <a:lnB w="9525" cap="flat" cmpd="sng" algn="ctr">
                      <a:solidFill>
                        <a:srgbClr val="DDD8C9"/>
                      </a:solidFill>
                      <a:prstDash val="solid"/>
                    </a:lnB>
                    <a:solidFill>
                      <a:srgbClr val="ECE6FB"/>
                    </a:solidFill>
                  </a:tcPr>
                </a:tc>
                <a:tc>
                  <a:txBody>
                    <a:bodyPr/>
                    <a:lstStyle/>
                    <a:p>
                      <a:pPr algn="l"/>
                      <a:r>
                        <a:rPr sz="1200" b="0" i="0">
                          <a:solidFill>
                            <a:srgbClr val="1B2433"/>
                          </a:solidFill>
                          <a:latin typeface="Calibri"/>
                        </a:rPr>
                        <a:t>SARSA</a:t>
                      </a:r>
                    </a:p>
                  </a:txBody>
                  <a:tcPr marL="91440" marR="91440" marT="36576" marB="36576" anchor="ctr">
                    <a:lnB w="9525" cap="flat" cmpd="sng" algn="ctr">
                      <a:solidFill>
                        <a:srgbClr val="DDD8C9"/>
                      </a:solidFill>
                      <a:prstDash val="solid"/>
                    </a:lnB>
                    <a:solidFill>
                      <a:srgbClr val="ECE6FB"/>
                    </a:solidFill>
                  </a:tcPr>
                </a:tc>
                <a:tc>
                  <a:txBody>
                    <a:bodyPr/>
                    <a:lstStyle/>
                    <a:p>
                      <a:pPr algn="r"/>
                      <a:r>
                        <a:rPr sz="1200" b="0" i="0">
                          <a:solidFill>
                            <a:srgbClr val="1B2433"/>
                          </a:solidFill>
                          <a:latin typeface="Calibri"/>
                        </a:rPr>
                        <a:t>+0,000</a:t>
                      </a:r>
                    </a:p>
                  </a:txBody>
                  <a:tcPr marL="91440" marR="91440" marT="36576" marB="36576" anchor="ctr">
                    <a:lnB w="9525" cap="flat" cmpd="sng" algn="ctr">
                      <a:solidFill>
                        <a:srgbClr val="DDD8C9"/>
                      </a:solidFill>
                      <a:prstDash val="solid"/>
                    </a:lnB>
                    <a:solidFill>
                      <a:srgbClr val="ECE6FB"/>
                    </a:solidFill>
                  </a:tcPr>
                </a:tc>
                <a:tc>
                  <a:txBody>
                    <a:bodyPr/>
                    <a:lstStyle/>
                    <a:p>
                      <a:pPr algn="r"/>
                      <a:r>
                        <a:rPr sz="1200" b="0" i="0">
                          <a:solidFill>
                            <a:srgbClr val="1B2433"/>
                          </a:solidFill>
                          <a:latin typeface="Calibri"/>
                        </a:rPr>
                        <a:t>+0,0</a:t>
                      </a:r>
                    </a:p>
                  </a:txBody>
                  <a:tcPr marL="91440" marR="91440" marT="36576" marB="36576" anchor="ctr">
                    <a:lnB w="9525" cap="flat" cmpd="sng" algn="ctr">
                      <a:solidFill>
                        <a:srgbClr val="DDD8C9"/>
                      </a:solidFill>
                      <a:prstDash val="solid"/>
                    </a:lnB>
                    <a:solidFill>
                      <a:srgbClr val="ECE6FB"/>
                    </a:solidFill>
                  </a:tcPr>
                </a:tc>
                <a:tc>
                  <a:txBody>
                    <a:bodyPr/>
                    <a:lstStyle/>
                    <a:p>
                      <a:pPr algn="r"/>
                      <a:r>
                        <a:rPr sz="1200" b="0" i="0">
                          <a:solidFill>
                            <a:srgbClr val="1B2433"/>
                          </a:solidFill>
                          <a:latin typeface="Calibri"/>
                        </a:rPr>
                        <a:t>58</a:t>
                      </a:r>
                    </a:p>
                  </a:txBody>
                  <a:tcPr marL="91440" marR="91440" marT="36576" marB="36576" anchor="ctr">
                    <a:lnB w="9525" cap="flat" cmpd="sng" algn="ctr">
                      <a:solidFill>
                        <a:srgbClr val="DDD8C9"/>
                      </a:solidFill>
                      <a:prstDash val="solid"/>
                    </a:lnB>
                    <a:solidFill>
                      <a:srgbClr val="ECE6FB"/>
                    </a:solidFill>
                  </a:tcPr>
                </a:tc>
                <a:tc>
                  <a:txBody>
                    <a:bodyPr/>
                    <a:lstStyle/>
                    <a:p>
                      <a:pPr algn="r"/>
                      <a:r>
                        <a:rPr sz="1200" b="0" i="0">
                          <a:solidFill>
                            <a:srgbClr val="1B2433"/>
                          </a:solidFill>
                          <a:latin typeface="Calibri"/>
                        </a:rPr>
                        <a:t>0,00</a:t>
                      </a:r>
                    </a:p>
                  </a:txBody>
                  <a:tcPr marL="91440" marR="91440" marT="36576" marB="36576" anchor="ctr">
                    <a:lnB w="9525" cap="flat" cmpd="sng" algn="ctr">
                      <a:solidFill>
                        <a:srgbClr val="DDD8C9"/>
                      </a:solidFill>
                      <a:prstDash val="solid"/>
                    </a:lnB>
                    <a:solidFill>
                      <a:srgbClr val="ECE6FB"/>
                    </a:solidFill>
                  </a:tcPr>
                </a:tc>
                <a:tc>
                  <a:txBody>
                    <a:bodyPr/>
                    <a:lstStyle/>
                    <a:p>
                      <a:pPr algn="r"/>
                      <a:r>
                        <a:rPr sz="1200" b="0" i="0">
                          <a:solidFill>
                            <a:srgbClr val="1B2433"/>
                          </a:solidFill>
                          <a:latin typeface="Calibri"/>
                        </a:rPr>
                        <a:t>0,0</a:t>
                      </a:r>
                    </a:p>
                  </a:txBody>
                  <a:tcPr marL="91440" marR="91440" marT="36576" marB="36576" anchor="ctr">
                    <a:lnB w="9525" cap="flat" cmpd="sng" algn="ctr">
                      <a:solidFill>
                        <a:srgbClr val="DDD8C9"/>
                      </a:solidFill>
                      <a:prstDash val="solid"/>
                    </a:lnB>
                    <a:solidFill>
                      <a:srgbClr val="ECE6FB"/>
                    </a:solidFill>
                  </a:tcPr>
                </a:tc>
                <a:tc>
                  <a:txBody>
                    <a:bodyPr/>
                    <a:lstStyle/>
                    <a:p>
                      <a:pPr algn="r"/>
                      <a:r>
                        <a:rPr sz="1200" b="0" i="0">
                          <a:solidFill>
                            <a:srgbClr val="1B2433"/>
                          </a:solidFill>
                          <a:latin typeface="Calibri"/>
                        </a:rPr>
                        <a:t>0,0</a:t>
                      </a:r>
                    </a:p>
                  </a:txBody>
                  <a:tcPr marL="91440" marR="91440" marT="36576" marB="36576" anchor="ctr">
                    <a:lnB w="9525" cap="flat" cmpd="sng" algn="ctr">
                      <a:solidFill>
                        <a:srgbClr val="DDD8C9"/>
                      </a:solidFill>
                      <a:prstDash val="solid"/>
                    </a:lnB>
                    <a:solidFill>
                      <a:srgbClr val="ECE6FB"/>
                    </a:solidFill>
                  </a:tcPr>
                </a:tc>
                <a:tc>
                  <a:txBody>
                    <a:bodyPr/>
                    <a:lstStyle/>
                    <a:p>
                      <a:pPr algn="r"/>
                      <a:r>
                        <a:rPr sz="1200" b="0" i="0">
                          <a:solidFill>
                            <a:srgbClr val="1B2433"/>
                          </a:solidFill>
                          <a:latin typeface="Calibri"/>
                        </a:rPr>
                        <a:t>600</a:t>
                      </a:r>
                    </a:p>
                  </a:txBody>
                  <a:tcPr marL="91440" marR="91440" marT="36576" marB="36576" anchor="ctr">
                    <a:lnB w="9525" cap="flat" cmpd="sng" algn="ctr">
                      <a:solidFill>
                        <a:srgbClr val="DDD8C9"/>
                      </a:solidFill>
                      <a:prstDash val="solid"/>
                    </a:lnB>
                    <a:solidFill>
                      <a:srgbClr val="ECE6FB"/>
                    </a:solidFill>
                  </a:tcPr>
                </a:tc>
                <a:tc>
                  <a:txBody>
                    <a:bodyPr/>
                    <a:lstStyle/>
                    <a:p>
                      <a:pPr algn="r"/>
                      <a:r>
                        <a:rPr sz="1200" b="0" i="0">
                          <a:solidFill>
                            <a:srgbClr val="1B2433"/>
                          </a:solidFill>
                          <a:latin typeface="Calibri"/>
                        </a:rPr>
                        <a:t>5,5</a:t>
                      </a:r>
                    </a:p>
                  </a:txBody>
                  <a:tcPr marL="91440" marR="91440" marT="36576" marB="36576" anchor="ctr">
                    <a:lnB w="9525" cap="flat" cmpd="sng" algn="ctr">
                      <a:solidFill>
                        <a:srgbClr val="DDD8C9"/>
                      </a:solidFill>
                      <a:prstDash val="solid"/>
                    </a:lnB>
                    <a:solidFill>
                      <a:srgbClr val="ECE6FB"/>
                    </a:solidFill>
                  </a:tcPr>
                </a:tc>
              </a:tr>
              <a:tr h="330200">
                <a:tc>
                  <a:txBody>
                    <a:bodyPr/>
                    <a:lstStyle/>
                    <a:p>
                      <a:pPr algn="l"/>
                    </a:p>
                  </a:txBody>
                  <a:tcPr marL="91440" marR="91440" marT="36576" marB="36576" anchor="ctr">
                    <a:lnB w="9525" cap="flat" cmpd="sng" algn="ctr">
                      <a:solidFill>
                        <a:srgbClr val="DDD8C9"/>
                      </a:solidFill>
                      <a:prstDash val="solid"/>
                    </a:lnB>
                    <a:solidFill>
                      <a:srgbClr val="F8E7DD"/>
                    </a:solidFill>
                  </a:tcPr>
                </a:tc>
                <a:tc>
                  <a:txBody>
                    <a:bodyPr/>
                    <a:lstStyle/>
                    <a:p>
                      <a:pPr algn="l"/>
                      <a:r>
                        <a:rPr sz="1200" b="0" i="0">
                          <a:solidFill>
                            <a:srgbClr val="1B2433"/>
                          </a:solidFill>
                          <a:latin typeface="Calibri"/>
                        </a:rPr>
                        <a:t>Monte Carlo</a:t>
                      </a:r>
                    </a:p>
                  </a:txBody>
                  <a:tcPr marL="91440" marR="91440" marT="36576" marB="36576" anchor="ctr">
                    <a:lnB w="9525" cap="flat" cmpd="sng" algn="ctr">
                      <a:solidFill>
                        <a:srgbClr val="DDD8C9"/>
                      </a:solidFill>
                      <a:prstDash val="solid"/>
                    </a:lnB>
                    <a:solidFill>
                      <a:srgbClr val="F8E7DD"/>
                    </a:solidFill>
                  </a:tcPr>
                </a:tc>
                <a:tc>
                  <a:txBody>
                    <a:bodyPr/>
                    <a:lstStyle/>
                    <a:p>
                      <a:pPr algn="r"/>
                      <a:r>
                        <a:rPr sz="1200" b="0" i="0">
                          <a:solidFill>
                            <a:srgbClr val="1B2433"/>
                          </a:solidFill>
                          <a:latin typeface="Calibri"/>
                        </a:rPr>
                        <a:t>+0,031</a:t>
                      </a:r>
                    </a:p>
                  </a:txBody>
                  <a:tcPr marL="91440" marR="91440" marT="36576" marB="36576" anchor="ctr">
                    <a:lnB w="9525" cap="flat" cmpd="sng" algn="ctr">
                      <a:solidFill>
                        <a:srgbClr val="DDD8C9"/>
                      </a:solidFill>
                      <a:prstDash val="solid"/>
                    </a:lnB>
                    <a:solidFill>
                      <a:srgbClr val="F8E7DD"/>
                    </a:solidFill>
                  </a:tcPr>
                </a:tc>
                <a:tc>
                  <a:txBody>
                    <a:bodyPr/>
                    <a:lstStyle/>
                    <a:p>
                      <a:pPr algn="r"/>
                      <a:r>
                        <a:rPr sz="1200" b="0" i="0">
                          <a:solidFill>
                            <a:srgbClr val="1B2433"/>
                          </a:solidFill>
                          <a:latin typeface="Calibri"/>
                        </a:rPr>
                        <a:t>+3,1</a:t>
                      </a:r>
                    </a:p>
                  </a:txBody>
                  <a:tcPr marL="91440" marR="91440" marT="36576" marB="36576" anchor="ctr">
                    <a:lnB w="9525" cap="flat" cmpd="sng" algn="ctr">
                      <a:solidFill>
                        <a:srgbClr val="DDD8C9"/>
                      </a:solidFill>
                      <a:prstDash val="solid"/>
                    </a:lnB>
                    <a:solidFill>
                      <a:srgbClr val="F8E7DD"/>
                    </a:solidFill>
                  </a:tcPr>
                </a:tc>
                <a:tc>
                  <a:txBody>
                    <a:bodyPr/>
                    <a:lstStyle/>
                    <a:p>
                      <a:pPr algn="r"/>
                      <a:r>
                        <a:rPr sz="1200" b="0" i="0">
                          <a:solidFill>
                            <a:srgbClr val="1B2433"/>
                          </a:solidFill>
                          <a:latin typeface="Calibri"/>
                        </a:rPr>
                        <a:t>67</a:t>
                      </a:r>
                    </a:p>
                  </a:txBody>
                  <a:tcPr marL="91440" marR="91440" marT="36576" marB="36576" anchor="ctr">
                    <a:lnB w="9525" cap="flat" cmpd="sng" algn="ctr">
                      <a:solidFill>
                        <a:srgbClr val="DDD8C9"/>
                      </a:solidFill>
                      <a:prstDash val="solid"/>
                    </a:lnB>
                    <a:solidFill>
                      <a:srgbClr val="F8E7DD"/>
                    </a:solidFill>
                  </a:tcPr>
                </a:tc>
                <a:tc>
                  <a:txBody>
                    <a:bodyPr/>
                    <a:lstStyle/>
                    <a:p>
                      <a:pPr algn="r"/>
                      <a:r>
                        <a:rPr sz="1200" b="0" i="0">
                          <a:solidFill>
                            <a:srgbClr val="1B2433"/>
                          </a:solidFill>
                          <a:latin typeface="Calibri"/>
                        </a:rPr>
                        <a:t>0,19</a:t>
                      </a:r>
                    </a:p>
                  </a:txBody>
                  <a:tcPr marL="91440" marR="91440" marT="36576" marB="36576" anchor="ctr">
                    <a:lnB w="9525" cap="flat" cmpd="sng" algn="ctr">
                      <a:solidFill>
                        <a:srgbClr val="DDD8C9"/>
                      </a:solidFill>
                      <a:prstDash val="solid"/>
                    </a:lnB>
                    <a:solidFill>
                      <a:srgbClr val="F8E7DD"/>
                    </a:solidFill>
                  </a:tcPr>
                </a:tc>
                <a:tc>
                  <a:txBody>
                    <a:bodyPr/>
                    <a:lstStyle/>
                    <a:p>
                      <a:pPr algn="r"/>
                      <a:r>
                        <a:rPr sz="1200" b="0" i="0">
                          <a:solidFill>
                            <a:srgbClr val="1B2433"/>
                          </a:solidFill>
                          <a:latin typeface="Calibri"/>
                        </a:rPr>
                        <a:t>25,1</a:t>
                      </a:r>
                    </a:p>
                  </a:txBody>
                  <a:tcPr marL="91440" marR="91440" marT="36576" marB="36576" anchor="ctr">
                    <a:lnB w="9525" cap="flat" cmpd="sng" algn="ctr">
                      <a:solidFill>
                        <a:srgbClr val="DDD8C9"/>
                      </a:solidFill>
                      <a:prstDash val="solid"/>
                    </a:lnB>
                    <a:solidFill>
                      <a:srgbClr val="F8E7DD"/>
                    </a:solidFill>
                  </a:tcPr>
                </a:tc>
                <a:tc>
                  <a:txBody>
                    <a:bodyPr/>
                    <a:lstStyle/>
                    <a:p>
                      <a:pPr algn="r"/>
                      <a:r>
                        <a:rPr sz="1200" b="0" i="0">
                          <a:solidFill>
                            <a:srgbClr val="1B2433"/>
                          </a:solidFill>
                          <a:latin typeface="Calibri"/>
                        </a:rPr>
                        <a:t>38,6</a:t>
                      </a:r>
                    </a:p>
                  </a:txBody>
                  <a:tcPr marL="91440" marR="91440" marT="36576" marB="36576" anchor="ctr">
                    <a:lnB w="9525" cap="flat" cmpd="sng" algn="ctr">
                      <a:solidFill>
                        <a:srgbClr val="DDD8C9"/>
                      </a:solidFill>
                      <a:prstDash val="solid"/>
                    </a:lnB>
                    <a:solidFill>
                      <a:srgbClr val="F8E7DD"/>
                    </a:solidFill>
                  </a:tcPr>
                </a:tc>
                <a:tc>
                  <a:txBody>
                    <a:bodyPr/>
                    <a:lstStyle/>
                    <a:p>
                      <a:pPr algn="r"/>
                      <a:r>
                        <a:rPr sz="1200" b="0" i="0">
                          <a:solidFill>
                            <a:srgbClr val="1B2433"/>
                          </a:solidFill>
                          <a:latin typeface="Calibri"/>
                        </a:rPr>
                        <a:t>1 300</a:t>
                      </a:r>
                    </a:p>
                  </a:txBody>
                  <a:tcPr marL="91440" marR="91440" marT="36576" marB="36576" anchor="ctr">
                    <a:lnB w="9525" cap="flat" cmpd="sng" algn="ctr">
                      <a:solidFill>
                        <a:srgbClr val="DDD8C9"/>
                      </a:solidFill>
                      <a:prstDash val="solid"/>
                    </a:lnB>
                    <a:solidFill>
                      <a:srgbClr val="F8E7DD"/>
                    </a:solidFill>
                  </a:tcPr>
                </a:tc>
                <a:tc>
                  <a:txBody>
                    <a:bodyPr/>
                    <a:lstStyle/>
                    <a:p>
                      <a:pPr algn="r"/>
                      <a:r>
                        <a:rPr sz="1200" b="0" i="0">
                          <a:solidFill>
                            <a:srgbClr val="1B2433"/>
                          </a:solidFill>
                          <a:latin typeface="Calibri"/>
                        </a:rPr>
                        <a:t>11,5</a:t>
                      </a:r>
                    </a:p>
                  </a:txBody>
                  <a:tcPr marL="91440" marR="91440" marT="36576" marB="36576" anchor="ctr">
                    <a:lnB w="9525" cap="flat" cmpd="sng" algn="ctr">
                      <a:solidFill>
                        <a:srgbClr val="DDD8C9"/>
                      </a:solidFill>
                      <a:prstDash val="solid"/>
                    </a:lnB>
                    <a:solidFill>
                      <a:srgbClr val="F8E7DD"/>
                    </a:solidFill>
                  </a:tcPr>
                </a:tc>
              </a:tr>
              <a:tr h="330200">
                <a:tc>
                  <a:txBody>
                    <a:bodyPr/>
                    <a:lstStyle/>
                    <a:p>
                      <a:pPr algn="l"/>
                    </a:p>
                  </a:txBody>
                  <a:tcPr marL="91440" marR="91440" marT="36576" marB="36576" anchor="ctr">
                    <a:lnB w="9525" cap="flat" cmpd="sng" algn="ctr">
                      <a:solidFill>
                        <a:srgbClr val="DDD8C9"/>
                      </a:solidFill>
                      <a:prstDash val="solid"/>
                    </a:lnB>
                    <a:noFill/>
                  </a:tcPr>
                </a:tc>
                <a:tc>
                  <a:txBody>
                    <a:bodyPr/>
                    <a:lstStyle/>
                    <a:p>
                      <a:pPr algn="l"/>
                      <a:r>
                        <a:rPr sz="1200" b="0" i="0">
                          <a:solidFill>
                            <a:srgbClr val="1B2433"/>
                          </a:solidFill>
                          <a:latin typeface="Calibri"/>
                        </a:rPr>
                        <a:t>Buy &amp; Hold</a:t>
                      </a:r>
                    </a:p>
                  </a:txBody>
                  <a:tcPr marL="91440" marR="91440" marT="36576" marB="36576" anchor="ctr">
                    <a:lnB w="9525" cap="flat" cmpd="sng" algn="ctr">
                      <a:solidFill>
                        <a:srgbClr val="DDD8C9"/>
                      </a:solidFill>
                      <a:prstDash val="solid"/>
                    </a:lnB>
                    <a:noFill/>
                  </a:tcPr>
                </a:tc>
                <a:tc>
                  <a:txBody>
                    <a:bodyPr/>
                    <a:lstStyle/>
                    <a:p>
                      <a:pPr algn="r"/>
                      <a:r>
                        <a:rPr sz="1200" b="0" i="0">
                          <a:solidFill>
                            <a:srgbClr val="1B2433"/>
                          </a:solidFill>
                          <a:latin typeface="Calibri"/>
                        </a:rPr>
                        <a:t>−0,128</a:t>
                      </a:r>
                    </a:p>
                  </a:txBody>
                  <a:tcPr marL="91440" marR="91440" marT="36576" marB="36576" anchor="ctr">
                    <a:lnB w="9525" cap="flat" cmpd="sng" algn="ctr">
                      <a:solidFill>
                        <a:srgbClr val="DDD8C9"/>
                      </a:solidFill>
                      <a:prstDash val="solid"/>
                    </a:lnB>
                    <a:noFill/>
                  </a:tcPr>
                </a:tc>
                <a:tc>
                  <a:txBody>
                    <a:bodyPr/>
                    <a:lstStyle/>
                    <a:p>
                      <a:pPr algn="r"/>
                      <a:r>
                        <a:rPr sz="1200" b="0" i="0">
                          <a:solidFill>
                            <a:srgbClr val="1B2433"/>
                          </a:solidFill>
                          <a:latin typeface="Calibri"/>
                        </a:rPr>
                        <a:t>−12,0</a:t>
                      </a:r>
                    </a:p>
                  </a:txBody>
                  <a:tcPr marL="91440" marR="91440" marT="36576" marB="36576" anchor="ctr">
                    <a:lnB w="9525" cap="flat" cmpd="sng" algn="ctr">
                      <a:solidFill>
                        <a:srgbClr val="DDD8C9"/>
                      </a:solidFill>
                      <a:prstDash val="solid"/>
                    </a:lnB>
                    <a:noFill/>
                  </a:tcPr>
                </a:tc>
                <a:tc>
                  <a:txBody>
                    <a:bodyPr/>
                    <a:lstStyle/>
                    <a:p>
                      <a:pPr algn="r"/>
                      <a:r>
                        <a:rPr sz="1200" b="0" i="0">
                          <a:solidFill>
                            <a:srgbClr val="1B2433"/>
                          </a:solidFill>
                          <a:latin typeface="Calibri"/>
                        </a:rPr>
                        <a:t>—</a:t>
                      </a:r>
                    </a:p>
                  </a:txBody>
                  <a:tcPr marL="91440" marR="91440" marT="36576" marB="36576" anchor="ctr">
                    <a:lnB w="9525" cap="flat" cmpd="sng" algn="ctr">
                      <a:solidFill>
                        <a:srgbClr val="DDD8C9"/>
                      </a:solidFill>
                      <a:prstDash val="solid"/>
                    </a:lnB>
                    <a:noFill/>
                  </a:tcPr>
                </a:tc>
                <a:tc>
                  <a:txBody>
                    <a:bodyPr/>
                    <a:lstStyle/>
                    <a:p>
                      <a:pPr algn="r"/>
                      <a:r>
                        <a:rPr sz="1200" b="0" i="0">
                          <a:solidFill>
                            <a:srgbClr val="1B2433"/>
                          </a:solidFill>
                          <a:latin typeface="Calibri"/>
                        </a:rPr>
                        <a:t>−0,04</a:t>
                      </a:r>
                    </a:p>
                  </a:txBody>
                  <a:tcPr marL="91440" marR="91440" marT="36576" marB="36576" anchor="ctr">
                    <a:lnB w="9525" cap="flat" cmpd="sng" algn="ctr">
                      <a:solidFill>
                        <a:srgbClr val="DDD8C9"/>
                      </a:solidFill>
                      <a:prstDash val="solid"/>
                    </a:lnB>
                    <a:noFill/>
                  </a:tcPr>
                </a:tc>
                <a:tc>
                  <a:txBody>
                    <a:bodyPr/>
                    <a:lstStyle/>
                    <a:p>
                      <a:pPr algn="r"/>
                      <a:r>
                        <a:rPr sz="1200" b="0" i="0">
                          <a:solidFill>
                            <a:srgbClr val="1B2433"/>
                          </a:solidFill>
                          <a:latin typeface="Calibri"/>
                        </a:rPr>
                        <a:t>43,7</a:t>
                      </a:r>
                    </a:p>
                  </a:txBody>
                  <a:tcPr marL="91440" marR="91440" marT="36576" marB="36576" anchor="ctr">
                    <a:lnB w="9525" cap="flat" cmpd="sng" algn="ctr">
                      <a:solidFill>
                        <a:srgbClr val="DDD8C9"/>
                      </a:solidFill>
                      <a:prstDash val="solid"/>
                    </a:lnB>
                    <a:noFill/>
                  </a:tcPr>
                </a:tc>
                <a:tc>
                  <a:txBody>
                    <a:bodyPr/>
                    <a:lstStyle/>
                    <a:p>
                      <a:pPr algn="r"/>
                      <a:r>
                        <a:rPr sz="1200" b="0" i="0">
                          <a:solidFill>
                            <a:srgbClr val="1B2433"/>
                          </a:solidFill>
                          <a:latin typeface="Calibri"/>
                        </a:rPr>
                        <a:t>1,0</a:t>
                      </a:r>
                    </a:p>
                  </a:txBody>
                  <a:tcPr marL="91440" marR="91440" marT="36576" marB="36576" anchor="ctr">
                    <a:lnB w="9525" cap="flat" cmpd="sng" algn="ctr">
                      <a:solidFill>
                        <a:srgbClr val="DDD8C9"/>
                      </a:solidFill>
                      <a:prstDash val="solid"/>
                    </a:lnB>
                    <a:noFill/>
                  </a:tcPr>
                </a:tc>
                <a:tc>
                  <a:txBody>
                    <a:bodyPr/>
                    <a:lstStyle/>
                    <a:p>
                      <a:pPr algn="r"/>
                      <a:r>
                        <a:rPr sz="1200" b="0" i="0">
                          <a:solidFill>
                            <a:srgbClr val="1B2433"/>
                          </a:solidFill>
                          <a:latin typeface="Calibri"/>
                        </a:rPr>
                        <a:t>—</a:t>
                      </a:r>
                    </a:p>
                  </a:txBody>
                  <a:tcPr marL="91440" marR="91440" marT="36576" marB="36576" anchor="ctr">
                    <a:lnB w="9525" cap="flat" cmpd="sng" algn="ctr">
                      <a:solidFill>
                        <a:srgbClr val="DDD8C9"/>
                      </a:solidFill>
                      <a:prstDash val="solid"/>
                    </a:lnB>
                    <a:noFill/>
                  </a:tcPr>
                </a:tc>
                <a:tc>
                  <a:txBody>
                    <a:bodyPr/>
                    <a:lstStyle/>
                    <a:p>
                      <a:pPr algn="r"/>
                      <a:r>
                        <a:rPr sz="1200" b="0" i="0">
                          <a:solidFill>
                            <a:srgbClr val="1B2433"/>
                          </a:solidFill>
                          <a:latin typeface="Calibri"/>
                        </a:rPr>
                        <a:t>—</a:t>
                      </a:r>
                    </a:p>
                  </a:txBody>
                  <a:tcPr marL="91440" marR="91440" marT="36576" marB="36576" anchor="ctr">
                    <a:lnB w="9525" cap="flat" cmpd="sng" algn="ctr">
                      <a:solidFill>
                        <a:srgbClr val="DDD8C9"/>
                      </a:solidFill>
                      <a:prstDash val="solid"/>
                    </a:lnB>
                    <a:noFill/>
                  </a:tcPr>
                </a:tc>
              </a:tr>
              <a:tr h="330200">
                <a:tc>
                  <a:txBody>
                    <a:bodyPr/>
                    <a:lstStyle/>
                    <a:p>
                      <a:pPr algn="l"/>
                    </a:p>
                  </a:txBody>
                  <a:tcPr marL="91440" marR="91440" marT="36576" marB="36576" anchor="ctr">
                    <a:lnB w="9525" cap="flat" cmpd="sng" algn="ctr">
                      <a:solidFill>
                        <a:srgbClr val="DDD8C9"/>
                      </a:solidFill>
                      <a:prstDash val="solid"/>
                    </a:lnB>
                    <a:noFill/>
                  </a:tcPr>
                </a:tc>
                <a:tc>
                  <a:txBody>
                    <a:bodyPr/>
                    <a:lstStyle/>
                    <a:p>
                      <a:pPr algn="l"/>
                      <a:r>
                        <a:rPr sz="1200" b="0" i="0">
                          <a:solidFill>
                            <a:srgbClr val="1B2433"/>
                          </a:solidFill>
                          <a:latin typeface="Calibri"/>
                        </a:rPr>
                        <a:t>Aleatorio</a:t>
                      </a:r>
                    </a:p>
                  </a:txBody>
                  <a:tcPr marL="91440" marR="91440" marT="36576" marB="36576" anchor="ctr">
                    <a:lnB w="9525" cap="flat" cmpd="sng" algn="ctr">
                      <a:solidFill>
                        <a:srgbClr val="DDD8C9"/>
                      </a:solidFill>
                      <a:prstDash val="solid"/>
                    </a:lnB>
                    <a:noFill/>
                  </a:tcPr>
                </a:tc>
                <a:tc>
                  <a:txBody>
                    <a:bodyPr/>
                    <a:lstStyle/>
                    <a:p>
                      <a:pPr algn="r"/>
                      <a:r>
                        <a:rPr sz="1200" b="0" i="0">
                          <a:solidFill>
                            <a:srgbClr val="1B2433"/>
                          </a:solidFill>
                          <a:latin typeface="Calibri"/>
                        </a:rPr>
                        <a:t>−0,220</a:t>
                      </a:r>
                    </a:p>
                  </a:txBody>
                  <a:tcPr marL="91440" marR="91440" marT="36576" marB="36576" anchor="ctr">
                    <a:lnB w="9525" cap="flat" cmpd="sng" algn="ctr">
                      <a:solidFill>
                        <a:srgbClr val="DDD8C9"/>
                      </a:solidFill>
                      <a:prstDash val="solid"/>
                    </a:lnB>
                    <a:noFill/>
                  </a:tcPr>
                </a:tc>
                <a:tc>
                  <a:txBody>
                    <a:bodyPr/>
                    <a:lstStyle/>
                    <a:p>
                      <a:pPr algn="r"/>
                      <a:r>
                        <a:rPr sz="1200" b="0" i="0">
                          <a:solidFill>
                            <a:srgbClr val="1B2433"/>
                          </a:solidFill>
                          <a:latin typeface="Calibri"/>
                        </a:rPr>
                        <a:t>−19,7</a:t>
                      </a:r>
                    </a:p>
                  </a:txBody>
                  <a:tcPr marL="91440" marR="91440" marT="36576" marB="36576" anchor="ctr">
                    <a:lnB w="9525" cap="flat" cmpd="sng" algn="ctr">
                      <a:solidFill>
                        <a:srgbClr val="DDD8C9"/>
                      </a:solidFill>
                      <a:prstDash val="solid"/>
                    </a:lnB>
                    <a:noFill/>
                  </a:tcPr>
                </a:tc>
                <a:tc>
                  <a:txBody>
                    <a:bodyPr/>
                    <a:lstStyle/>
                    <a:p>
                      <a:pPr algn="r"/>
                      <a:r>
                        <a:rPr sz="1200" b="0" i="0">
                          <a:solidFill>
                            <a:srgbClr val="1B2433"/>
                          </a:solidFill>
                          <a:latin typeface="Calibri"/>
                        </a:rPr>
                        <a:t>36</a:t>
                      </a:r>
                    </a:p>
                  </a:txBody>
                  <a:tcPr marL="91440" marR="91440" marT="36576" marB="36576" anchor="ctr">
                    <a:lnB w="9525" cap="flat" cmpd="sng" algn="ctr">
                      <a:solidFill>
                        <a:srgbClr val="DDD8C9"/>
                      </a:solidFill>
                      <a:prstDash val="solid"/>
                    </a:lnB>
                    <a:noFill/>
                  </a:tcPr>
                </a:tc>
                <a:tc>
                  <a:txBody>
                    <a:bodyPr/>
                    <a:lstStyle/>
                    <a:p>
                      <a:pPr algn="r"/>
                      <a:r>
                        <a:rPr sz="1200" b="0" i="0">
                          <a:solidFill>
                            <a:srgbClr val="1B2433"/>
                          </a:solidFill>
                          <a:latin typeface="Calibri"/>
                        </a:rPr>
                        <a:t>−0,42</a:t>
                      </a:r>
                    </a:p>
                  </a:txBody>
                  <a:tcPr marL="91440" marR="91440" marT="36576" marB="36576" anchor="ctr">
                    <a:lnB w="9525" cap="flat" cmpd="sng" algn="ctr">
                      <a:solidFill>
                        <a:srgbClr val="DDD8C9"/>
                      </a:solidFill>
                      <a:prstDash val="solid"/>
                    </a:lnB>
                    <a:noFill/>
                  </a:tcPr>
                </a:tc>
                <a:tc>
                  <a:txBody>
                    <a:bodyPr/>
                    <a:lstStyle/>
                    <a:p>
                      <a:pPr algn="r"/>
                      <a:r>
                        <a:rPr sz="1200" b="0" i="0">
                          <a:solidFill>
                            <a:srgbClr val="1B2433"/>
                          </a:solidFill>
                          <a:latin typeface="Calibri"/>
                        </a:rPr>
                        <a:t>35,4</a:t>
                      </a:r>
                    </a:p>
                  </a:txBody>
                  <a:tcPr marL="91440" marR="91440" marT="36576" marB="36576" anchor="ctr">
                    <a:lnB w="9525" cap="flat" cmpd="sng" algn="ctr">
                      <a:solidFill>
                        <a:srgbClr val="DDD8C9"/>
                      </a:solidFill>
                      <a:prstDash val="solid"/>
                    </a:lnB>
                    <a:noFill/>
                  </a:tcPr>
                </a:tc>
                <a:tc>
                  <a:txBody>
                    <a:bodyPr/>
                    <a:lstStyle/>
                    <a:p>
                      <a:pPr algn="r"/>
                      <a:r>
                        <a:rPr sz="1200" b="0" i="0">
                          <a:solidFill>
                            <a:srgbClr val="1B2433"/>
                          </a:solidFill>
                          <a:latin typeface="Calibri"/>
                        </a:rPr>
                        <a:t>164,3</a:t>
                      </a:r>
                    </a:p>
                  </a:txBody>
                  <a:tcPr marL="91440" marR="91440" marT="36576" marB="36576" anchor="ctr">
                    <a:lnB w="9525" cap="flat" cmpd="sng" algn="ctr">
                      <a:solidFill>
                        <a:srgbClr val="DDD8C9"/>
                      </a:solidFill>
                      <a:prstDash val="solid"/>
                    </a:lnB>
                    <a:noFill/>
                  </a:tcPr>
                </a:tc>
                <a:tc>
                  <a:txBody>
                    <a:bodyPr/>
                    <a:lstStyle/>
                    <a:p>
                      <a:pPr algn="r"/>
                      <a:r>
                        <a:rPr sz="1200" b="0" i="0">
                          <a:solidFill>
                            <a:srgbClr val="1B2433"/>
                          </a:solidFill>
                          <a:latin typeface="Calibri"/>
                        </a:rPr>
                        <a:t>—</a:t>
                      </a:r>
                    </a:p>
                  </a:txBody>
                  <a:tcPr marL="91440" marR="91440" marT="36576" marB="36576" anchor="ctr">
                    <a:lnB w="9525" cap="flat" cmpd="sng" algn="ctr">
                      <a:solidFill>
                        <a:srgbClr val="DDD8C9"/>
                      </a:solidFill>
                      <a:prstDash val="solid"/>
                    </a:lnB>
                    <a:noFill/>
                  </a:tcPr>
                </a:tc>
                <a:tc>
                  <a:txBody>
                    <a:bodyPr/>
                    <a:lstStyle/>
                    <a:p>
                      <a:pPr algn="r"/>
                      <a:r>
                        <a:rPr sz="1200" b="0" i="0">
                          <a:solidFill>
                            <a:srgbClr val="1B2433"/>
                          </a:solidFill>
                          <a:latin typeface="Calibri"/>
                        </a:rPr>
                        <a:t>—</a:t>
                      </a:r>
                    </a:p>
                  </a:txBody>
                  <a:tcPr marL="91440" marR="91440" marT="36576" marB="36576" anchor="ctr">
                    <a:lnB w="9525" cap="flat" cmpd="sng" algn="ctr">
                      <a:solidFill>
                        <a:srgbClr val="DDD8C9"/>
                      </a:solidFill>
                      <a:prstDash val="solid"/>
                    </a:lnB>
                    <a:no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itle 1"/>
          <p:cNvSpPr>
            <a:spLocks noGrp="1"/>
          </p:cNvSpPr>
          <p:nvPr>
            <p:ph type="title"/>
          </p:nvPr>
        </p:nvSpPr>
        <p:spPr>
          <a:xfrm>
            <a:off x="812800" y="812800"/>
            <a:ext cx="10566400" cy="546100"/>
          </a:xfrm>
        </p:spPr>
        <p:txBody>
          <a:bodyPr wrap="square" lIns="0" rIns="0" tIns="0" bIns="0" anchor="t"/>
          <a:lstStyle/>
          <a:p>
            <a:pPr algn="l"/>
            <a:r>
              <a:rPr sz="3200" b="1" i="0">
                <a:solidFill>
                  <a:srgbClr val="1B2433"/>
                </a:solidFill>
                <a:latin typeface="Cambria"/>
              </a:rPr>
              <a:t>Curvas de aprendizaje y convergencia</a:t>
            </a:r>
          </a:p>
        </p:txBody>
      </p:sp>
      <p:sp>
        <p:nvSpPr>
          <p:cNvPr id="3" name="Sección"/>
          <p:cNvSpPr txBox="1"/>
          <p:nvPr/>
        </p:nvSpPr>
        <p:spPr>
          <a:xfrm>
            <a:off x="812800" y="533400"/>
            <a:ext cx="10566400" cy="215900"/>
          </a:xfrm>
          <a:prstGeom prst="rect">
            <a:avLst/>
          </a:prstGeom>
          <a:noFill/>
        </p:spPr>
        <p:txBody>
          <a:bodyPr wrap="square" lIns="0" rIns="0" tIns="0" bIns="0" anchor="t">
            <a:spAutoFit/>
          </a:bodyPr>
          <a:lstStyle/>
          <a:p>
            <a:pPr algn="l">
              <a:lnSpc>
                <a:spcPct val="110000"/>
              </a:lnSpc>
              <a:spcAft>
                <a:spcPts val="0"/>
              </a:spcAft>
            </a:pPr>
            <a:r>
              <a:rPr sz="1200" b="1" i="0" spc="150">
                <a:solidFill>
                  <a:srgbClr val="556072"/>
                </a:solidFill>
                <a:latin typeface="Calibri"/>
              </a:rPr>
              <a:t>2 · RESULTADOS</a:t>
            </a:r>
          </a:p>
        </p:txBody>
      </p:sp>
      <p:sp>
        <p:nvSpPr>
          <p:cNvPr id="4" name="Pie"/>
          <p:cNvSpPr txBox="1"/>
          <p:nvPr/>
        </p:nvSpPr>
        <p:spPr>
          <a:xfrm>
            <a:off x="812800" y="6350000"/>
            <a:ext cx="7620000" cy="190500"/>
          </a:xfrm>
          <a:prstGeom prst="rect">
            <a:avLst/>
          </a:prstGeom>
          <a:noFill/>
        </p:spPr>
        <p:txBody>
          <a:bodyPr wrap="square" lIns="0" rIns="0" tIns="0" bIns="0" anchor="t">
            <a:spAutoFit/>
          </a:bodyPr>
          <a:lstStyle/>
          <a:p>
            <a:pPr algn="l">
              <a:lnSpc>
                <a:spcPct val="110000"/>
              </a:lnSpc>
              <a:spcAft>
                <a:spcPts val="0"/>
              </a:spcAft>
            </a:pPr>
            <a:r>
              <a:rPr sz="1200" b="0" i="0">
                <a:solidFill>
                  <a:srgbClr val="556072"/>
                </a:solidFill>
                <a:latin typeface="Calibri"/>
              </a:rPr>
              <a:t>Agente de trading con RL tabular · MIAX-14</a:t>
            </a:r>
          </a:p>
        </p:txBody>
      </p:sp>
      <p:sp>
        <p:nvSpPr>
          <p:cNvPr id="5" name="Número de diapositiva"/>
          <p:cNvSpPr txBox="1"/>
          <p:nvPr/>
        </p:nvSpPr>
        <p:spPr>
          <a:xfrm>
            <a:off x="9855200" y="6350000"/>
            <a:ext cx="1524000" cy="190500"/>
          </a:xfrm>
          <a:prstGeom prst="rect">
            <a:avLst/>
          </a:prstGeom>
          <a:noFill/>
        </p:spPr>
        <p:txBody>
          <a:bodyPr wrap="square" lIns="0" rIns="0" tIns="0" bIns="0" anchor="t">
            <a:spAutoFit/>
          </a:bodyPr>
          <a:lstStyle/>
          <a:p>
            <a:pPr algn="r">
              <a:lnSpc>
                <a:spcPct val="110000"/>
              </a:lnSpc>
              <a:spcAft>
                <a:spcPts val="0"/>
              </a:spcAft>
            </a:pPr>
            <a:fld id="{B6F15528-21DE-4FAA-801E-634DDDAF4B2B}" type="slidenum">
              <a:rPr lang="es-ES" sz="1200">
                <a:solidFill>
                  <a:srgbClr val="556072"/>
                </a:solidFill>
                <a:latin typeface="Calibri"/>
              </a:rPr>
              <a:t>‹#›</a:t>
            </a:fld>
          </a:p>
        </p:txBody>
      </p:sp>
      <p:sp>
        <p:nvSpPr>
          <p:cNvPr id="6" name="Marco de figura"/>
          <p:cNvSpPr/>
          <p:nvPr/>
        </p:nvSpPr>
        <p:spPr>
          <a:xfrm>
            <a:off x="1231900" y="1562100"/>
            <a:ext cx="9728200" cy="2356111"/>
          </a:xfrm>
          <a:prstGeom prst="roundRect">
            <a:avLst>
              <a:gd name="adj" fmla="val 4312"/>
            </a:avLst>
          </a:prstGeom>
          <a:solidFill>
            <a:srgbClr val="FFFFFF"/>
          </a:solidFill>
          <a:ln w="9525">
            <a:solidFill>
              <a:srgbClr val="DDD8C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7" name="Figura curvas" descr="Curvas de aprendizaje: log-retorno medio de la política greedy en validación por episodio para Q-Learning, SARSA, Monte Carlo y buy and hold en los cuatro mercados, con líneas verticales en el episodio de convergencia de cada algoritmo"/>
          <p:cNvPicPr>
            <a:picLocks noChangeAspect="1"/>
          </p:cNvPicPr>
          <p:nvPr/>
        </p:nvPicPr>
        <p:blipFill>
          <a:blip r:embed="rId3"/>
          <a:stretch>
            <a:fillRect/>
          </a:stretch>
        </p:blipFill>
        <p:spPr>
          <a:xfrm>
            <a:off x="1333500" y="1663700"/>
            <a:ext cx="9525000" cy="2152911"/>
          </a:xfrm>
          <a:prstGeom prst="rect">
            <a:avLst/>
          </a:prstGeom>
        </p:spPr>
      </p:pic>
      <p:sp>
        <p:nvSpPr>
          <p:cNvPr id="8" name="Tarjeta Depende del mercado"/>
          <p:cNvSpPr/>
          <p:nvPr/>
        </p:nvSpPr>
        <p:spPr>
          <a:xfrm>
            <a:off x="812800" y="4381500"/>
            <a:ext cx="4064000" cy="1524000"/>
          </a:xfrm>
          <a:prstGeom prst="roundRect">
            <a:avLst>
              <a:gd name="adj" fmla="val 6666"/>
            </a:avLst>
          </a:prstGeom>
          <a:solidFill>
            <a:srgbClr val="FBFAF6"/>
          </a:solidFill>
          <a:ln w="9525">
            <a:solidFill>
              <a:srgbClr val="DDD8C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90600" y="4521200"/>
            <a:ext cx="3708400" cy="254000"/>
          </a:xfrm>
          <a:prstGeom prst="rect">
            <a:avLst/>
          </a:prstGeom>
          <a:noFill/>
        </p:spPr>
        <p:txBody>
          <a:bodyPr wrap="square" lIns="0" rIns="0" tIns="0" bIns="0" anchor="t">
            <a:spAutoFit/>
          </a:bodyPr>
          <a:lstStyle/>
          <a:p>
            <a:pPr algn="l">
              <a:lnSpc>
                <a:spcPct val="110000"/>
              </a:lnSpc>
              <a:spcAft>
                <a:spcPts val="0"/>
              </a:spcAft>
            </a:pPr>
            <a:r>
              <a:rPr sz="1600" b="1" i="0">
                <a:solidFill>
                  <a:srgbClr val="1B2433"/>
                </a:solidFill>
                <a:latin typeface="Calibri"/>
              </a:rPr>
              <a:t>Depende del mercado</a:t>
            </a:r>
          </a:p>
        </p:txBody>
      </p:sp>
      <p:sp>
        <p:nvSpPr>
          <p:cNvPr id="10" name="TextBox 9"/>
          <p:cNvSpPr txBox="1"/>
          <p:nvPr/>
        </p:nvSpPr>
        <p:spPr>
          <a:xfrm>
            <a:off x="990600" y="4813300"/>
            <a:ext cx="3708400" cy="1016000"/>
          </a:xfrm>
          <a:prstGeom prst="rect">
            <a:avLst/>
          </a:prstGeom>
          <a:noFill/>
        </p:spPr>
        <p:txBody>
          <a:bodyPr wrap="square" lIns="0" rIns="0" tIns="0" bIns="0" anchor="t">
            <a:spAutoFit/>
          </a:bodyPr>
          <a:lstStyle/>
          <a:p>
            <a:pPr algn="l">
              <a:lnSpc>
                <a:spcPct val="115000"/>
              </a:lnSpc>
              <a:spcAft>
                <a:spcPts val="0"/>
              </a:spcAft>
            </a:pPr>
            <a:r>
              <a:rPr sz="1400" b="0" i="0">
                <a:solidFill>
                  <a:srgbClr val="1B2433"/>
                </a:solidFill>
                <a:latin typeface="Calibri"/>
              </a:rPr>
              <a:t>Señal fuerte: 300–500 episodios (2–5 s).</a:t>
            </a:r>
          </a:p>
          <a:p>
            <a:pPr algn="l">
              <a:lnSpc>
                <a:spcPct val="115000"/>
              </a:lnSpc>
              <a:spcAft>
                <a:spcPts val="0"/>
              </a:spcAft>
            </a:pPr>
            <a:r>
              <a:rPr sz="1400" b="0" i="0">
                <a:solidFill>
                  <a:srgbClr val="1B2433"/>
                </a:solidFill>
                <a:latin typeface="Calibri"/>
              </a:rPr>
              <a:t>Señal débil (reversión y regímenes):</a:t>
            </a:r>
          </a:p>
          <a:p>
            <a:pPr algn="l">
              <a:lnSpc>
                <a:spcPct val="115000"/>
              </a:lnSpc>
              <a:spcAft>
                <a:spcPts val="0"/>
              </a:spcAft>
            </a:pPr>
            <a:r>
              <a:rPr sz="1400" b="0" i="0">
                <a:solidFill>
                  <a:srgbClr val="1B2433"/>
                </a:solidFill>
                <a:latin typeface="Calibri"/>
              </a:rPr>
              <a:t>1300–2200 episodios (11–19 s).</a:t>
            </a:r>
          </a:p>
        </p:txBody>
      </p:sp>
      <p:sp>
        <p:nvSpPr>
          <p:cNvPr id="11" name="Tarjeta SARSA en regímenes"/>
          <p:cNvSpPr/>
          <p:nvPr/>
        </p:nvSpPr>
        <p:spPr>
          <a:xfrm>
            <a:off x="5003800" y="4381500"/>
            <a:ext cx="3111500" cy="1524000"/>
          </a:xfrm>
          <a:prstGeom prst="roundRect">
            <a:avLst>
              <a:gd name="adj" fmla="val 6666"/>
            </a:avLst>
          </a:prstGeom>
          <a:solidFill>
            <a:srgbClr val="FBFAF6"/>
          </a:solidFill>
          <a:ln w="9525">
            <a:solidFill>
              <a:srgbClr val="DDD8C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5181600" y="4521200"/>
            <a:ext cx="2755900" cy="254000"/>
          </a:xfrm>
          <a:prstGeom prst="rect">
            <a:avLst/>
          </a:prstGeom>
          <a:noFill/>
        </p:spPr>
        <p:txBody>
          <a:bodyPr wrap="square" lIns="0" rIns="0" tIns="0" bIns="0" anchor="t">
            <a:spAutoFit/>
          </a:bodyPr>
          <a:lstStyle/>
          <a:p>
            <a:pPr algn="l">
              <a:lnSpc>
                <a:spcPct val="110000"/>
              </a:lnSpc>
              <a:spcAft>
                <a:spcPts val="0"/>
              </a:spcAft>
            </a:pPr>
            <a:r>
              <a:rPr sz="1600" b="1" i="0">
                <a:solidFill>
                  <a:srgbClr val="1B2433"/>
                </a:solidFill>
                <a:latin typeface="Calibri"/>
              </a:rPr>
              <a:t>SARSA en regímenes</a:t>
            </a:r>
          </a:p>
        </p:txBody>
      </p:sp>
      <p:sp>
        <p:nvSpPr>
          <p:cNvPr id="13" name="TextBox 12"/>
          <p:cNvSpPr txBox="1"/>
          <p:nvPr/>
        </p:nvSpPr>
        <p:spPr>
          <a:xfrm>
            <a:off x="5181600" y="4813300"/>
            <a:ext cx="2755900" cy="1016000"/>
          </a:xfrm>
          <a:prstGeom prst="rect">
            <a:avLst/>
          </a:prstGeom>
          <a:noFill/>
        </p:spPr>
        <p:txBody>
          <a:bodyPr wrap="square" lIns="0" rIns="0" tIns="0" bIns="0" anchor="t">
            <a:spAutoFit/>
          </a:bodyPr>
          <a:lstStyle/>
          <a:p>
            <a:pPr algn="l">
              <a:lnSpc>
                <a:spcPct val="115000"/>
              </a:lnSpc>
              <a:spcAft>
                <a:spcPts val="0"/>
              </a:spcAft>
            </a:pPr>
            <a:r>
              <a:rPr sz="1400" b="0" i="0">
                <a:solidFill>
                  <a:srgbClr val="1B2433"/>
                </a:solidFill>
                <a:latin typeface="Calibri"/>
              </a:rPr>
              <a:t>Converge rápido (600 episodios) porque converge a no operar.</a:t>
            </a:r>
          </a:p>
        </p:txBody>
      </p:sp>
      <p:sp>
        <p:nvSpPr>
          <p:cNvPr id="14" name="Tarjeta Coste por episodio"/>
          <p:cNvSpPr/>
          <p:nvPr/>
        </p:nvSpPr>
        <p:spPr>
          <a:xfrm>
            <a:off x="8242300" y="4381500"/>
            <a:ext cx="3136900" cy="1524000"/>
          </a:xfrm>
          <a:prstGeom prst="roundRect">
            <a:avLst>
              <a:gd name="adj" fmla="val 6666"/>
            </a:avLst>
          </a:prstGeom>
          <a:solidFill>
            <a:srgbClr val="FBFAF6"/>
          </a:solidFill>
          <a:ln w="9525">
            <a:solidFill>
              <a:srgbClr val="DDD8C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8420100" y="4521200"/>
            <a:ext cx="2781300" cy="254000"/>
          </a:xfrm>
          <a:prstGeom prst="rect">
            <a:avLst/>
          </a:prstGeom>
          <a:noFill/>
        </p:spPr>
        <p:txBody>
          <a:bodyPr wrap="square" lIns="0" rIns="0" tIns="0" bIns="0" anchor="t">
            <a:spAutoFit/>
          </a:bodyPr>
          <a:lstStyle/>
          <a:p>
            <a:pPr algn="l">
              <a:lnSpc>
                <a:spcPct val="110000"/>
              </a:lnSpc>
              <a:spcAft>
                <a:spcPts val="0"/>
              </a:spcAft>
            </a:pPr>
            <a:r>
              <a:rPr sz="1600" b="1" i="0">
                <a:solidFill>
                  <a:srgbClr val="1B2433"/>
                </a:solidFill>
                <a:latin typeface="Calibri"/>
              </a:rPr>
              <a:t>Coste por episodio</a:t>
            </a:r>
          </a:p>
        </p:txBody>
      </p:sp>
      <p:sp>
        <p:nvSpPr>
          <p:cNvPr id="16" name="TextBox 15"/>
          <p:cNvSpPr txBox="1"/>
          <p:nvPr/>
        </p:nvSpPr>
        <p:spPr>
          <a:xfrm>
            <a:off x="8420100" y="4813300"/>
            <a:ext cx="2781300" cy="1016000"/>
          </a:xfrm>
          <a:prstGeom prst="rect">
            <a:avLst/>
          </a:prstGeom>
          <a:noFill/>
        </p:spPr>
        <p:txBody>
          <a:bodyPr wrap="square" lIns="0" rIns="0" tIns="0" bIns="0" anchor="t">
            <a:spAutoFit/>
          </a:bodyPr>
          <a:lstStyle/>
          <a:p>
            <a:pPr algn="l">
              <a:lnSpc>
                <a:spcPct val="115000"/>
              </a:lnSpc>
              <a:spcAft>
                <a:spcPts val="0"/>
              </a:spcAft>
            </a:pPr>
            <a:r>
              <a:rPr sz="1400" b="0" i="0">
                <a:solidFill>
                  <a:srgbClr val="1B2433"/>
                </a:solidFill>
                <a:latin typeface="Calibri"/>
              </a:rPr>
              <a:t>Casi igual en los tres (8–11 ms): lo que más tarda es simular el entorno.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itle 1"/>
          <p:cNvSpPr>
            <a:spLocks noGrp="1"/>
          </p:cNvSpPr>
          <p:nvPr>
            <p:ph type="title"/>
          </p:nvPr>
        </p:nvSpPr>
        <p:spPr>
          <a:xfrm>
            <a:off x="812800" y="812800"/>
            <a:ext cx="10566400" cy="546100"/>
          </a:xfrm>
        </p:spPr>
        <p:txBody>
          <a:bodyPr wrap="square" lIns="0" rIns="0" tIns="0" bIns="0" anchor="t"/>
          <a:lstStyle/>
          <a:p>
            <a:pPr algn="l"/>
            <a:r>
              <a:rPr sz="3200" b="1" i="0">
                <a:solidFill>
                  <a:srgbClr val="1B2433"/>
                </a:solidFill>
                <a:latin typeface="Cambria"/>
              </a:rPr>
              <a:t>Estrategias aprendidas</a:t>
            </a:r>
          </a:p>
        </p:txBody>
      </p:sp>
      <p:sp>
        <p:nvSpPr>
          <p:cNvPr id="3" name="Sección"/>
          <p:cNvSpPr txBox="1"/>
          <p:nvPr/>
        </p:nvSpPr>
        <p:spPr>
          <a:xfrm>
            <a:off x="812800" y="533400"/>
            <a:ext cx="10566400" cy="215900"/>
          </a:xfrm>
          <a:prstGeom prst="rect">
            <a:avLst/>
          </a:prstGeom>
          <a:noFill/>
        </p:spPr>
        <p:txBody>
          <a:bodyPr wrap="square" lIns="0" rIns="0" tIns="0" bIns="0" anchor="t">
            <a:spAutoFit/>
          </a:bodyPr>
          <a:lstStyle/>
          <a:p>
            <a:pPr algn="l">
              <a:lnSpc>
                <a:spcPct val="110000"/>
              </a:lnSpc>
              <a:spcAft>
                <a:spcPts val="0"/>
              </a:spcAft>
            </a:pPr>
            <a:r>
              <a:rPr sz="1200" b="1" i="0" spc="150">
                <a:solidFill>
                  <a:srgbClr val="556072"/>
                </a:solidFill>
                <a:latin typeface="Calibri"/>
              </a:rPr>
              <a:t>3 · ANÁLISIS</a:t>
            </a:r>
          </a:p>
        </p:txBody>
      </p:sp>
      <p:sp>
        <p:nvSpPr>
          <p:cNvPr id="4" name="Pie"/>
          <p:cNvSpPr txBox="1"/>
          <p:nvPr/>
        </p:nvSpPr>
        <p:spPr>
          <a:xfrm>
            <a:off x="812800" y="6350000"/>
            <a:ext cx="7620000" cy="190500"/>
          </a:xfrm>
          <a:prstGeom prst="rect">
            <a:avLst/>
          </a:prstGeom>
          <a:noFill/>
        </p:spPr>
        <p:txBody>
          <a:bodyPr wrap="square" lIns="0" rIns="0" tIns="0" bIns="0" anchor="t">
            <a:spAutoFit/>
          </a:bodyPr>
          <a:lstStyle/>
          <a:p>
            <a:pPr algn="l">
              <a:lnSpc>
                <a:spcPct val="110000"/>
              </a:lnSpc>
              <a:spcAft>
                <a:spcPts val="0"/>
              </a:spcAft>
            </a:pPr>
            <a:r>
              <a:rPr sz="1200" b="0" i="0">
                <a:solidFill>
                  <a:srgbClr val="556072"/>
                </a:solidFill>
                <a:latin typeface="Calibri"/>
              </a:rPr>
              <a:t>Agente de trading con RL tabular · MIAX-14</a:t>
            </a:r>
          </a:p>
        </p:txBody>
      </p:sp>
      <p:sp>
        <p:nvSpPr>
          <p:cNvPr id="5" name="Número de diapositiva"/>
          <p:cNvSpPr txBox="1"/>
          <p:nvPr/>
        </p:nvSpPr>
        <p:spPr>
          <a:xfrm>
            <a:off x="9855200" y="6350000"/>
            <a:ext cx="1524000" cy="190500"/>
          </a:xfrm>
          <a:prstGeom prst="rect">
            <a:avLst/>
          </a:prstGeom>
          <a:noFill/>
        </p:spPr>
        <p:txBody>
          <a:bodyPr wrap="square" lIns="0" rIns="0" tIns="0" bIns="0" anchor="t">
            <a:spAutoFit/>
          </a:bodyPr>
          <a:lstStyle/>
          <a:p>
            <a:pPr algn="r">
              <a:lnSpc>
                <a:spcPct val="110000"/>
              </a:lnSpc>
              <a:spcAft>
                <a:spcPts val="0"/>
              </a:spcAft>
            </a:pPr>
            <a:fld id="{B6F15528-21DE-4FAA-801E-634DDDAF4B2B}" type="slidenum">
              <a:rPr lang="es-ES" sz="1200">
                <a:solidFill>
                  <a:srgbClr val="556072"/>
                </a:solidFill>
                <a:latin typeface="Calibri"/>
              </a:rPr>
              <a:t>‹#›</a:t>
            </a:fld>
          </a:p>
        </p:txBody>
      </p:sp>
      <p:sp>
        <p:nvSpPr>
          <p:cNvPr id="6" name="Marco de figura"/>
          <p:cNvSpPr/>
          <p:nvPr/>
        </p:nvSpPr>
        <p:spPr>
          <a:xfrm>
            <a:off x="1866900" y="1485900"/>
            <a:ext cx="8458200" cy="1899433"/>
          </a:xfrm>
          <a:prstGeom prst="roundRect">
            <a:avLst>
              <a:gd name="adj" fmla="val 5348"/>
            </a:avLst>
          </a:prstGeom>
          <a:solidFill>
            <a:srgbClr val="FFFFFF"/>
          </a:solidFill>
          <a:ln w="9525">
            <a:solidFill>
              <a:srgbClr val="DDD8C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7" name="Figura pol" descr="Política aprendida por Q-Learning, SARSA y Monte Carlo en cada mercado: fracción de las 5 semillas que quedan invertidas después de actuar, según la tendencia, estando fuera y estando dentro"/>
          <p:cNvPicPr>
            <a:picLocks noChangeAspect="1"/>
          </p:cNvPicPr>
          <p:nvPr/>
        </p:nvPicPr>
        <p:blipFill>
          <a:blip r:embed="rId3"/>
          <a:stretch>
            <a:fillRect/>
          </a:stretch>
        </p:blipFill>
        <p:spPr>
          <a:xfrm>
            <a:off x="1968500" y="1587500"/>
            <a:ext cx="8255000" cy="1696233"/>
          </a:xfrm>
          <a:prstGeom prst="rect">
            <a:avLst/>
          </a:prstGeom>
        </p:spPr>
      </p:pic>
      <p:sp>
        <p:nvSpPr>
          <p:cNvPr id="8" name="TextBox 7"/>
          <p:cNvSpPr txBox="1"/>
          <p:nvPr/>
        </p:nvSpPr>
        <p:spPr>
          <a:xfrm>
            <a:off x="812800" y="3525033"/>
            <a:ext cx="10566400" cy="215900"/>
          </a:xfrm>
          <a:prstGeom prst="rect">
            <a:avLst/>
          </a:prstGeom>
          <a:noFill/>
        </p:spPr>
        <p:txBody>
          <a:bodyPr wrap="square" lIns="0" rIns="0" tIns="0" bIns="0" anchor="t">
            <a:spAutoFit/>
          </a:bodyPr>
          <a:lstStyle/>
          <a:p>
            <a:pPr algn="ctr">
              <a:lnSpc>
                <a:spcPct val="110000"/>
              </a:lnSpc>
              <a:spcAft>
                <a:spcPts val="0"/>
              </a:spcAft>
            </a:pPr>
            <a:r>
              <a:rPr sz="1300" b="0" i="0">
                <a:solidFill>
                  <a:srgbClr val="556072"/>
                </a:solidFill>
                <a:latin typeface="Calibri"/>
              </a:rPr>
              <a:t>Verde: compra (fila «fuera») o mantiene (fila «dentro»). El hueco entre ambas filas es la histéresis.</a:t>
            </a:r>
          </a:p>
        </p:txBody>
      </p:sp>
      <p:sp>
        <p:nvSpPr>
          <p:cNvPr id="9" name="Tarjeta Tendencia + ciclo"/>
          <p:cNvSpPr/>
          <p:nvPr/>
        </p:nvSpPr>
        <p:spPr>
          <a:xfrm>
            <a:off x="812800" y="4064000"/>
            <a:ext cx="2565400" cy="1905000"/>
          </a:xfrm>
          <a:prstGeom prst="roundRect">
            <a:avLst>
              <a:gd name="adj" fmla="val 5333"/>
            </a:avLst>
          </a:prstGeom>
          <a:solidFill>
            <a:srgbClr val="FBFAF6"/>
          </a:solidFill>
          <a:ln w="9525">
            <a:solidFill>
              <a:srgbClr val="DDD8C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952500" y="4178300"/>
            <a:ext cx="2286000" cy="228600"/>
          </a:xfrm>
          <a:prstGeom prst="rect">
            <a:avLst/>
          </a:prstGeom>
          <a:noFill/>
        </p:spPr>
        <p:txBody>
          <a:bodyPr wrap="square" lIns="0" rIns="0" tIns="0" bIns="0" anchor="t">
            <a:spAutoFit/>
          </a:bodyPr>
          <a:lstStyle/>
          <a:p>
            <a:pPr algn="l">
              <a:lnSpc>
                <a:spcPct val="110000"/>
              </a:lnSpc>
              <a:spcAft>
                <a:spcPts val="0"/>
              </a:spcAft>
            </a:pPr>
            <a:r>
              <a:rPr sz="1600" b="1" i="0">
                <a:solidFill>
                  <a:srgbClr val="1B2433"/>
                </a:solidFill>
                <a:latin typeface="Cambria"/>
              </a:rPr>
              <a:t>Tendencia + ciclo</a:t>
            </a:r>
          </a:p>
        </p:txBody>
      </p:sp>
      <p:sp>
        <p:nvSpPr>
          <p:cNvPr id="11" name="TextBox 10"/>
          <p:cNvSpPr txBox="1"/>
          <p:nvPr/>
        </p:nvSpPr>
        <p:spPr>
          <a:xfrm>
            <a:off x="952500" y="4419600"/>
            <a:ext cx="2286000" cy="177800"/>
          </a:xfrm>
          <a:prstGeom prst="rect">
            <a:avLst/>
          </a:prstGeom>
          <a:noFill/>
        </p:spPr>
        <p:txBody>
          <a:bodyPr wrap="square" lIns="0" rIns="0" tIns="0" bIns="0" anchor="t">
            <a:spAutoFit/>
          </a:bodyPr>
          <a:lstStyle/>
          <a:p>
            <a:pPr algn="l">
              <a:lnSpc>
                <a:spcPct val="110000"/>
              </a:lnSpc>
              <a:spcAft>
                <a:spcPts val="0"/>
              </a:spcAft>
            </a:pPr>
            <a:r>
              <a:rPr sz="1200" b="0" i="0">
                <a:solidFill>
                  <a:srgbClr val="556072"/>
                </a:solidFill>
                <a:latin typeface="Calibri"/>
              </a:rPr>
              <a:t>momentum</a:t>
            </a:r>
          </a:p>
        </p:txBody>
      </p:sp>
      <p:sp>
        <p:nvSpPr>
          <p:cNvPr id="12" name="TextBox 11"/>
          <p:cNvSpPr txBox="1"/>
          <p:nvPr/>
        </p:nvSpPr>
        <p:spPr>
          <a:xfrm>
            <a:off x="952500" y="4648200"/>
            <a:ext cx="2286000" cy="1270000"/>
          </a:xfrm>
          <a:prstGeom prst="rect">
            <a:avLst/>
          </a:prstGeom>
          <a:noFill/>
        </p:spPr>
        <p:txBody>
          <a:bodyPr wrap="square" lIns="0" rIns="0" tIns="0" bIns="0" anchor="t">
            <a:spAutoFit/>
          </a:bodyPr>
          <a:lstStyle/>
          <a:p>
            <a:pPr algn="l">
              <a:lnSpc>
                <a:spcPct val="112000"/>
              </a:lnSpc>
              <a:spcAft>
                <a:spcPts val="0"/>
              </a:spcAft>
            </a:pPr>
            <a:r>
              <a:rPr sz="1300" b="0" i="0">
                <a:solidFill>
                  <a:srgbClr val="1B2433"/>
                </a:solidFill>
                <a:latin typeface="Calibri"/>
              </a:rPr>
              <a:t>Único con señal clara (correlación 0,19). Compran con tendencia positiva y venden solo con tendencia claramente negativa.</a:t>
            </a:r>
          </a:p>
        </p:txBody>
      </p:sp>
      <p:sp>
        <p:nvSpPr>
          <p:cNvPr id="13" name="Tarjeta Browniano"/>
          <p:cNvSpPr/>
          <p:nvPr/>
        </p:nvSpPr>
        <p:spPr>
          <a:xfrm>
            <a:off x="3479800" y="4064000"/>
            <a:ext cx="2565400" cy="1905000"/>
          </a:xfrm>
          <a:prstGeom prst="roundRect">
            <a:avLst>
              <a:gd name="adj" fmla="val 5333"/>
            </a:avLst>
          </a:prstGeom>
          <a:solidFill>
            <a:srgbClr val="FBFAF6"/>
          </a:solidFill>
          <a:ln w="9525">
            <a:solidFill>
              <a:srgbClr val="DDD8C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619500" y="4178300"/>
            <a:ext cx="2286000" cy="228600"/>
          </a:xfrm>
          <a:prstGeom prst="rect">
            <a:avLst/>
          </a:prstGeom>
          <a:noFill/>
        </p:spPr>
        <p:txBody>
          <a:bodyPr wrap="square" lIns="0" rIns="0" tIns="0" bIns="0" anchor="t">
            <a:spAutoFit/>
          </a:bodyPr>
          <a:lstStyle/>
          <a:p>
            <a:pPr algn="l">
              <a:lnSpc>
                <a:spcPct val="110000"/>
              </a:lnSpc>
              <a:spcAft>
                <a:spcPts val="0"/>
              </a:spcAft>
            </a:pPr>
            <a:r>
              <a:rPr sz="1600" b="1" i="0">
                <a:solidFill>
                  <a:srgbClr val="1B2433"/>
                </a:solidFill>
                <a:latin typeface="Cambria"/>
              </a:rPr>
              <a:t>Browniano</a:t>
            </a:r>
          </a:p>
        </p:txBody>
      </p:sp>
      <p:sp>
        <p:nvSpPr>
          <p:cNvPr id="15" name="TextBox 14"/>
          <p:cNvSpPr txBox="1"/>
          <p:nvPr/>
        </p:nvSpPr>
        <p:spPr>
          <a:xfrm>
            <a:off x="3619500" y="4419600"/>
            <a:ext cx="2286000" cy="177800"/>
          </a:xfrm>
          <a:prstGeom prst="rect">
            <a:avLst/>
          </a:prstGeom>
          <a:noFill/>
        </p:spPr>
        <p:txBody>
          <a:bodyPr wrap="square" lIns="0" rIns="0" tIns="0" bIns="0" anchor="t">
            <a:spAutoFit/>
          </a:bodyPr>
          <a:lstStyle/>
          <a:p>
            <a:pPr algn="l">
              <a:lnSpc>
                <a:spcPct val="110000"/>
              </a:lnSpc>
              <a:spcAft>
                <a:spcPts val="0"/>
              </a:spcAft>
            </a:pPr>
            <a:r>
              <a:rPr sz="1200" b="0" i="0">
                <a:solidFill>
                  <a:srgbClr val="556072"/>
                </a:solidFill>
                <a:latin typeface="Calibri"/>
              </a:rPr>
              <a:t>quedarse fuera</a:t>
            </a:r>
          </a:p>
        </p:txBody>
      </p:sp>
      <p:sp>
        <p:nvSpPr>
          <p:cNvPr id="16" name="TextBox 15"/>
          <p:cNvSpPr txBox="1"/>
          <p:nvPr/>
        </p:nvSpPr>
        <p:spPr>
          <a:xfrm>
            <a:off x="3619500" y="4648200"/>
            <a:ext cx="2286000" cy="1270000"/>
          </a:xfrm>
          <a:prstGeom prst="rect">
            <a:avLst/>
          </a:prstGeom>
          <a:noFill/>
        </p:spPr>
        <p:txBody>
          <a:bodyPr wrap="square" lIns="0" rIns="0" tIns="0" bIns="0" anchor="t">
            <a:spAutoFit/>
          </a:bodyPr>
          <a:lstStyle/>
          <a:p>
            <a:pPr algn="l">
              <a:lnSpc>
                <a:spcPct val="112000"/>
              </a:lnSpc>
              <a:spcAft>
                <a:spcPts val="0"/>
              </a:spcAft>
            </a:pPr>
            <a:r>
              <a:rPr sz="1300" b="0" i="0">
                <a:solidFill>
                  <a:srgbClr val="1B2433"/>
                </a:solidFill>
                <a:latin typeface="Calibri"/>
              </a:rPr>
              <a:t>Nada que aprender y deriva logarítmica negativa. Q-Learning y SARSA no operan; Monte Carlo pierde un 1,2 % (ruido).</a:t>
            </a:r>
          </a:p>
        </p:txBody>
      </p:sp>
      <p:sp>
        <p:nvSpPr>
          <p:cNvPr id="17" name="Tarjeta Reversión a la media"/>
          <p:cNvSpPr/>
          <p:nvPr/>
        </p:nvSpPr>
        <p:spPr>
          <a:xfrm>
            <a:off x="6146800" y="4064000"/>
            <a:ext cx="2565400" cy="1905000"/>
          </a:xfrm>
          <a:prstGeom prst="roundRect">
            <a:avLst>
              <a:gd name="adj" fmla="val 5333"/>
            </a:avLst>
          </a:prstGeom>
          <a:solidFill>
            <a:srgbClr val="FBFAF6"/>
          </a:solidFill>
          <a:ln w="9525">
            <a:solidFill>
              <a:srgbClr val="DDD8C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286500" y="4178300"/>
            <a:ext cx="2286000" cy="228600"/>
          </a:xfrm>
          <a:prstGeom prst="rect">
            <a:avLst/>
          </a:prstGeom>
          <a:noFill/>
        </p:spPr>
        <p:txBody>
          <a:bodyPr wrap="square" lIns="0" rIns="0" tIns="0" bIns="0" anchor="t">
            <a:spAutoFit/>
          </a:bodyPr>
          <a:lstStyle/>
          <a:p>
            <a:pPr algn="l">
              <a:lnSpc>
                <a:spcPct val="110000"/>
              </a:lnSpc>
              <a:spcAft>
                <a:spcPts val="0"/>
              </a:spcAft>
            </a:pPr>
            <a:r>
              <a:rPr sz="1600" b="1" i="0">
                <a:solidFill>
                  <a:srgbClr val="1B2433"/>
                </a:solidFill>
                <a:latin typeface="Cambria"/>
              </a:rPr>
              <a:t>Reversión a la media</a:t>
            </a:r>
          </a:p>
        </p:txBody>
      </p:sp>
      <p:sp>
        <p:nvSpPr>
          <p:cNvPr id="19" name="TextBox 18"/>
          <p:cNvSpPr txBox="1"/>
          <p:nvPr/>
        </p:nvSpPr>
        <p:spPr>
          <a:xfrm>
            <a:off x="6286500" y="4419600"/>
            <a:ext cx="2286000" cy="177800"/>
          </a:xfrm>
          <a:prstGeom prst="rect">
            <a:avLst/>
          </a:prstGeom>
          <a:noFill/>
        </p:spPr>
        <p:txBody>
          <a:bodyPr wrap="square" lIns="0" rIns="0" tIns="0" bIns="0" anchor="t">
            <a:spAutoFit/>
          </a:bodyPr>
          <a:lstStyle/>
          <a:p>
            <a:pPr algn="l">
              <a:lnSpc>
                <a:spcPct val="110000"/>
              </a:lnSpc>
              <a:spcAft>
                <a:spcPts val="0"/>
              </a:spcAft>
            </a:pPr>
            <a:r>
              <a:rPr sz="1200" b="0" i="0">
                <a:solidFill>
                  <a:srgbClr val="556072"/>
                </a:solidFill>
                <a:latin typeface="Calibri"/>
              </a:rPr>
              <a:t>contrarian</a:t>
            </a:r>
          </a:p>
        </p:txBody>
      </p:sp>
      <p:sp>
        <p:nvSpPr>
          <p:cNvPr id="20" name="TextBox 19"/>
          <p:cNvSpPr txBox="1"/>
          <p:nvPr/>
        </p:nvSpPr>
        <p:spPr>
          <a:xfrm>
            <a:off x="6286500" y="4648200"/>
            <a:ext cx="2286000" cy="1270000"/>
          </a:xfrm>
          <a:prstGeom prst="rect">
            <a:avLst/>
          </a:prstGeom>
          <a:noFill/>
        </p:spPr>
        <p:txBody>
          <a:bodyPr wrap="square" lIns="0" rIns="0" tIns="0" bIns="0" anchor="t">
            <a:spAutoFit/>
          </a:bodyPr>
          <a:lstStyle/>
          <a:p>
            <a:pPr algn="l">
              <a:lnSpc>
                <a:spcPct val="112000"/>
              </a:lnSpc>
              <a:spcAft>
                <a:spcPts val="0"/>
              </a:spcAft>
            </a:pPr>
            <a:r>
              <a:rPr sz="1300" b="0" i="0">
                <a:solidFill>
                  <a:srgbClr val="1B2433"/>
                </a:solidFill>
                <a:latin typeface="Calibri"/>
              </a:rPr>
              <a:t>Compran tras caídas fuertes y venden al recuperarse: de +17 % a +27 %, frente a −0,5 % de </a:t>
            </a:r>
            <a:r>
              <a:rPr sz="1300" b="0" i="1">
                <a:solidFill>
                  <a:srgbClr val="1B2433"/>
                </a:solidFill>
                <a:latin typeface="Calibri"/>
              </a:rPr>
              <a:t>buy &amp; hold</a:t>
            </a:r>
            <a:r>
              <a:rPr sz="1300" b="0" i="0">
                <a:solidFill>
                  <a:srgbClr val="1B2433"/>
                </a:solidFill>
                <a:latin typeface="Calibri"/>
              </a:rPr>
              <a:t> y +7 % de la regla.</a:t>
            </a:r>
          </a:p>
        </p:txBody>
      </p:sp>
      <p:sp>
        <p:nvSpPr>
          <p:cNvPr id="21" name="Tarjeta Regímenes"/>
          <p:cNvSpPr/>
          <p:nvPr/>
        </p:nvSpPr>
        <p:spPr>
          <a:xfrm>
            <a:off x="8813800" y="4064000"/>
            <a:ext cx="2565400" cy="1905000"/>
          </a:xfrm>
          <a:prstGeom prst="roundRect">
            <a:avLst>
              <a:gd name="adj" fmla="val 5333"/>
            </a:avLst>
          </a:prstGeom>
          <a:solidFill>
            <a:srgbClr val="FBFAF6"/>
          </a:solidFill>
          <a:ln w="9525">
            <a:solidFill>
              <a:srgbClr val="DDD8C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953500" y="4178300"/>
            <a:ext cx="2286000" cy="228600"/>
          </a:xfrm>
          <a:prstGeom prst="rect">
            <a:avLst/>
          </a:prstGeom>
          <a:noFill/>
        </p:spPr>
        <p:txBody>
          <a:bodyPr wrap="square" lIns="0" rIns="0" tIns="0" bIns="0" anchor="t">
            <a:spAutoFit/>
          </a:bodyPr>
          <a:lstStyle/>
          <a:p>
            <a:pPr algn="l">
              <a:lnSpc>
                <a:spcPct val="110000"/>
              </a:lnSpc>
              <a:spcAft>
                <a:spcPts val="0"/>
              </a:spcAft>
            </a:pPr>
            <a:r>
              <a:rPr sz="1600" b="1" i="0">
                <a:solidFill>
                  <a:srgbClr val="1B2433"/>
                </a:solidFill>
                <a:latin typeface="Cambria"/>
              </a:rPr>
              <a:t>Regímenes</a:t>
            </a:r>
          </a:p>
        </p:txBody>
      </p:sp>
      <p:sp>
        <p:nvSpPr>
          <p:cNvPr id="23" name="TextBox 22"/>
          <p:cNvSpPr txBox="1"/>
          <p:nvPr/>
        </p:nvSpPr>
        <p:spPr>
          <a:xfrm>
            <a:off x="8953500" y="4419600"/>
            <a:ext cx="2286000" cy="177800"/>
          </a:xfrm>
          <a:prstGeom prst="rect">
            <a:avLst/>
          </a:prstGeom>
          <a:noFill/>
        </p:spPr>
        <p:txBody>
          <a:bodyPr wrap="square" lIns="0" rIns="0" tIns="0" bIns="0" anchor="t">
            <a:spAutoFit/>
          </a:bodyPr>
          <a:lstStyle/>
          <a:p>
            <a:pPr algn="l">
              <a:lnSpc>
                <a:spcPct val="110000"/>
              </a:lnSpc>
              <a:spcAft>
                <a:spcPts val="0"/>
              </a:spcAft>
            </a:pPr>
            <a:r>
              <a:rPr sz="1200" b="0" i="0">
                <a:solidFill>
                  <a:srgbClr val="556072"/>
                </a:solidFill>
                <a:latin typeface="Calibri"/>
              </a:rPr>
              <a:t>salir ante movimientos bruscos</a:t>
            </a:r>
          </a:p>
        </p:txBody>
      </p:sp>
      <p:sp>
        <p:nvSpPr>
          <p:cNvPr id="24" name="TextBox 23"/>
          <p:cNvSpPr txBox="1"/>
          <p:nvPr/>
        </p:nvSpPr>
        <p:spPr>
          <a:xfrm>
            <a:off x="8953500" y="4648200"/>
            <a:ext cx="2286000" cy="1270000"/>
          </a:xfrm>
          <a:prstGeom prst="rect">
            <a:avLst/>
          </a:prstGeom>
          <a:noFill/>
        </p:spPr>
        <p:txBody>
          <a:bodyPr wrap="square" lIns="0" rIns="0" tIns="0" bIns="0" anchor="t">
            <a:spAutoFit/>
          </a:bodyPr>
          <a:lstStyle/>
          <a:p>
            <a:pPr algn="l">
              <a:lnSpc>
                <a:spcPct val="112000"/>
              </a:lnSpc>
              <a:spcAft>
                <a:spcPts val="0"/>
              </a:spcAft>
            </a:pPr>
            <a:r>
              <a:rPr sz="1300" b="0" i="0">
                <a:solidFill>
                  <a:srgbClr val="1B2433"/>
                </a:solidFill>
                <a:latin typeface="Calibri"/>
              </a:rPr>
              <a:t>El más difícil: solo se sale ante movimientos muy bruscos. Q-Learning y MC, 3–4 %; SARSA no opera; </a:t>
            </a:r>
            <a:r>
              <a:rPr sz="1300" b="0" i="1">
                <a:solidFill>
                  <a:srgbClr val="1B2433"/>
                </a:solidFill>
                <a:latin typeface="Calibri"/>
              </a:rPr>
              <a:t>buy &amp; hold</a:t>
            </a:r>
            <a:r>
              <a:rPr sz="1300" b="0" i="0">
                <a:solidFill>
                  <a:srgbClr val="1B2433"/>
                </a:solidFill>
                <a:latin typeface="Calibri"/>
              </a:rPr>
              <a:t>, −12 %.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itle 1"/>
          <p:cNvSpPr>
            <a:spLocks noGrp="1"/>
          </p:cNvSpPr>
          <p:nvPr>
            <p:ph type="title"/>
          </p:nvPr>
        </p:nvSpPr>
        <p:spPr>
          <a:xfrm>
            <a:off x="812800" y="812800"/>
            <a:ext cx="10566400" cy="546100"/>
          </a:xfrm>
        </p:spPr>
        <p:txBody>
          <a:bodyPr wrap="square" lIns="0" rIns="0" tIns="0" bIns="0" anchor="t"/>
          <a:lstStyle/>
          <a:p>
            <a:pPr algn="l"/>
            <a:r>
              <a:rPr sz="3200" b="1" i="0">
                <a:solidFill>
                  <a:srgbClr val="1B2433"/>
                </a:solidFill>
                <a:latin typeface="Cambria"/>
              </a:rPr>
              <a:t>Hiperparámetros</a:t>
            </a:r>
          </a:p>
        </p:txBody>
      </p:sp>
      <p:sp>
        <p:nvSpPr>
          <p:cNvPr id="3" name="Sección"/>
          <p:cNvSpPr txBox="1"/>
          <p:nvPr/>
        </p:nvSpPr>
        <p:spPr>
          <a:xfrm>
            <a:off x="812800" y="533400"/>
            <a:ext cx="10566400" cy="215900"/>
          </a:xfrm>
          <a:prstGeom prst="rect">
            <a:avLst/>
          </a:prstGeom>
          <a:noFill/>
        </p:spPr>
        <p:txBody>
          <a:bodyPr wrap="square" lIns="0" rIns="0" tIns="0" bIns="0" anchor="t">
            <a:spAutoFit/>
          </a:bodyPr>
          <a:lstStyle/>
          <a:p>
            <a:pPr algn="l">
              <a:lnSpc>
                <a:spcPct val="110000"/>
              </a:lnSpc>
              <a:spcAft>
                <a:spcPts val="0"/>
              </a:spcAft>
            </a:pPr>
            <a:r>
              <a:rPr sz="1200" b="1" i="0" spc="150">
                <a:solidFill>
                  <a:srgbClr val="556072"/>
                </a:solidFill>
                <a:latin typeface="Calibri"/>
              </a:rPr>
              <a:t>3 · ANÁLISIS</a:t>
            </a:r>
          </a:p>
        </p:txBody>
      </p:sp>
      <p:sp>
        <p:nvSpPr>
          <p:cNvPr id="4" name="Pie"/>
          <p:cNvSpPr txBox="1"/>
          <p:nvPr/>
        </p:nvSpPr>
        <p:spPr>
          <a:xfrm>
            <a:off x="812800" y="6350000"/>
            <a:ext cx="7620000" cy="190500"/>
          </a:xfrm>
          <a:prstGeom prst="rect">
            <a:avLst/>
          </a:prstGeom>
          <a:noFill/>
        </p:spPr>
        <p:txBody>
          <a:bodyPr wrap="square" lIns="0" rIns="0" tIns="0" bIns="0" anchor="t">
            <a:spAutoFit/>
          </a:bodyPr>
          <a:lstStyle/>
          <a:p>
            <a:pPr algn="l">
              <a:lnSpc>
                <a:spcPct val="110000"/>
              </a:lnSpc>
              <a:spcAft>
                <a:spcPts val="0"/>
              </a:spcAft>
            </a:pPr>
            <a:r>
              <a:rPr sz="1200" b="0" i="0">
                <a:solidFill>
                  <a:srgbClr val="556072"/>
                </a:solidFill>
                <a:latin typeface="Calibri"/>
              </a:rPr>
              <a:t>Agente de trading con RL tabular · MIAX-14</a:t>
            </a:r>
          </a:p>
        </p:txBody>
      </p:sp>
      <p:sp>
        <p:nvSpPr>
          <p:cNvPr id="5" name="Número de diapositiva"/>
          <p:cNvSpPr txBox="1"/>
          <p:nvPr/>
        </p:nvSpPr>
        <p:spPr>
          <a:xfrm>
            <a:off x="9855200" y="6350000"/>
            <a:ext cx="1524000" cy="190500"/>
          </a:xfrm>
          <a:prstGeom prst="rect">
            <a:avLst/>
          </a:prstGeom>
          <a:noFill/>
        </p:spPr>
        <p:txBody>
          <a:bodyPr wrap="square" lIns="0" rIns="0" tIns="0" bIns="0" anchor="t">
            <a:spAutoFit/>
          </a:bodyPr>
          <a:lstStyle/>
          <a:p>
            <a:pPr algn="r">
              <a:lnSpc>
                <a:spcPct val="110000"/>
              </a:lnSpc>
              <a:spcAft>
                <a:spcPts val="0"/>
              </a:spcAft>
            </a:pPr>
            <a:fld id="{B6F15528-21DE-4FAA-801E-634DDDAF4B2B}" type="slidenum">
              <a:rPr lang="es-ES" sz="1200">
                <a:solidFill>
                  <a:srgbClr val="556072"/>
                </a:solidFill>
                <a:latin typeface="Calibri"/>
              </a:rPr>
              <a:t>‹#›</a:t>
            </a:fld>
          </a:p>
        </p:txBody>
      </p:sp>
      <p:sp>
        <p:nvSpPr>
          <p:cNvPr id="6" name="Tarjeta α ≥ 0,05"/>
          <p:cNvSpPr/>
          <p:nvPr/>
        </p:nvSpPr>
        <p:spPr>
          <a:xfrm>
            <a:off x="812800" y="1587500"/>
            <a:ext cx="5181600" cy="2794000"/>
          </a:xfrm>
          <a:prstGeom prst="roundRect">
            <a:avLst>
              <a:gd name="adj" fmla="val 3636"/>
            </a:avLst>
          </a:prstGeom>
          <a:solidFill>
            <a:srgbClr val="FBFAF6"/>
          </a:solidFill>
          <a:ln w="9525">
            <a:solidFill>
              <a:srgbClr val="DDD8C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16000" y="1752600"/>
            <a:ext cx="4762500" cy="190500"/>
          </a:xfrm>
          <a:prstGeom prst="rect">
            <a:avLst/>
          </a:prstGeom>
          <a:noFill/>
        </p:spPr>
        <p:txBody>
          <a:bodyPr wrap="square" lIns="0" rIns="0" tIns="0" bIns="0" anchor="t">
            <a:spAutoFit/>
          </a:bodyPr>
          <a:lstStyle/>
          <a:p>
            <a:pPr algn="l">
              <a:lnSpc>
                <a:spcPct val="110000"/>
              </a:lnSpc>
              <a:spcAft>
                <a:spcPts val="0"/>
              </a:spcAft>
            </a:pPr>
            <a:r>
              <a:rPr sz="1200" b="1" i="0">
                <a:solidFill>
                  <a:srgbClr val="556072"/>
                </a:solidFill>
                <a:latin typeface="Calibri"/>
              </a:rPr>
              <a:t>El que más influye</a:t>
            </a:r>
          </a:p>
        </p:txBody>
      </p:sp>
      <p:sp>
        <p:nvSpPr>
          <p:cNvPr id="8" name="TextBox 7"/>
          <p:cNvSpPr txBox="1"/>
          <p:nvPr/>
        </p:nvSpPr>
        <p:spPr>
          <a:xfrm>
            <a:off x="1016000" y="1981200"/>
            <a:ext cx="4762500" cy="635000"/>
          </a:xfrm>
          <a:prstGeom prst="rect">
            <a:avLst/>
          </a:prstGeom>
          <a:noFill/>
        </p:spPr>
        <p:txBody>
          <a:bodyPr wrap="square" lIns="0" rIns="0" tIns="0" bIns="0" anchor="t">
            <a:spAutoFit/>
          </a:bodyPr>
          <a:lstStyle/>
          <a:p>
            <a:pPr algn="l">
              <a:lnSpc>
                <a:spcPct val="110000"/>
              </a:lnSpc>
              <a:spcAft>
                <a:spcPts val="0"/>
              </a:spcAft>
            </a:pPr>
            <a:r>
              <a:rPr sz="4400" b="1" i="0">
                <a:solidFill>
                  <a:srgbClr val="1B2433"/>
                </a:solidFill>
                <a:latin typeface="Cambria"/>
              </a:rPr>
              <a:t>α ≥ 0,05</a:t>
            </a:r>
          </a:p>
        </p:txBody>
      </p:sp>
      <p:sp>
        <p:nvSpPr>
          <p:cNvPr id="9" name="TextBox 8"/>
          <p:cNvSpPr txBox="1"/>
          <p:nvPr/>
        </p:nvSpPr>
        <p:spPr>
          <a:xfrm>
            <a:off x="1016000" y="2730500"/>
            <a:ext cx="4775200" cy="1587500"/>
          </a:xfrm>
          <a:prstGeom prst="rect">
            <a:avLst/>
          </a:prstGeom>
          <a:noFill/>
        </p:spPr>
        <p:txBody>
          <a:bodyPr wrap="square" lIns="0" rIns="0" tIns="0" bIns="0" anchor="t">
            <a:spAutoFit/>
          </a:bodyPr>
          <a:lstStyle/>
          <a:p>
            <a:pPr algn="l">
              <a:lnSpc>
                <a:spcPct val="115000"/>
              </a:lnSpc>
              <a:spcAft>
                <a:spcPts val="0"/>
              </a:spcAft>
            </a:pPr>
            <a:r>
              <a:rPr sz="1600" b="0" i="0">
                <a:solidFill>
                  <a:srgbClr val="1B2433"/>
                </a:solidFill>
                <a:latin typeface="Calibri"/>
              </a:rPr>
              <a:t>y la mayoría de los agentes de reversión y regímenes acaban sin operar. La recompensa de cada paso es casi todo ruido: el precio se mueve un 1–10 % por paso y la señal es de décimas de punto.</a:t>
            </a:r>
          </a:p>
        </p:txBody>
      </p:sp>
      <p:sp>
        <p:nvSpPr>
          <p:cNvPr id="10" name="Tarjeta 3–7,5×"/>
          <p:cNvSpPr/>
          <p:nvPr/>
        </p:nvSpPr>
        <p:spPr>
          <a:xfrm>
            <a:off x="6197600" y="1587500"/>
            <a:ext cx="5181600" cy="2794000"/>
          </a:xfrm>
          <a:prstGeom prst="roundRect">
            <a:avLst>
              <a:gd name="adj" fmla="val 3636"/>
            </a:avLst>
          </a:prstGeom>
          <a:solidFill>
            <a:srgbClr val="FBFAF6"/>
          </a:solidFill>
          <a:ln w="9525">
            <a:solidFill>
              <a:srgbClr val="DDD8C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400800" y="1752600"/>
            <a:ext cx="4762500" cy="190500"/>
          </a:xfrm>
          <a:prstGeom prst="rect">
            <a:avLst/>
          </a:prstGeom>
          <a:noFill/>
        </p:spPr>
        <p:txBody>
          <a:bodyPr wrap="square" lIns="0" rIns="0" tIns="0" bIns="0" anchor="t">
            <a:spAutoFit/>
          </a:bodyPr>
          <a:lstStyle/>
          <a:p>
            <a:pPr algn="l">
              <a:lnSpc>
                <a:spcPct val="110000"/>
              </a:lnSpc>
              <a:spcAft>
                <a:spcPts val="0"/>
              </a:spcAft>
            </a:pPr>
            <a:r>
              <a:rPr sz="1200" b="1" i="0">
                <a:solidFill>
                  <a:srgbClr val="556072"/>
                </a:solidFill>
                <a:latin typeface="Calibri"/>
              </a:rPr>
              <a:t>Con γ los algoritmos no coinciden</a:t>
            </a:r>
          </a:p>
        </p:txBody>
      </p:sp>
      <p:sp>
        <p:nvSpPr>
          <p:cNvPr id="12" name="TextBox 11"/>
          <p:cNvSpPr txBox="1"/>
          <p:nvPr/>
        </p:nvSpPr>
        <p:spPr>
          <a:xfrm>
            <a:off x="6400800" y="1981200"/>
            <a:ext cx="4762500" cy="635000"/>
          </a:xfrm>
          <a:prstGeom prst="rect">
            <a:avLst/>
          </a:prstGeom>
          <a:noFill/>
        </p:spPr>
        <p:txBody>
          <a:bodyPr wrap="square" lIns="0" rIns="0" tIns="0" bIns="0" anchor="t">
            <a:spAutoFit/>
          </a:bodyPr>
          <a:lstStyle/>
          <a:p>
            <a:pPr algn="l">
              <a:lnSpc>
                <a:spcPct val="110000"/>
              </a:lnSpc>
              <a:spcAft>
                <a:spcPts val="0"/>
              </a:spcAft>
            </a:pPr>
            <a:r>
              <a:rPr sz="4400" b="1" i="0">
                <a:solidFill>
                  <a:srgbClr val="1B2433"/>
                </a:solidFill>
                <a:latin typeface="Cambria"/>
              </a:rPr>
              <a:t>3–7,5×</a:t>
            </a:r>
          </a:p>
        </p:txBody>
      </p:sp>
      <p:sp>
        <p:nvSpPr>
          <p:cNvPr id="13" name="TextBox 12"/>
          <p:cNvSpPr txBox="1"/>
          <p:nvPr/>
        </p:nvSpPr>
        <p:spPr>
          <a:xfrm>
            <a:off x="6400800" y="2730500"/>
            <a:ext cx="4775200" cy="1587500"/>
          </a:xfrm>
          <a:prstGeom prst="rect">
            <a:avLst/>
          </a:prstGeom>
          <a:noFill/>
        </p:spPr>
        <p:txBody>
          <a:bodyPr wrap="square" lIns="0" rIns="0" tIns="0" bIns="0" anchor="t">
            <a:spAutoFit/>
          </a:bodyPr>
          <a:lstStyle/>
          <a:p>
            <a:pPr algn="l">
              <a:lnSpc>
                <a:spcPct val="115000"/>
              </a:lnSpc>
              <a:spcAft>
                <a:spcPts val="0"/>
              </a:spcAft>
            </a:pPr>
            <a:r>
              <a:rPr sz="1600" b="0" i="0">
                <a:solidFill>
                  <a:srgbClr val="1B2433"/>
                </a:solidFill>
                <a:latin typeface="Calibri"/>
              </a:rPr>
              <a:t>más ruidoso es el retorno completo que una recompensa suelta con γ = 0,99, la desventaja de MC frente a TD. Por eso Monte Carlo prefiere γ = 0 en tres de los cuatro mercados; Q-Learning necesita 0,99 en reversión y regímenes.</a:t>
            </a:r>
          </a:p>
        </p:txBody>
      </p:sp>
      <p:sp>
        <p:nvSpPr>
          <p:cNvPr id="14" name="Banner"/>
          <p:cNvSpPr/>
          <p:nvPr/>
        </p:nvSpPr>
        <p:spPr>
          <a:xfrm>
            <a:off x="812800" y="4584700"/>
            <a:ext cx="10566400" cy="1206500"/>
          </a:xfrm>
          <a:prstGeom prst="roundRect">
            <a:avLst>
              <a:gd name="adj" fmla="val 8421"/>
            </a:avLst>
          </a:prstGeom>
          <a:solidFill>
            <a:srgbClr val="101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066800" y="4711700"/>
            <a:ext cx="10058400" cy="952500"/>
          </a:xfrm>
          <a:prstGeom prst="rect">
            <a:avLst/>
          </a:prstGeom>
          <a:noFill/>
        </p:spPr>
        <p:txBody>
          <a:bodyPr wrap="square" lIns="0" rIns="0" tIns="0" bIns="0" anchor="ctr">
            <a:spAutoFit/>
          </a:bodyPr>
          <a:lstStyle/>
          <a:p>
            <a:pPr algn="l">
              <a:lnSpc>
                <a:spcPct val="115000"/>
              </a:lnSpc>
              <a:spcAft>
                <a:spcPts val="0"/>
              </a:spcAft>
            </a:pPr>
            <a:r>
              <a:rPr sz="1600" b="0" i="0">
                <a:solidFill>
                  <a:srgbClr val="F5F3EC"/>
                </a:solidFill>
                <a:latin typeface="Calibri"/>
              </a:rPr>
              <a:t>Con γ = 0 no se pierde la histéresis, porque ya la crea la comisión: el agente compra si espera ganar más que ella y vende si espera perder más. El número de intervalos y el calendario de ε importan bastante menos, y en Monte Carlo </a:t>
            </a:r>
            <a:r>
              <a:rPr sz="1600" b="0" i="1">
                <a:solidFill>
                  <a:srgbClr val="F5F3EC"/>
                </a:solidFill>
                <a:latin typeface="Calibri"/>
              </a:rPr>
              <a:t>every-visit</a:t>
            </a:r>
            <a:r>
              <a:rPr sz="1600" b="0" i="0">
                <a:solidFill>
                  <a:srgbClr val="F5F3EC"/>
                </a:solidFill>
                <a:latin typeface="Calibri"/>
              </a:rPr>
              <a:t> funciona mejor que </a:t>
            </a:r>
            <a:r>
              <a:rPr sz="1600" b="0" i="1">
                <a:solidFill>
                  <a:srgbClr val="F5F3EC"/>
                </a:solidFill>
                <a:latin typeface="Calibri"/>
              </a:rPr>
              <a:t>first-visit</a:t>
            </a:r>
            <a:r>
              <a:rPr sz="1600" b="0" i="0">
                <a:solidFill>
                  <a:srgbClr val="F5F3EC"/>
                </a:solidFill>
                <a:latin typeface="Calibri"/>
              </a:rPr>
              <a: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itle 1"/>
          <p:cNvSpPr>
            <a:spLocks noGrp="1"/>
          </p:cNvSpPr>
          <p:nvPr>
            <p:ph type="title"/>
          </p:nvPr>
        </p:nvSpPr>
        <p:spPr>
          <a:xfrm>
            <a:off x="812800" y="812800"/>
            <a:ext cx="10566400" cy="546100"/>
          </a:xfrm>
        </p:spPr>
        <p:txBody>
          <a:bodyPr wrap="square" lIns="0" rIns="0" tIns="0" bIns="0" anchor="t"/>
          <a:lstStyle/>
          <a:p>
            <a:pPr algn="l"/>
            <a:r>
              <a:rPr sz="3200" b="1" i="0">
                <a:solidFill>
                  <a:srgbClr val="1B2433"/>
                </a:solidFill>
                <a:latin typeface="Cambria"/>
              </a:rPr>
              <a:t>Experimentos de control y extensiones</a:t>
            </a:r>
          </a:p>
        </p:txBody>
      </p:sp>
      <p:sp>
        <p:nvSpPr>
          <p:cNvPr id="3" name="Sección"/>
          <p:cNvSpPr txBox="1"/>
          <p:nvPr/>
        </p:nvSpPr>
        <p:spPr>
          <a:xfrm>
            <a:off x="812800" y="533400"/>
            <a:ext cx="10566400" cy="215900"/>
          </a:xfrm>
          <a:prstGeom prst="rect">
            <a:avLst/>
          </a:prstGeom>
          <a:noFill/>
        </p:spPr>
        <p:txBody>
          <a:bodyPr wrap="square" lIns="0" rIns="0" tIns="0" bIns="0" anchor="t">
            <a:spAutoFit/>
          </a:bodyPr>
          <a:lstStyle/>
          <a:p>
            <a:pPr algn="l">
              <a:lnSpc>
                <a:spcPct val="110000"/>
              </a:lnSpc>
              <a:spcAft>
                <a:spcPts val="0"/>
              </a:spcAft>
            </a:pPr>
            <a:r>
              <a:rPr sz="1200" b="1" i="0" spc="150">
                <a:solidFill>
                  <a:srgbClr val="556072"/>
                </a:solidFill>
                <a:latin typeface="Calibri"/>
              </a:rPr>
              <a:t>3 · ANÁLISIS · LOG-RETORNO MEDIO EN TEST</a:t>
            </a:r>
          </a:p>
        </p:txBody>
      </p:sp>
      <p:sp>
        <p:nvSpPr>
          <p:cNvPr id="4" name="Pie"/>
          <p:cNvSpPr txBox="1"/>
          <p:nvPr/>
        </p:nvSpPr>
        <p:spPr>
          <a:xfrm>
            <a:off x="812800" y="6350000"/>
            <a:ext cx="7620000" cy="190500"/>
          </a:xfrm>
          <a:prstGeom prst="rect">
            <a:avLst/>
          </a:prstGeom>
          <a:noFill/>
        </p:spPr>
        <p:txBody>
          <a:bodyPr wrap="square" lIns="0" rIns="0" tIns="0" bIns="0" anchor="t">
            <a:spAutoFit/>
          </a:bodyPr>
          <a:lstStyle/>
          <a:p>
            <a:pPr algn="l">
              <a:lnSpc>
                <a:spcPct val="110000"/>
              </a:lnSpc>
              <a:spcAft>
                <a:spcPts val="0"/>
              </a:spcAft>
            </a:pPr>
            <a:r>
              <a:rPr sz="1200" b="0" i="0">
                <a:solidFill>
                  <a:srgbClr val="556072"/>
                </a:solidFill>
                <a:latin typeface="Calibri"/>
              </a:rPr>
              <a:t>Agente de trading con RL tabular · MIAX-14</a:t>
            </a:r>
          </a:p>
        </p:txBody>
      </p:sp>
      <p:sp>
        <p:nvSpPr>
          <p:cNvPr id="5" name="Número de diapositiva"/>
          <p:cNvSpPr txBox="1"/>
          <p:nvPr/>
        </p:nvSpPr>
        <p:spPr>
          <a:xfrm>
            <a:off x="9855200" y="6350000"/>
            <a:ext cx="1524000" cy="190500"/>
          </a:xfrm>
          <a:prstGeom prst="rect">
            <a:avLst/>
          </a:prstGeom>
          <a:noFill/>
        </p:spPr>
        <p:txBody>
          <a:bodyPr wrap="square" lIns="0" rIns="0" tIns="0" bIns="0" anchor="t">
            <a:spAutoFit/>
          </a:bodyPr>
          <a:lstStyle/>
          <a:p>
            <a:pPr algn="r">
              <a:lnSpc>
                <a:spcPct val="110000"/>
              </a:lnSpc>
              <a:spcAft>
                <a:spcPts val="0"/>
              </a:spcAft>
            </a:pPr>
            <a:fld id="{B6F15528-21DE-4FAA-801E-634DDDAF4B2B}" type="slidenum">
              <a:rPr lang="es-ES" sz="1200">
                <a:solidFill>
                  <a:srgbClr val="556072"/>
                </a:solidFill>
                <a:latin typeface="Calibri"/>
              </a:rPr>
              <a:t>‹#›</a:t>
            </a:fld>
          </a:p>
        </p:txBody>
      </p:sp>
      <p:graphicFrame>
        <p:nvGraphicFramePr>
          <p:cNvPr id="6" name="Tabla"/>
          <p:cNvGraphicFramePr>
            <a:graphicFrameLocks noGrp="1"/>
          </p:cNvGraphicFramePr>
          <p:nvPr/>
        </p:nvGraphicFramePr>
        <p:xfrm>
          <a:off x="812800" y="1587500"/>
          <a:ext cx="10566400" cy="2755900"/>
        </p:xfrm>
        <a:graphic>
          <a:graphicData uri="http://schemas.openxmlformats.org/drawingml/2006/table">
            <a:tbl>
              <a:tblPr firstRow="1">
                <a:tableStyleId>{2D5ABB26-0587-4C30-8999-92F81FD0307C}</a:tableStyleId>
              </a:tblPr>
              <a:tblGrid>
                <a:gridCol w="4229100"/>
                <a:gridCol w="1581150"/>
                <a:gridCol w="1581150"/>
                <a:gridCol w="1587500"/>
                <a:gridCol w="1587500"/>
              </a:tblGrid>
              <a:tr h="444500">
                <a:tc>
                  <a:txBody>
                    <a:bodyPr/>
                    <a:lstStyle/>
                    <a:p>
                      <a:pPr algn="l"/>
                      <a:r>
                        <a:rPr sz="1200" b="1" i="0">
                          <a:solidFill>
                            <a:srgbClr val="1B2433"/>
                          </a:solidFill>
                          <a:latin typeface="Calibri"/>
                        </a:rPr>
                        <a:t>Variante</a:t>
                      </a:r>
                    </a:p>
                  </a:txBody>
                  <a:tcPr marL="91440" marR="91440" marT="36576" marB="36576" anchor="ctr">
                    <a:lnB w="9525" cap="flat" cmpd="sng" algn="ctr">
                      <a:solidFill>
                        <a:srgbClr val="DDD8C9"/>
                      </a:solidFill>
                      <a:prstDash val="solid"/>
                    </a:lnB>
                    <a:solidFill>
                      <a:srgbClr val="E4E0D2"/>
                    </a:solidFill>
                  </a:tcPr>
                </a:tc>
                <a:tc>
                  <a:txBody>
                    <a:bodyPr/>
                    <a:lstStyle/>
                    <a:p>
                      <a:pPr algn="r"/>
                      <a:r>
                        <a:rPr sz="1200" b="1" i="0">
                          <a:solidFill>
                            <a:srgbClr val="1B2433"/>
                          </a:solidFill>
                          <a:latin typeface="Calibri"/>
                        </a:rPr>
                        <a:t>Tendencia + ciclo</a:t>
                      </a:r>
                    </a:p>
                  </a:txBody>
                  <a:tcPr marL="91440" marR="91440" marT="36576" marB="36576" anchor="ctr">
                    <a:lnB w="9525" cap="flat" cmpd="sng" algn="ctr">
                      <a:solidFill>
                        <a:srgbClr val="DDD8C9"/>
                      </a:solidFill>
                      <a:prstDash val="solid"/>
                    </a:lnB>
                    <a:solidFill>
                      <a:srgbClr val="E4E0D2"/>
                    </a:solidFill>
                  </a:tcPr>
                </a:tc>
                <a:tc>
                  <a:txBody>
                    <a:bodyPr/>
                    <a:lstStyle/>
                    <a:p>
                      <a:pPr algn="r"/>
                      <a:r>
                        <a:rPr sz="1200" b="1" i="0">
                          <a:solidFill>
                            <a:srgbClr val="1B2433"/>
                          </a:solidFill>
                          <a:latin typeface="Calibri"/>
                        </a:rPr>
                        <a:t>Browniano</a:t>
                      </a:r>
                    </a:p>
                  </a:txBody>
                  <a:tcPr marL="91440" marR="91440" marT="36576" marB="36576" anchor="ctr">
                    <a:lnB w="9525" cap="flat" cmpd="sng" algn="ctr">
                      <a:solidFill>
                        <a:srgbClr val="DDD8C9"/>
                      </a:solidFill>
                      <a:prstDash val="solid"/>
                    </a:lnB>
                    <a:solidFill>
                      <a:srgbClr val="E4E0D2"/>
                    </a:solidFill>
                  </a:tcPr>
                </a:tc>
                <a:tc>
                  <a:txBody>
                    <a:bodyPr/>
                    <a:lstStyle/>
                    <a:p>
                      <a:pPr algn="r"/>
                      <a:r>
                        <a:rPr sz="1200" b="1" i="0">
                          <a:solidFill>
                            <a:srgbClr val="1B2433"/>
                          </a:solidFill>
                          <a:latin typeface="Calibri"/>
                        </a:rPr>
                        <a:t>Reversión a la media</a:t>
                      </a:r>
                    </a:p>
                  </a:txBody>
                  <a:tcPr marL="91440" marR="91440" marT="36576" marB="36576" anchor="ctr">
                    <a:lnB w="9525" cap="flat" cmpd="sng" algn="ctr">
                      <a:solidFill>
                        <a:srgbClr val="DDD8C9"/>
                      </a:solidFill>
                      <a:prstDash val="solid"/>
                    </a:lnB>
                    <a:solidFill>
                      <a:srgbClr val="E4E0D2"/>
                    </a:solidFill>
                  </a:tcPr>
                </a:tc>
                <a:tc>
                  <a:txBody>
                    <a:bodyPr/>
                    <a:lstStyle/>
                    <a:p>
                      <a:pPr algn="r"/>
                      <a:r>
                        <a:rPr sz="1200" b="1" i="0">
                          <a:solidFill>
                            <a:srgbClr val="1B2433"/>
                          </a:solidFill>
                          <a:latin typeface="Calibri"/>
                        </a:rPr>
                        <a:t>Regímenes</a:t>
                      </a:r>
                    </a:p>
                  </a:txBody>
                  <a:tcPr marL="91440" marR="91440" marT="36576" marB="36576" anchor="ctr">
                    <a:lnB w="9525" cap="flat" cmpd="sng" algn="ctr">
                      <a:solidFill>
                        <a:srgbClr val="DDD8C9"/>
                      </a:solidFill>
                      <a:prstDash val="solid"/>
                    </a:lnB>
                    <a:solidFill>
                      <a:srgbClr val="E4E0D2"/>
                    </a:solidFill>
                  </a:tcPr>
                </a:tc>
              </a:tr>
              <a:tr h="330200">
                <a:tc>
                  <a:txBody>
                    <a:bodyPr/>
                    <a:lstStyle/>
                    <a:p>
                      <a:pPr algn="l"/>
                      <a:r>
                        <a:rPr sz="1200" b="0" i="0">
                          <a:solidFill>
                            <a:srgbClr val="1B2433"/>
                          </a:solidFill>
                          <a:latin typeface="Calibri"/>
                        </a:rPr>
                        <a:t>Q-Learning (base)</a:t>
                      </a:r>
                    </a:p>
                  </a:txBody>
                  <a:tcPr marL="91440" marR="91440" marT="36576" marB="36576" anchor="ctr">
                    <a:lnB w="9525" cap="flat" cmpd="sng" algn="ctr">
                      <a:solidFill>
                        <a:srgbClr val="DDD8C9"/>
                      </a:solidFill>
                      <a:prstDash val="solid"/>
                    </a:lnB>
                    <a:solidFill>
                      <a:srgbClr val="E3EEFA"/>
                    </a:solidFill>
                  </a:tcPr>
                </a:tc>
                <a:tc>
                  <a:txBody>
                    <a:bodyPr/>
                    <a:lstStyle/>
                    <a:p>
                      <a:pPr algn="r"/>
                      <a:r>
                        <a:rPr sz="1200" b="0" i="0">
                          <a:solidFill>
                            <a:srgbClr val="1B2433"/>
                          </a:solidFill>
                          <a:latin typeface="Calibri"/>
                        </a:rPr>
                        <a:t>+6,338</a:t>
                      </a:r>
                    </a:p>
                  </a:txBody>
                  <a:tcPr marL="91440" marR="91440" marT="36576" marB="36576" anchor="ctr">
                    <a:lnB w="9525" cap="flat" cmpd="sng" algn="ctr">
                      <a:solidFill>
                        <a:srgbClr val="DDD8C9"/>
                      </a:solidFill>
                      <a:prstDash val="solid"/>
                    </a:lnB>
                    <a:solidFill>
                      <a:srgbClr val="E3EEFA"/>
                    </a:solidFill>
                  </a:tcPr>
                </a:tc>
                <a:tc>
                  <a:txBody>
                    <a:bodyPr/>
                    <a:lstStyle/>
                    <a:p>
                      <a:pPr algn="r"/>
                      <a:r>
                        <a:rPr sz="1200" b="0" i="0">
                          <a:solidFill>
                            <a:srgbClr val="1B2433"/>
                          </a:solidFill>
                          <a:latin typeface="Calibri"/>
                        </a:rPr>
                        <a:t>+0,000</a:t>
                      </a:r>
                    </a:p>
                  </a:txBody>
                  <a:tcPr marL="91440" marR="91440" marT="36576" marB="36576" anchor="ctr">
                    <a:lnB w="9525" cap="flat" cmpd="sng" algn="ctr">
                      <a:solidFill>
                        <a:srgbClr val="DDD8C9"/>
                      </a:solidFill>
                      <a:prstDash val="solid"/>
                    </a:lnB>
                    <a:solidFill>
                      <a:srgbClr val="E3EEFA"/>
                    </a:solidFill>
                  </a:tcPr>
                </a:tc>
                <a:tc>
                  <a:txBody>
                    <a:bodyPr/>
                    <a:lstStyle/>
                    <a:p>
                      <a:pPr algn="r"/>
                      <a:r>
                        <a:rPr sz="1200" b="0" i="0">
                          <a:solidFill>
                            <a:srgbClr val="1B2433"/>
                          </a:solidFill>
                          <a:latin typeface="Calibri"/>
                        </a:rPr>
                        <a:t>+0,155</a:t>
                      </a:r>
                    </a:p>
                  </a:txBody>
                  <a:tcPr marL="91440" marR="91440" marT="36576" marB="36576" anchor="ctr">
                    <a:lnB w="9525" cap="flat" cmpd="sng" algn="ctr">
                      <a:solidFill>
                        <a:srgbClr val="DDD8C9"/>
                      </a:solidFill>
                      <a:prstDash val="solid"/>
                    </a:lnB>
                    <a:solidFill>
                      <a:srgbClr val="E3EEFA"/>
                    </a:solidFill>
                  </a:tcPr>
                </a:tc>
                <a:tc>
                  <a:txBody>
                    <a:bodyPr/>
                    <a:lstStyle/>
                    <a:p>
                      <a:pPr algn="r"/>
                      <a:r>
                        <a:rPr sz="1200" b="0" i="0">
                          <a:solidFill>
                            <a:srgbClr val="1B2433"/>
                          </a:solidFill>
                          <a:latin typeface="Calibri"/>
                        </a:rPr>
                        <a:t>+0,040</a:t>
                      </a:r>
                    </a:p>
                  </a:txBody>
                  <a:tcPr marL="91440" marR="91440" marT="36576" marB="36576" anchor="ctr">
                    <a:lnB w="9525" cap="flat" cmpd="sng" algn="ctr">
                      <a:solidFill>
                        <a:srgbClr val="DDD8C9"/>
                      </a:solidFill>
                      <a:prstDash val="solid"/>
                    </a:lnB>
                    <a:solidFill>
                      <a:srgbClr val="E3EEFA"/>
                    </a:solidFill>
                  </a:tcPr>
                </a:tc>
              </a:tr>
              <a:tr h="330200">
                <a:tc>
                  <a:txBody>
                    <a:bodyPr/>
                    <a:lstStyle/>
                    <a:p>
                      <a:pPr algn="l"/>
                      <a:r>
                        <a:rPr sz="1200" b="0" i="0">
                          <a:solidFill>
                            <a:srgbClr val="1B2433"/>
                          </a:solidFill>
                          <a:latin typeface="Calibri"/>
                        </a:rPr>
                        <a:t>Q-Learning con hiperparámetros de MC</a:t>
                      </a:r>
                    </a:p>
                  </a:txBody>
                  <a:tcPr marL="91440" marR="91440" marT="36576" marB="36576" anchor="ctr">
                    <a:lnB w="9525" cap="flat" cmpd="sng" algn="ctr">
                      <a:solidFill>
                        <a:srgbClr val="DDD8C9"/>
                      </a:solidFill>
                      <a:prstDash val="solid"/>
                    </a:lnB>
                    <a:solidFill>
                      <a:srgbClr val="E3EEFA"/>
                    </a:solidFill>
                  </a:tcPr>
                </a:tc>
                <a:tc>
                  <a:txBody>
                    <a:bodyPr/>
                    <a:lstStyle/>
                    <a:p>
                      <a:pPr algn="r"/>
                      <a:r>
                        <a:rPr sz="1200" b="0" i="0">
                          <a:solidFill>
                            <a:srgbClr val="1B2433"/>
                          </a:solidFill>
                          <a:latin typeface="Calibri"/>
                        </a:rPr>
                        <a:t>+6,517</a:t>
                      </a:r>
                    </a:p>
                  </a:txBody>
                  <a:tcPr marL="91440" marR="91440" marT="36576" marB="36576" anchor="ctr">
                    <a:lnB w="9525" cap="flat" cmpd="sng" algn="ctr">
                      <a:solidFill>
                        <a:srgbClr val="DDD8C9"/>
                      </a:solidFill>
                      <a:prstDash val="solid"/>
                    </a:lnB>
                    <a:solidFill>
                      <a:srgbClr val="E3EEFA"/>
                    </a:solidFill>
                  </a:tcPr>
                </a:tc>
                <a:tc>
                  <a:txBody>
                    <a:bodyPr/>
                    <a:lstStyle/>
                    <a:p>
                      <a:pPr algn="r"/>
                      <a:r>
                        <a:rPr sz="1200" b="0" i="0">
                          <a:solidFill>
                            <a:srgbClr val="1B2433"/>
                          </a:solidFill>
                          <a:latin typeface="Calibri"/>
                        </a:rPr>
                        <a:t>+0,000</a:t>
                      </a:r>
                    </a:p>
                  </a:txBody>
                  <a:tcPr marL="91440" marR="91440" marT="36576" marB="36576" anchor="ctr">
                    <a:lnB w="9525" cap="flat" cmpd="sng" algn="ctr">
                      <a:solidFill>
                        <a:srgbClr val="DDD8C9"/>
                      </a:solidFill>
                      <a:prstDash val="solid"/>
                    </a:lnB>
                    <a:solidFill>
                      <a:srgbClr val="E3EEFA"/>
                    </a:solidFill>
                  </a:tcPr>
                </a:tc>
                <a:tc>
                  <a:txBody>
                    <a:bodyPr/>
                    <a:lstStyle/>
                    <a:p>
                      <a:pPr algn="r"/>
                      <a:r>
                        <a:rPr sz="1200" b="0" i="0">
                          <a:solidFill>
                            <a:srgbClr val="1B2433"/>
                          </a:solidFill>
                          <a:latin typeface="Calibri"/>
                        </a:rPr>
                        <a:t>+0,222</a:t>
                      </a:r>
                    </a:p>
                  </a:txBody>
                  <a:tcPr marL="91440" marR="91440" marT="36576" marB="36576" anchor="ctr">
                    <a:lnB w="9525" cap="flat" cmpd="sng" algn="ctr">
                      <a:solidFill>
                        <a:srgbClr val="DDD8C9"/>
                      </a:solidFill>
                      <a:prstDash val="solid"/>
                    </a:lnB>
                    <a:solidFill>
                      <a:srgbClr val="E3EEFA"/>
                    </a:solidFill>
                  </a:tcPr>
                </a:tc>
                <a:tc>
                  <a:txBody>
                    <a:bodyPr/>
                    <a:lstStyle/>
                    <a:p>
                      <a:pPr algn="r"/>
                      <a:r>
                        <a:rPr sz="1200" b="0" i="0">
                          <a:solidFill>
                            <a:srgbClr val="1B2433"/>
                          </a:solidFill>
                          <a:latin typeface="Calibri"/>
                        </a:rPr>
                        <a:t>+0,077</a:t>
                      </a:r>
                    </a:p>
                  </a:txBody>
                  <a:tcPr marL="91440" marR="91440" marT="36576" marB="36576" anchor="ctr">
                    <a:lnB w="9525" cap="flat" cmpd="sng" algn="ctr">
                      <a:solidFill>
                        <a:srgbClr val="DDD8C9"/>
                      </a:solidFill>
                      <a:prstDash val="solid"/>
                    </a:lnB>
                    <a:solidFill>
                      <a:srgbClr val="E3EEFA"/>
                    </a:solidFill>
                  </a:tcPr>
                </a:tc>
              </a:tr>
              <a:tr h="330200">
                <a:tc>
                  <a:txBody>
                    <a:bodyPr/>
                    <a:lstStyle/>
                    <a:p>
                      <a:pPr algn="l"/>
                      <a:r>
                        <a:rPr sz="1200" b="0" i="0">
                          <a:solidFill>
                            <a:srgbClr val="1B2433"/>
                          </a:solidFill>
                          <a:latin typeface="Calibri"/>
                        </a:rPr>
                        <a:t>Monte Carlo</a:t>
                      </a:r>
                    </a:p>
                  </a:txBody>
                  <a:tcPr marL="91440" marR="91440" marT="36576" marB="36576" anchor="ctr">
                    <a:lnB w="9525" cap="flat" cmpd="sng" algn="ctr">
                      <a:solidFill>
                        <a:srgbClr val="DDD8C9"/>
                      </a:solidFill>
                      <a:prstDash val="solid"/>
                    </a:lnB>
                    <a:solidFill>
                      <a:srgbClr val="F8E7DD"/>
                    </a:solidFill>
                  </a:tcPr>
                </a:tc>
                <a:tc>
                  <a:txBody>
                    <a:bodyPr/>
                    <a:lstStyle/>
                    <a:p>
                      <a:pPr algn="r"/>
                      <a:r>
                        <a:rPr sz="1200" b="0" i="0">
                          <a:solidFill>
                            <a:srgbClr val="1B2433"/>
                          </a:solidFill>
                          <a:latin typeface="Calibri"/>
                        </a:rPr>
                        <a:t>+6,522</a:t>
                      </a:r>
                    </a:p>
                  </a:txBody>
                  <a:tcPr marL="91440" marR="91440" marT="36576" marB="36576" anchor="ctr">
                    <a:lnB w="9525" cap="flat" cmpd="sng" algn="ctr">
                      <a:solidFill>
                        <a:srgbClr val="DDD8C9"/>
                      </a:solidFill>
                      <a:prstDash val="solid"/>
                    </a:lnB>
                    <a:solidFill>
                      <a:srgbClr val="F8E7DD"/>
                    </a:solidFill>
                  </a:tcPr>
                </a:tc>
                <a:tc>
                  <a:txBody>
                    <a:bodyPr/>
                    <a:lstStyle/>
                    <a:p>
                      <a:pPr algn="r"/>
                      <a:r>
                        <a:rPr sz="1200" b="0" i="0">
                          <a:solidFill>
                            <a:srgbClr val="1B2433"/>
                          </a:solidFill>
                          <a:latin typeface="Calibri"/>
                        </a:rPr>
                        <a:t>−0,012</a:t>
                      </a:r>
                    </a:p>
                  </a:txBody>
                  <a:tcPr marL="91440" marR="91440" marT="36576" marB="36576" anchor="ctr">
                    <a:lnB w="9525" cap="flat" cmpd="sng" algn="ctr">
                      <a:solidFill>
                        <a:srgbClr val="DDD8C9"/>
                      </a:solidFill>
                      <a:prstDash val="solid"/>
                    </a:lnB>
                    <a:solidFill>
                      <a:srgbClr val="F8E7DD"/>
                    </a:solidFill>
                  </a:tcPr>
                </a:tc>
                <a:tc>
                  <a:txBody>
                    <a:bodyPr/>
                    <a:lstStyle/>
                    <a:p>
                      <a:pPr algn="r"/>
                      <a:r>
                        <a:rPr sz="1200" b="0" i="0">
                          <a:solidFill>
                            <a:srgbClr val="1B2433"/>
                          </a:solidFill>
                          <a:latin typeface="Calibri"/>
                        </a:rPr>
                        <a:t>+0,238</a:t>
                      </a:r>
                    </a:p>
                  </a:txBody>
                  <a:tcPr marL="91440" marR="91440" marT="36576" marB="36576" anchor="ctr">
                    <a:lnB w="9525" cap="flat" cmpd="sng" algn="ctr">
                      <a:solidFill>
                        <a:srgbClr val="DDD8C9"/>
                      </a:solidFill>
                      <a:prstDash val="solid"/>
                    </a:lnB>
                    <a:solidFill>
                      <a:srgbClr val="F8E7DD"/>
                    </a:solidFill>
                  </a:tcPr>
                </a:tc>
                <a:tc>
                  <a:txBody>
                    <a:bodyPr/>
                    <a:lstStyle/>
                    <a:p>
                      <a:pPr algn="r"/>
                      <a:r>
                        <a:rPr sz="1200" b="0" i="0">
                          <a:solidFill>
                            <a:srgbClr val="1B2433"/>
                          </a:solidFill>
                          <a:latin typeface="Calibri"/>
                        </a:rPr>
                        <a:t>+0,031</a:t>
                      </a:r>
                    </a:p>
                  </a:txBody>
                  <a:tcPr marL="91440" marR="91440" marT="36576" marB="36576" anchor="ctr">
                    <a:lnB w="9525" cap="flat" cmpd="sng" algn="ctr">
                      <a:solidFill>
                        <a:srgbClr val="DDD8C9"/>
                      </a:solidFill>
                      <a:prstDash val="solid"/>
                    </a:lnB>
                    <a:solidFill>
                      <a:srgbClr val="F8E7DD"/>
                    </a:solidFill>
                  </a:tcPr>
                </a:tc>
              </a:tr>
              <a:tr h="330200">
                <a:tc>
                  <a:txBody>
                    <a:bodyPr/>
                    <a:lstStyle/>
                    <a:p>
                      <a:pPr algn="l"/>
                      <a:r>
                        <a:rPr sz="1200" b="0" i="0">
                          <a:solidFill>
                            <a:srgbClr val="1B2433"/>
                          </a:solidFill>
                          <a:latin typeface="Calibri"/>
                        </a:rPr>
                        <a:t>SARSA (base)</a:t>
                      </a:r>
                    </a:p>
                  </a:txBody>
                  <a:tcPr marL="91440" marR="91440" marT="36576" marB="36576" anchor="ctr">
                    <a:lnB w="9525" cap="flat" cmpd="sng" algn="ctr">
                      <a:solidFill>
                        <a:srgbClr val="DDD8C9"/>
                      </a:solidFill>
                      <a:prstDash val="solid"/>
                    </a:lnB>
                    <a:solidFill>
                      <a:srgbClr val="ECE6FB"/>
                    </a:solidFill>
                  </a:tcPr>
                </a:tc>
                <a:tc>
                  <a:txBody>
                    <a:bodyPr/>
                    <a:lstStyle/>
                    <a:p>
                      <a:pPr algn="r"/>
                      <a:r>
                        <a:rPr sz="1200" b="0" i="0">
                          <a:solidFill>
                            <a:srgbClr val="1B2433"/>
                          </a:solidFill>
                          <a:latin typeface="Calibri"/>
                        </a:rPr>
                        <a:t>+6,316</a:t>
                      </a:r>
                    </a:p>
                  </a:txBody>
                  <a:tcPr marL="91440" marR="91440" marT="36576" marB="36576" anchor="ctr">
                    <a:lnB w="9525" cap="flat" cmpd="sng" algn="ctr">
                      <a:solidFill>
                        <a:srgbClr val="DDD8C9"/>
                      </a:solidFill>
                      <a:prstDash val="solid"/>
                    </a:lnB>
                    <a:solidFill>
                      <a:srgbClr val="ECE6FB"/>
                    </a:solidFill>
                  </a:tcPr>
                </a:tc>
                <a:tc>
                  <a:txBody>
                    <a:bodyPr/>
                    <a:lstStyle/>
                    <a:p>
                      <a:pPr algn="r"/>
                      <a:r>
                        <a:rPr sz="1200" b="0" i="0">
                          <a:solidFill>
                            <a:srgbClr val="1B2433"/>
                          </a:solidFill>
                          <a:latin typeface="Calibri"/>
                        </a:rPr>
                        <a:t>+0,000</a:t>
                      </a:r>
                    </a:p>
                  </a:txBody>
                  <a:tcPr marL="91440" marR="91440" marT="36576" marB="36576" anchor="ctr">
                    <a:lnB w="9525" cap="flat" cmpd="sng" algn="ctr">
                      <a:solidFill>
                        <a:srgbClr val="DDD8C9"/>
                      </a:solidFill>
                      <a:prstDash val="solid"/>
                    </a:lnB>
                    <a:solidFill>
                      <a:srgbClr val="ECE6FB"/>
                    </a:solidFill>
                  </a:tcPr>
                </a:tc>
                <a:tc>
                  <a:txBody>
                    <a:bodyPr/>
                    <a:lstStyle/>
                    <a:p>
                      <a:pPr algn="r"/>
                      <a:r>
                        <a:rPr sz="1200" b="0" i="0">
                          <a:solidFill>
                            <a:srgbClr val="1B2433"/>
                          </a:solidFill>
                          <a:latin typeface="Calibri"/>
                        </a:rPr>
                        <a:t>+0,203</a:t>
                      </a:r>
                    </a:p>
                  </a:txBody>
                  <a:tcPr marL="91440" marR="91440" marT="36576" marB="36576" anchor="ctr">
                    <a:lnB w="9525" cap="flat" cmpd="sng" algn="ctr">
                      <a:solidFill>
                        <a:srgbClr val="DDD8C9"/>
                      </a:solidFill>
                      <a:prstDash val="solid"/>
                    </a:lnB>
                    <a:solidFill>
                      <a:srgbClr val="ECE6FB"/>
                    </a:solidFill>
                  </a:tcPr>
                </a:tc>
                <a:tc>
                  <a:txBody>
                    <a:bodyPr/>
                    <a:lstStyle/>
                    <a:p>
                      <a:pPr algn="r"/>
                      <a:r>
                        <a:rPr sz="1200" b="0" i="0">
                          <a:solidFill>
                            <a:srgbClr val="1B2433"/>
                          </a:solidFill>
                          <a:latin typeface="Calibri"/>
                        </a:rPr>
                        <a:t>+0,000</a:t>
                      </a:r>
                    </a:p>
                  </a:txBody>
                  <a:tcPr marL="91440" marR="91440" marT="36576" marB="36576" anchor="ctr">
                    <a:lnB w="9525" cap="flat" cmpd="sng" algn="ctr">
                      <a:solidFill>
                        <a:srgbClr val="DDD8C9"/>
                      </a:solidFill>
                      <a:prstDash val="solid"/>
                    </a:lnB>
                    <a:solidFill>
                      <a:srgbClr val="ECE6FB"/>
                    </a:solidFill>
                  </a:tcPr>
                </a:tc>
              </a:tr>
              <a:tr h="330200">
                <a:tc>
                  <a:txBody>
                    <a:bodyPr/>
                    <a:lstStyle/>
                    <a:p>
                      <a:pPr algn="l"/>
                      <a:r>
                        <a:rPr sz="1200" b="0" i="0">
                          <a:solidFill>
                            <a:srgbClr val="1B2433"/>
                          </a:solidFill>
                          <a:latin typeface="Calibri"/>
                        </a:rPr>
                        <a:t>SARSA con hiperparámetros de Q-Learning</a:t>
                      </a:r>
                    </a:p>
                  </a:txBody>
                  <a:tcPr marL="91440" marR="91440" marT="36576" marB="36576" anchor="ctr">
                    <a:lnB w="9525" cap="flat" cmpd="sng" algn="ctr">
                      <a:solidFill>
                        <a:srgbClr val="DDD8C9"/>
                      </a:solidFill>
                      <a:prstDash val="solid"/>
                    </a:lnB>
                    <a:solidFill>
                      <a:srgbClr val="ECE6FB"/>
                    </a:solidFill>
                  </a:tcPr>
                </a:tc>
                <a:tc>
                  <a:txBody>
                    <a:bodyPr/>
                    <a:lstStyle/>
                    <a:p>
                      <a:pPr algn="r"/>
                      <a:r>
                        <a:rPr sz="1200" b="0" i="0">
                          <a:solidFill>
                            <a:srgbClr val="1B2433"/>
                          </a:solidFill>
                          <a:latin typeface="Calibri"/>
                        </a:rPr>
                        <a:t>+6,311</a:t>
                      </a:r>
                    </a:p>
                  </a:txBody>
                  <a:tcPr marL="91440" marR="91440" marT="36576" marB="36576" anchor="ctr">
                    <a:lnB w="9525" cap="flat" cmpd="sng" algn="ctr">
                      <a:solidFill>
                        <a:srgbClr val="DDD8C9"/>
                      </a:solidFill>
                      <a:prstDash val="solid"/>
                    </a:lnB>
                    <a:solidFill>
                      <a:srgbClr val="ECE6FB"/>
                    </a:solidFill>
                  </a:tcPr>
                </a:tc>
                <a:tc>
                  <a:txBody>
                    <a:bodyPr/>
                    <a:lstStyle/>
                    <a:p>
                      <a:pPr algn="r"/>
                      <a:r>
                        <a:rPr sz="1200" b="0" i="0">
                          <a:solidFill>
                            <a:srgbClr val="1B2433"/>
                          </a:solidFill>
                          <a:latin typeface="Calibri"/>
                        </a:rPr>
                        <a:t>+0,000</a:t>
                      </a:r>
                    </a:p>
                  </a:txBody>
                  <a:tcPr marL="91440" marR="91440" marT="36576" marB="36576" anchor="ctr">
                    <a:lnB w="9525" cap="flat" cmpd="sng" algn="ctr">
                      <a:solidFill>
                        <a:srgbClr val="DDD8C9"/>
                      </a:solidFill>
                      <a:prstDash val="solid"/>
                    </a:lnB>
                    <a:solidFill>
                      <a:srgbClr val="ECE6FB"/>
                    </a:solidFill>
                  </a:tcPr>
                </a:tc>
                <a:tc>
                  <a:txBody>
                    <a:bodyPr/>
                    <a:lstStyle/>
                    <a:p>
                      <a:pPr algn="r"/>
                      <a:r>
                        <a:rPr sz="1200" b="0" i="0">
                          <a:solidFill>
                            <a:srgbClr val="1B2433"/>
                          </a:solidFill>
                          <a:latin typeface="Calibri"/>
                        </a:rPr>
                        <a:t>+0,099</a:t>
                      </a:r>
                    </a:p>
                  </a:txBody>
                  <a:tcPr marL="91440" marR="91440" marT="36576" marB="36576" anchor="ctr">
                    <a:lnB w="9525" cap="flat" cmpd="sng" algn="ctr">
                      <a:solidFill>
                        <a:srgbClr val="DDD8C9"/>
                      </a:solidFill>
                      <a:prstDash val="solid"/>
                    </a:lnB>
                    <a:solidFill>
                      <a:srgbClr val="ECE6FB"/>
                    </a:solidFill>
                  </a:tcPr>
                </a:tc>
                <a:tc>
                  <a:txBody>
                    <a:bodyPr/>
                    <a:lstStyle/>
                    <a:p>
                      <a:pPr algn="r"/>
                      <a:r>
                        <a:rPr sz="1200" b="0" i="0">
                          <a:solidFill>
                            <a:srgbClr val="1B2433"/>
                          </a:solidFill>
                          <a:latin typeface="Calibri"/>
                        </a:rPr>
                        <a:t>+0,000</a:t>
                      </a:r>
                    </a:p>
                  </a:txBody>
                  <a:tcPr marL="91440" marR="91440" marT="36576" marB="36576" anchor="ctr">
                    <a:lnB w="9525" cap="flat" cmpd="sng" algn="ctr">
                      <a:solidFill>
                        <a:srgbClr val="DDD8C9"/>
                      </a:solidFill>
                      <a:prstDash val="solid"/>
                    </a:lnB>
                    <a:solidFill>
                      <a:srgbClr val="ECE6FB"/>
                    </a:solidFill>
                  </a:tcPr>
                </a:tc>
              </a:tr>
              <a:tr h="330200">
                <a:tc>
                  <a:txBody>
                    <a:bodyPr/>
                    <a:lstStyle/>
                    <a:p>
                      <a:pPr algn="l"/>
                      <a:r>
                        <a:rPr sz="1200" b="0" i="0">
                          <a:solidFill>
                            <a:srgbClr val="1B2433"/>
                          </a:solidFill>
                          <a:latin typeface="Calibri"/>
                        </a:rPr>
                        <a:t>Double Q-Learning</a:t>
                      </a:r>
                    </a:p>
                  </a:txBody>
                  <a:tcPr marL="91440" marR="91440" marT="36576" marB="36576" anchor="ctr">
                    <a:lnB w="9525" cap="flat" cmpd="sng" algn="ctr">
                      <a:solidFill>
                        <a:srgbClr val="DDD8C9"/>
                      </a:solidFill>
                      <a:prstDash val="solid"/>
                    </a:lnB>
                    <a:solidFill>
                      <a:srgbClr val="E3EEFA"/>
                    </a:solidFill>
                  </a:tcPr>
                </a:tc>
                <a:tc>
                  <a:txBody>
                    <a:bodyPr/>
                    <a:lstStyle/>
                    <a:p>
                      <a:pPr algn="r"/>
                      <a:r>
                        <a:rPr sz="1200" b="0" i="0">
                          <a:solidFill>
                            <a:srgbClr val="1B2433"/>
                          </a:solidFill>
                          <a:latin typeface="Calibri"/>
                        </a:rPr>
                        <a:t>+6,414</a:t>
                      </a:r>
                    </a:p>
                  </a:txBody>
                  <a:tcPr marL="91440" marR="91440" marT="36576" marB="36576" anchor="ctr">
                    <a:lnB w="9525" cap="flat" cmpd="sng" algn="ctr">
                      <a:solidFill>
                        <a:srgbClr val="DDD8C9"/>
                      </a:solidFill>
                      <a:prstDash val="solid"/>
                    </a:lnB>
                    <a:solidFill>
                      <a:srgbClr val="E3EEFA"/>
                    </a:solidFill>
                  </a:tcPr>
                </a:tc>
                <a:tc>
                  <a:txBody>
                    <a:bodyPr/>
                    <a:lstStyle/>
                    <a:p>
                      <a:pPr algn="r"/>
                      <a:r>
                        <a:rPr sz="1200" b="0" i="0">
                          <a:solidFill>
                            <a:srgbClr val="1B2433"/>
                          </a:solidFill>
                          <a:latin typeface="Calibri"/>
                        </a:rPr>
                        <a:t>+0,000</a:t>
                      </a:r>
                    </a:p>
                  </a:txBody>
                  <a:tcPr marL="91440" marR="91440" marT="36576" marB="36576" anchor="ctr">
                    <a:lnB w="9525" cap="flat" cmpd="sng" algn="ctr">
                      <a:solidFill>
                        <a:srgbClr val="DDD8C9"/>
                      </a:solidFill>
                      <a:prstDash val="solid"/>
                    </a:lnB>
                    <a:solidFill>
                      <a:srgbClr val="E3EEFA"/>
                    </a:solidFill>
                  </a:tcPr>
                </a:tc>
                <a:tc>
                  <a:txBody>
                    <a:bodyPr/>
                    <a:lstStyle/>
                    <a:p>
                      <a:pPr algn="r"/>
                      <a:r>
                        <a:rPr sz="1200" b="0" i="0">
                          <a:solidFill>
                            <a:srgbClr val="1B2433"/>
                          </a:solidFill>
                          <a:latin typeface="Calibri"/>
                        </a:rPr>
                        <a:t>+0,188</a:t>
                      </a:r>
                    </a:p>
                  </a:txBody>
                  <a:tcPr marL="91440" marR="91440" marT="36576" marB="36576" anchor="ctr">
                    <a:lnB w="9525" cap="flat" cmpd="sng" algn="ctr">
                      <a:solidFill>
                        <a:srgbClr val="DDD8C9"/>
                      </a:solidFill>
                      <a:prstDash val="solid"/>
                    </a:lnB>
                    <a:solidFill>
                      <a:srgbClr val="E3EEFA"/>
                    </a:solidFill>
                  </a:tcPr>
                </a:tc>
                <a:tc>
                  <a:txBody>
                    <a:bodyPr/>
                    <a:lstStyle/>
                    <a:p>
                      <a:pPr algn="r"/>
                      <a:r>
                        <a:rPr sz="1200" b="0" i="0">
                          <a:solidFill>
                            <a:srgbClr val="1B2433"/>
                          </a:solidFill>
                          <a:latin typeface="Calibri"/>
                        </a:rPr>
                        <a:t>+0,018</a:t>
                      </a:r>
                    </a:p>
                  </a:txBody>
                  <a:tcPr marL="91440" marR="91440" marT="36576" marB="36576" anchor="ctr">
                    <a:lnB w="9525" cap="flat" cmpd="sng" algn="ctr">
                      <a:solidFill>
                        <a:srgbClr val="DDD8C9"/>
                      </a:solidFill>
                      <a:prstDash val="solid"/>
                    </a:lnB>
                    <a:solidFill>
                      <a:srgbClr val="E3EEFA"/>
                    </a:solidFill>
                  </a:tcPr>
                </a:tc>
              </a:tr>
              <a:tr h="330200">
                <a:tc>
                  <a:txBody>
                    <a:bodyPr/>
                    <a:lstStyle/>
                    <a:p>
                      <a:pPr algn="l"/>
                      <a:r>
                        <a:rPr sz="1200" b="0" i="0">
                          <a:solidFill>
                            <a:srgbClr val="1B2433"/>
                          </a:solidFill>
                          <a:latin typeface="Calibri"/>
                        </a:rPr>
                        <a:t>Q-Learning con estado ampliado</a:t>
                      </a:r>
                    </a:p>
                  </a:txBody>
                  <a:tcPr marL="91440" marR="91440" marT="36576" marB="36576" anchor="ctr">
                    <a:lnB w="9525" cap="flat" cmpd="sng" algn="ctr">
                      <a:solidFill>
                        <a:srgbClr val="DDD8C9"/>
                      </a:solidFill>
                      <a:prstDash val="solid"/>
                    </a:lnB>
                    <a:solidFill>
                      <a:srgbClr val="E3EEFA"/>
                    </a:solidFill>
                  </a:tcPr>
                </a:tc>
                <a:tc>
                  <a:txBody>
                    <a:bodyPr/>
                    <a:lstStyle/>
                    <a:p>
                      <a:pPr algn="r"/>
                      <a:r>
                        <a:rPr sz="1200" b="0" i="0">
                          <a:solidFill>
                            <a:srgbClr val="1B2433"/>
                          </a:solidFill>
                          <a:latin typeface="Calibri"/>
                        </a:rPr>
                        <a:t>+6,579</a:t>
                      </a:r>
                    </a:p>
                  </a:txBody>
                  <a:tcPr marL="91440" marR="91440" marT="36576" marB="36576" anchor="ctr">
                    <a:lnB w="9525" cap="flat" cmpd="sng" algn="ctr">
                      <a:solidFill>
                        <a:srgbClr val="DDD8C9"/>
                      </a:solidFill>
                      <a:prstDash val="solid"/>
                    </a:lnB>
                    <a:solidFill>
                      <a:srgbClr val="E3EEFA"/>
                    </a:solidFill>
                  </a:tcPr>
                </a:tc>
                <a:tc>
                  <a:txBody>
                    <a:bodyPr/>
                    <a:lstStyle/>
                    <a:p>
                      <a:pPr algn="r"/>
                      <a:r>
                        <a:rPr sz="1200" b="0" i="0">
                          <a:solidFill>
                            <a:srgbClr val="1B2433"/>
                          </a:solidFill>
                          <a:latin typeface="Calibri"/>
                        </a:rPr>
                        <a:t>−0,006</a:t>
                      </a:r>
                    </a:p>
                  </a:txBody>
                  <a:tcPr marL="91440" marR="91440" marT="36576" marB="36576" anchor="ctr">
                    <a:lnB w="9525" cap="flat" cmpd="sng" algn="ctr">
                      <a:solidFill>
                        <a:srgbClr val="DDD8C9"/>
                      </a:solidFill>
                      <a:prstDash val="solid"/>
                    </a:lnB>
                    <a:solidFill>
                      <a:srgbClr val="E3EEFA"/>
                    </a:solidFill>
                  </a:tcPr>
                </a:tc>
                <a:tc>
                  <a:txBody>
                    <a:bodyPr/>
                    <a:lstStyle/>
                    <a:p>
                      <a:pPr algn="r"/>
                      <a:r>
                        <a:rPr sz="1200" b="1" i="0">
                          <a:solidFill>
                            <a:srgbClr val="1B2433"/>
                          </a:solidFill>
                          <a:latin typeface="Calibri"/>
                        </a:rPr>
                        <a:t>+0,317</a:t>
                      </a:r>
                    </a:p>
                  </a:txBody>
                  <a:tcPr marL="91440" marR="91440" marT="36576" marB="36576" anchor="ctr">
                    <a:lnB w="9525" cap="flat" cmpd="sng" algn="ctr">
                      <a:solidFill>
                        <a:srgbClr val="DDD8C9"/>
                      </a:solidFill>
                      <a:prstDash val="solid"/>
                    </a:lnB>
                    <a:solidFill>
                      <a:srgbClr val="E3EEFA"/>
                    </a:solidFill>
                  </a:tcPr>
                </a:tc>
                <a:tc>
                  <a:txBody>
                    <a:bodyPr/>
                    <a:lstStyle/>
                    <a:p>
                      <a:pPr algn="r"/>
                      <a:r>
                        <a:rPr sz="1200" b="1" i="0">
                          <a:solidFill>
                            <a:srgbClr val="1B2433"/>
                          </a:solidFill>
                          <a:latin typeface="Calibri"/>
                        </a:rPr>
                        <a:t>+0,154</a:t>
                      </a:r>
                    </a:p>
                  </a:txBody>
                  <a:tcPr marL="91440" marR="91440" marT="36576" marB="36576" anchor="ctr">
                    <a:lnB w="9525" cap="flat" cmpd="sng" algn="ctr">
                      <a:solidFill>
                        <a:srgbClr val="DDD8C9"/>
                      </a:solidFill>
                      <a:prstDash val="solid"/>
                    </a:lnB>
                    <a:solidFill>
                      <a:srgbClr val="E3EEFA"/>
                    </a:solidFill>
                  </a:tcPr>
                </a:tc>
              </a:tr>
            </a:tbl>
          </a:graphicData>
        </a:graphic>
      </p:graphicFrame>
      <p:sp>
        <p:nvSpPr>
          <p:cNvPr id="7" name="Tarjeta extensión"/>
          <p:cNvSpPr/>
          <p:nvPr/>
        </p:nvSpPr>
        <p:spPr>
          <a:xfrm>
            <a:off x="812800" y="4699000"/>
            <a:ext cx="5207000" cy="1016000"/>
          </a:xfrm>
          <a:prstGeom prst="roundRect">
            <a:avLst>
              <a:gd name="adj" fmla="val 10000"/>
            </a:avLst>
          </a:prstGeom>
          <a:solidFill>
            <a:srgbClr val="FBFAF6"/>
          </a:solidFill>
          <a:ln w="9525">
            <a:solidFill>
              <a:srgbClr val="DDD8C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90600" y="4800600"/>
            <a:ext cx="4851400" cy="825500"/>
          </a:xfrm>
          <a:prstGeom prst="rect">
            <a:avLst/>
          </a:prstGeom>
          <a:noFill/>
        </p:spPr>
        <p:txBody>
          <a:bodyPr wrap="square" lIns="0" rIns="0" tIns="0" bIns="0" anchor="ctr">
            <a:spAutoFit/>
          </a:bodyPr>
          <a:lstStyle/>
          <a:p>
            <a:pPr algn="l">
              <a:lnSpc>
                <a:spcPct val="115000"/>
              </a:lnSpc>
              <a:spcAft>
                <a:spcPts val="0"/>
              </a:spcAft>
            </a:pPr>
            <a:r>
              <a:rPr sz="1600" b="1" i="0">
                <a:solidFill>
                  <a:srgbClr val="1B2433"/>
                </a:solidFill>
                <a:latin typeface="Calibri"/>
              </a:rPr>
              <a:t>Estado ampliado</a:t>
            </a:r>
            <a:r>
              <a:rPr sz="1600" b="0" i="0">
                <a:solidFill>
                  <a:srgbClr val="1B2433"/>
                </a:solidFill>
                <a:latin typeface="Calibri"/>
              </a:rPr>
              <a:t> (volatilidad reciente y distancia a la media de 20 pasos): la mayor mejora, +37 % en reversión y +17 % en regímenes.</a:t>
            </a:r>
          </a:p>
        </p:txBody>
      </p:sp>
      <p:sp>
        <p:nvSpPr>
          <p:cNvPr id="9" name="Tarjeta extensión"/>
          <p:cNvSpPr/>
          <p:nvPr/>
        </p:nvSpPr>
        <p:spPr>
          <a:xfrm>
            <a:off x="6172200" y="4699000"/>
            <a:ext cx="5207000" cy="1016000"/>
          </a:xfrm>
          <a:prstGeom prst="roundRect">
            <a:avLst>
              <a:gd name="adj" fmla="val 10000"/>
            </a:avLst>
          </a:prstGeom>
          <a:solidFill>
            <a:srgbClr val="FBFAF6"/>
          </a:solidFill>
          <a:ln w="9525">
            <a:solidFill>
              <a:srgbClr val="DDD8C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350000" y="4800600"/>
            <a:ext cx="4851400" cy="825500"/>
          </a:xfrm>
          <a:prstGeom prst="rect">
            <a:avLst/>
          </a:prstGeom>
          <a:noFill/>
        </p:spPr>
        <p:txBody>
          <a:bodyPr wrap="square" lIns="0" rIns="0" tIns="0" bIns="0" anchor="ctr">
            <a:spAutoFit/>
          </a:bodyPr>
          <a:lstStyle/>
          <a:p>
            <a:pPr algn="l">
              <a:lnSpc>
                <a:spcPct val="115000"/>
              </a:lnSpc>
              <a:spcAft>
                <a:spcPts val="0"/>
              </a:spcAft>
            </a:pPr>
            <a:r>
              <a:rPr sz="1600" b="1" i="0">
                <a:solidFill>
                  <a:srgbClr val="1B2433"/>
                </a:solidFill>
                <a:latin typeface="Calibri"/>
              </a:rPr>
              <a:t>Double Q-Learning</a:t>
            </a:r>
            <a:r>
              <a:rPr sz="1600" b="0" i="0">
                <a:solidFill>
                  <a:srgbClr val="1B2433"/>
                </a:solidFill>
                <a:latin typeface="Calibri"/>
              </a:rPr>
              <a:t> no se distingue del ruido entre semillas.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itle 1"/>
          <p:cNvSpPr>
            <a:spLocks noGrp="1"/>
          </p:cNvSpPr>
          <p:nvPr>
            <p:ph type="title"/>
          </p:nvPr>
        </p:nvSpPr>
        <p:spPr>
          <a:xfrm>
            <a:off x="812800" y="812800"/>
            <a:ext cx="10566400" cy="546100"/>
          </a:xfrm>
        </p:spPr>
        <p:txBody>
          <a:bodyPr wrap="square" lIns="0" rIns="0" tIns="0" bIns="0" anchor="t"/>
          <a:lstStyle/>
          <a:p>
            <a:pPr algn="l"/>
            <a:r>
              <a:rPr sz="3200" b="1" i="0">
                <a:solidFill>
                  <a:srgbClr val="1B2433"/>
                </a:solidFill>
                <a:latin typeface="Cambria"/>
              </a:rPr>
              <a:t>¿Algoritmo o hiperparámetros?</a:t>
            </a:r>
          </a:p>
        </p:txBody>
      </p:sp>
      <p:sp>
        <p:nvSpPr>
          <p:cNvPr id="3" name="Sección"/>
          <p:cNvSpPr txBox="1"/>
          <p:nvPr/>
        </p:nvSpPr>
        <p:spPr>
          <a:xfrm>
            <a:off x="812800" y="533400"/>
            <a:ext cx="10566400" cy="215900"/>
          </a:xfrm>
          <a:prstGeom prst="rect">
            <a:avLst/>
          </a:prstGeom>
          <a:noFill/>
        </p:spPr>
        <p:txBody>
          <a:bodyPr wrap="square" lIns="0" rIns="0" tIns="0" bIns="0" anchor="t">
            <a:spAutoFit/>
          </a:bodyPr>
          <a:lstStyle/>
          <a:p>
            <a:pPr algn="l">
              <a:lnSpc>
                <a:spcPct val="110000"/>
              </a:lnSpc>
              <a:spcAft>
                <a:spcPts val="0"/>
              </a:spcAft>
            </a:pPr>
            <a:r>
              <a:rPr sz="1200" b="1" i="0" spc="150">
                <a:solidFill>
                  <a:srgbClr val="556072"/>
                </a:solidFill>
                <a:latin typeface="Calibri"/>
              </a:rPr>
              <a:t>3 · ANÁLISIS</a:t>
            </a:r>
          </a:p>
        </p:txBody>
      </p:sp>
      <p:sp>
        <p:nvSpPr>
          <p:cNvPr id="4" name="Pie"/>
          <p:cNvSpPr txBox="1"/>
          <p:nvPr/>
        </p:nvSpPr>
        <p:spPr>
          <a:xfrm>
            <a:off x="812800" y="6350000"/>
            <a:ext cx="7620000" cy="190500"/>
          </a:xfrm>
          <a:prstGeom prst="rect">
            <a:avLst/>
          </a:prstGeom>
          <a:noFill/>
        </p:spPr>
        <p:txBody>
          <a:bodyPr wrap="square" lIns="0" rIns="0" tIns="0" bIns="0" anchor="t">
            <a:spAutoFit/>
          </a:bodyPr>
          <a:lstStyle/>
          <a:p>
            <a:pPr algn="l">
              <a:lnSpc>
                <a:spcPct val="110000"/>
              </a:lnSpc>
              <a:spcAft>
                <a:spcPts val="0"/>
              </a:spcAft>
            </a:pPr>
            <a:r>
              <a:rPr sz="1200" b="0" i="0">
                <a:solidFill>
                  <a:srgbClr val="556072"/>
                </a:solidFill>
                <a:latin typeface="Calibri"/>
              </a:rPr>
              <a:t>Agente de trading con RL tabular · MIAX-14</a:t>
            </a:r>
          </a:p>
        </p:txBody>
      </p:sp>
      <p:sp>
        <p:nvSpPr>
          <p:cNvPr id="5" name="Número de diapositiva"/>
          <p:cNvSpPr txBox="1"/>
          <p:nvPr/>
        </p:nvSpPr>
        <p:spPr>
          <a:xfrm>
            <a:off x="9855200" y="6350000"/>
            <a:ext cx="1524000" cy="190500"/>
          </a:xfrm>
          <a:prstGeom prst="rect">
            <a:avLst/>
          </a:prstGeom>
          <a:noFill/>
        </p:spPr>
        <p:txBody>
          <a:bodyPr wrap="square" lIns="0" rIns="0" tIns="0" bIns="0" anchor="t">
            <a:spAutoFit/>
          </a:bodyPr>
          <a:lstStyle/>
          <a:p>
            <a:pPr algn="r">
              <a:lnSpc>
                <a:spcPct val="110000"/>
              </a:lnSpc>
              <a:spcAft>
                <a:spcPts val="0"/>
              </a:spcAft>
            </a:pPr>
            <a:fld id="{B6F15528-21DE-4FAA-801E-634DDDAF4B2B}" type="slidenum">
              <a:rPr lang="es-ES" sz="1200">
                <a:solidFill>
                  <a:srgbClr val="556072"/>
                </a:solidFill>
                <a:latin typeface="Calibri"/>
              </a:rPr>
              <a:t>‹#›</a:t>
            </a:fld>
          </a:p>
        </p:txBody>
      </p:sp>
      <p:sp>
        <p:nvSpPr>
          <p:cNvPr id="6" name="TextBox 5"/>
          <p:cNvSpPr txBox="1"/>
          <p:nvPr/>
        </p:nvSpPr>
        <p:spPr>
          <a:xfrm>
            <a:off x="812800" y="1587500"/>
            <a:ext cx="10566400" cy="571500"/>
          </a:xfrm>
          <a:prstGeom prst="rect">
            <a:avLst/>
          </a:prstGeom>
          <a:noFill/>
        </p:spPr>
        <p:txBody>
          <a:bodyPr wrap="square" lIns="0" rIns="0" tIns="0" bIns="0" anchor="t">
            <a:spAutoFit/>
          </a:bodyPr>
          <a:lstStyle/>
          <a:p>
            <a:pPr algn="l">
              <a:lnSpc>
                <a:spcPct val="115000"/>
              </a:lnSpc>
              <a:spcAft>
                <a:spcPts val="0"/>
              </a:spcAft>
            </a:pPr>
            <a:r>
              <a:rPr sz="1600" b="0" i="0">
                <a:solidFill>
                  <a:srgbClr val="1B2433"/>
                </a:solidFill>
                <a:latin typeface="Calibri"/>
              </a:rPr>
              <a:t>Como cada algoritmo se ajustó con una búsqueda distinta, no estaba claro de dónde venían las diferencias, así que intercambiamos hiperparámetros entre algoritmos.</a:t>
            </a:r>
          </a:p>
        </p:txBody>
      </p:sp>
      <p:sp>
        <p:nvSpPr>
          <p:cNvPr id="7" name="Tarjeta Q-Learning y Monte Carlo"/>
          <p:cNvSpPr/>
          <p:nvPr/>
        </p:nvSpPr>
        <p:spPr>
          <a:xfrm>
            <a:off x="812800" y="2286000"/>
            <a:ext cx="5181600" cy="3429000"/>
          </a:xfrm>
          <a:prstGeom prst="roundRect">
            <a:avLst>
              <a:gd name="adj" fmla="val 2962"/>
            </a:avLst>
          </a:prstGeom>
          <a:solidFill>
            <a:srgbClr val="FBFAF6"/>
          </a:solidFill>
          <a:ln w="9525">
            <a:solidFill>
              <a:srgbClr val="DDD8C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Etiqueta Q-Learning"/>
          <p:cNvSpPr/>
          <p:nvPr/>
        </p:nvSpPr>
        <p:spPr>
          <a:xfrm>
            <a:off x="1016000" y="2463800"/>
            <a:ext cx="1079500" cy="279400"/>
          </a:xfrm>
          <a:prstGeom prst="roundRect">
            <a:avLst>
              <a:gd name="adj" fmla="val 50000"/>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i="0">
                <a:solidFill>
                  <a:srgbClr val="F5F3EC"/>
                </a:solidFill>
                <a:latin typeface="Calibri"/>
              </a:rPr>
              <a:t>Q-Learning</a:t>
            </a:r>
          </a:p>
        </p:txBody>
      </p:sp>
      <p:sp>
        <p:nvSpPr>
          <p:cNvPr id="9" name="Etiqueta Monte Carlo"/>
          <p:cNvSpPr/>
          <p:nvPr/>
        </p:nvSpPr>
        <p:spPr>
          <a:xfrm>
            <a:off x="2184400" y="2463800"/>
            <a:ext cx="1206500" cy="279400"/>
          </a:xfrm>
          <a:prstGeom prst="roundRect">
            <a:avLst>
              <a:gd name="adj" fmla="val 50000"/>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i="0">
                <a:solidFill>
                  <a:srgbClr val="F5F3EC"/>
                </a:solidFill>
                <a:latin typeface="Calibri"/>
              </a:rPr>
              <a:t>Monte Carlo</a:t>
            </a:r>
          </a:p>
        </p:txBody>
      </p:sp>
      <p:sp>
        <p:nvSpPr>
          <p:cNvPr id="10" name="TextBox 9"/>
          <p:cNvSpPr txBox="1"/>
          <p:nvPr/>
        </p:nvSpPr>
        <p:spPr>
          <a:xfrm>
            <a:off x="1016000" y="2870200"/>
            <a:ext cx="4762500" cy="279400"/>
          </a:xfrm>
          <a:prstGeom prst="rect">
            <a:avLst/>
          </a:prstGeom>
          <a:noFill/>
        </p:spPr>
        <p:txBody>
          <a:bodyPr wrap="square" lIns="0" rIns="0" tIns="0" bIns="0" anchor="t">
            <a:spAutoFit/>
          </a:bodyPr>
          <a:lstStyle/>
          <a:p>
            <a:pPr algn="l">
              <a:lnSpc>
                <a:spcPct val="110000"/>
              </a:lnSpc>
              <a:spcAft>
                <a:spcPts val="0"/>
              </a:spcAft>
            </a:pPr>
            <a:r>
              <a:rPr sz="1800" b="1" i="0">
                <a:solidFill>
                  <a:srgbClr val="1B2433"/>
                </a:solidFill>
                <a:latin typeface="Cambria"/>
              </a:rPr>
              <a:t>Q-Learning con los hiperparámetros de MC</a:t>
            </a:r>
          </a:p>
        </p:txBody>
      </p:sp>
      <p:sp>
        <p:nvSpPr>
          <p:cNvPr id="11" name="TextBox 10"/>
          <p:cNvSpPr txBox="1"/>
          <p:nvPr/>
        </p:nvSpPr>
        <p:spPr>
          <a:xfrm>
            <a:off x="1016000" y="3213100"/>
            <a:ext cx="4762500" cy="635000"/>
          </a:xfrm>
          <a:prstGeom prst="rect">
            <a:avLst/>
          </a:prstGeom>
          <a:noFill/>
        </p:spPr>
        <p:txBody>
          <a:bodyPr wrap="square" lIns="0" rIns="0" tIns="0" bIns="0" anchor="t">
            <a:spAutoFit/>
          </a:bodyPr>
          <a:lstStyle/>
          <a:p>
            <a:pPr algn="l">
              <a:lnSpc>
                <a:spcPct val="110000"/>
              </a:lnSpc>
              <a:spcAft>
                <a:spcPts val="0"/>
              </a:spcAft>
            </a:pPr>
            <a:r>
              <a:rPr sz="4400" b="1" i="0">
                <a:solidFill>
                  <a:srgbClr val="1B2433"/>
                </a:solidFill>
                <a:latin typeface="Cambria"/>
              </a:rPr>
              <a:t>6,517 ≈ 6,522</a:t>
            </a:r>
          </a:p>
        </p:txBody>
      </p:sp>
      <p:sp>
        <p:nvSpPr>
          <p:cNvPr id="12" name="TextBox 11"/>
          <p:cNvSpPr txBox="1"/>
          <p:nvPr/>
        </p:nvSpPr>
        <p:spPr>
          <a:xfrm>
            <a:off x="1016000" y="3949700"/>
            <a:ext cx="4762500" cy="381000"/>
          </a:xfrm>
          <a:prstGeom prst="rect">
            <a:avLst/>
          </a:prstGeom>
          <a:noFill/>
        </p:spPr>
        <p:txBody>
          <a:bodyPr wrap="square" lIns="0" rIns="0" tIns="0" bIns="0" anchor="t">
            <a:spAutoFit/>
          </a:bodyPr>
          <a:lstStyle/>
          <a:p>
            <a:pPr algn="l">
              <a:lnSpc>
                <a:spcPct val="110000"/>
              </a:lnSpc>
              <a:spcAft>
                <a:spcPts val="0"/>
              </a:spcAft>
            </a:pPr>
            <a:r>
              <a:rPr sz="1200" b="0" i="0">
                <a:solidFill>
                  <a:srgbClr val="556072"/>
                </a:solidFill>
                <a:latin typeface="Calibri"/>
              </a:rPr>
              <a:t>log-retorno en tendencia + ciclo: Q-Learning con los hiperparámetros de MC y Monte Carlo</a:t>
            </a:r>
          </a:p>
        </p:txBody>
      </p:sp>
      <p:sp>
        <p:nvSpPr>
          <p:cNvPr id="13" name="TextBox 12"/>
          <p:cNvSpPr txBox="1"/>
          <p:nvPr/>
        </p:nvSpPr>
        <p:spPr>
          <a:xfrm>
            <a:off x="1016000" y="4483100"/>
            <a:ext cx="4775200" cy="1143000"/>
          </a:xfrm>
          <a:prstGeom prst="rect">
            <a:avLst/>
          </a:prstGeom>
          <a:noFill/>
        </p:spPr>
        <p:txBody>
          <a:bodyPr wrap="square" lIns="0" rIns="0" tIns="0" bIns="0" anchor="t">
            <a:spAutoFit/>
          </a:bodyPr>
          <a:lstStyle/>
          <a:p>
            <a:pPr algn="l">
              <a:lnSpc>
                <a:spcPct val="115000"/>
              </a:lnSpc>
              <a:spcAft>
                <a:spcPts val="0"/>
              </a:spcAft>
            </a:pPr>
            <a:r>
              <a:rPr sz="1600" b="0" i="0">
                <a:solidFill>
                  <a:srgbClr val="1B2433"/>
                </a:solidFill>
                <a:latin typeface="Calibri"/>
              </a:rPr>
              <a:t>La ventaja venía de α = 0,001, un valor que no entraba en la rejilla de Q-Learning; además, con γ = 0 los dos algoritmos tienen el mismo objetivo.</a:t>
            </a:r>
          </a:p>
        </p:txBody>
      </p:sp>
      <p:sp>
        <p:nvSpPr>
          <p:cNvPr id="14" name="Tarjeta SARSA"/>
          <p:cNvSpPr/>
          <p:nvPr/>
        </p:nvSpPr>
        <p:spPr>
          <a:xfrm>
            <a:off x="6197600" y="2286000"/>
            <a:ext cx="5181600" cy="3429000"/>
          </a:xfrm>
          <a:prstGeom prst="roundRect">
            <a:avLst>
              <a:gd name="adj" fmla="val 2962"/>
            </a:avLst>
          </a:prstGeom>
          <a:solidFill>
            <a:srgbClr val="FBFAF6"/>
          </a:solidFill>
          <a:ln w="9525">
            <a:solidFill>
              <a:srgbClr val="DDD8C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Etiqueta SARSA"/>
          <p:cNvSpPr/>
          <p:nvPr/>
        </p:nvSpPr>
        <p:spPr>
          <a:xfrm>
            <a:off x="6400800" y="2463800"/>
            <a:ext cx="952500" cy="279400"/>
          </a:xfrm>
          <a:prstGeom prst="roundRect">
            <a:avLst>
              <a:gd name="adj" fmla="val 50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i="0">
                <a:solidFill>
                  <a:srgbClr val="F5F3EC"/>
                </a:solidFill>
                <a:latin typeface="Calibri"/>
              </a:rPr>
              <a:t>SARSA</a:t>
            </a:r>
          </a:p>
        </p:txBody>
      </p:sp>
      <p:sp>
        <p:nvSpPr>
          <p:cNvPr id="16" name="TextBox 15"/>
          <p:cNvSpPr txBox="1"/>
          <p:nvPr/>
        </p:nvSpPr>
        <p:spPr>
          <a:xfrm>
            <a:off x="6400800" y="2870200"/>
            <a:ext cx="4762500" cy="279400"/>
          </a:xfrm>
          <a:prstGeom prst="rect">
            <a:avLst/>
          </a:prstGeom>
          <a:noFill/>
        </p:spPr>
        <p:txBody>
          <a:bodyPr wrap="square" lIns="0" rIns="0" tIns="0" bIns="0" anchor="t">
            <a:spAutoFit/>
          </a:bodyPr>
          <a:lstStyle/>
          <a:p>
            <a:pPr algn="l">
              <a:lnSpc>
                <a:spcPct val="110000"/>
              </a:lnSpc>
              <a:spcAft>
                <a:spcPts val="0"/>
              </a:spcAft>
            </a:pPr>
            <a:r>
              <a:rPr sz="1800" b="1" i="0">
                <a:solidFill>
                  <a:srgbClr val="1B2433"/>
                </a:solidFill>
                <a:latin typeface="Cambria"/>
              </a:rPr>
              <a:t>SARSA sí tiene una diferencia propia</a:t>
            </a:r>
          </a:p>
        </p:txBody>
      </p:sp>
      <p:sp>
        <p:nvSpPr>
          <p:cNvPr id="17" name="TextBox 16"/>
          <p:cNvSpPr txBox="1"/>
          <p:nvPr/>
        </p:nvSpPr>
        <p:spPr>
          <a:xfrm>
            <a:off x="6400800" y="3213100"/>
            <a:ext cx="4762500" cy="635000"/>
          </a:xfrm>
          <a:prstGeom prst="rect">
            <a:avLst/>
          </a:prstGeom>
          <a:noFill/>
        </p:spPr>
        <p:txBody>
          <a:bodyPr wrap="square" lIns="0" rIns="0" tIns="0" bIns="0" anchor="t">
            <a:spAutoFit/>
          </a:bodyPr>
          <a:lstStyle/>
          <a:p>
            <a:pPr algn="l">
              <a:lnSpc>
                <a:spcPct val="110000"/>
              </a:lnSpc>
              <a:spcAft>
                <a:spcPts val="0"/>
              </a:spcAft>
            </a:pPr>
            <a:r>
              <a:rPr sz="4400" b="1" i="0">
                <a:solidFill>
                  <a:srgbClr val="7C3AED"/>
                </a:solidFill>
                <a:latin typeface="Cambria"/>
              </a:rPr>
              <a:t>0,099 vs 0,155</a:t>
            </a:r>
          </a:p>
        </p:txBody>
      </p:sp>
      <p:sp>
        <p:nvSpPr>
          <p:cNvPr id="18" name="TextBox 17"/>
          <p:cNvSpPr txBox="1"/>
          <p:nvPr/>
        </p:nvSpPr>
        <p:spPr>
          <a:xfrm>
            <a:off x="6400800" y="3949700"/>
            <a:ext cx="4762500" cy="381000"/>
          </a:xfrm>
          <a:prstGeom prst="rect">
            <a:avLst/>
          </a:prstGeom>
          <a:noFill/>
        </p:spPr>
        <p:txBody>
          <a:bodyPr wrap="square" lIns="0" rIns="0" tIns="0" bIns="0" anchor="t">
            <a:spAutoFit/>
          </a:bodyPr>
          <a:lstStyle/>
          <a:p>
            <a:pPr algn="l">
              <a:lnSpc>
                <a:spcPct val="110000"/>
              </a:lnSpc>
              <a:spcAft>
                <a:spcPts val="0"/>
              </a:spcAft>
            </a:pPr>
            <a:r>
              <a:rPr sz="1200" b="0" i="0">
                <a:solidFill>
                  <a:srgbClr val="556072"/>
                </a:solidFill>
                <a:latin typeface="Calibri"/>
              </a:rPr>
              <a:t>reversión a la media, SARSA frente a Q-Learning con los mismos hiperparámetros (en regímenes: 0 frente a 0,040)</a:t>
            </a:r>
          </a:p>
        </p:txBody>
      </p:sp>
      <p:sp>
        <p:nvSpPr>
          <p:cNvPr id="19" name="TextBox 18"/>
          <p:cNvSpPr txBox="1"/>
          <p:nvPr/>
        </p:nvSpPr>
        <p:spPr>
          <a:xfrm>
            <a:off x="6400800" y="4483100"/>
            <a:ext cx="4775200" cy="1143000"/>
          </a:xfrm>
          <a:prstGeom prst="rect">
            <a:avLst/>
          </a:prstGeom>
          <a:noFill/>
        </p:spPr>
        <p:txBody>
          <a:bodyPr wrap="square" lIns="0" rIns="0" tIns="0" bIns="0" anchor="t">
            <a:spAutoFit/>
          </a:bodyPr>
          <a:lstStyle/>
          <a:p>
            <a:pPr algn="l">
              <a:lnSpc>
                <a:spcPct val="115000"/>
              </a:lnSpc>
              <a:spcAft>
                <a:spcPts val="0"/>
              </a:spcAft>
            </a:pPr>
            <a:r>
              <a:rPr sz="1600" b="0" i="0">
                <a:solidFill>
                  <a:srgbClr val="1B2433"/>
                </a:solidFill>
                <a:latin typeface="Calibri"/>
              </a:rPr>
              <a:t>SARSA es </a:t>
            </a:r>
            <a:r>
              <a:rPr sz="1600" b="0" i="1">
                <a:solidFill>
                  <a:srgbClr val="1B2433"/>
                </a:solidFill>
                <a:latin typeface="Calibri"/>
              </a:rPr>
              <a:t>on-policy</a:t>
            </a:r>
            <a:r>
              <a:rPr sz="1600" b="0" i="0">
                <a:solidFill>
                  <a:srgbClr val="1B2433"/>
                </a:solidFill>
                <a:latin typeface="Calibri"/>
              </a:rPr>
              <a:t> y aprende el valor de la política ε-greedy que sigue. Explorar es comprar y vender al azar pagando comisión: con señal débil, le compensa no hacer nada.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01B2D"/>
        </a:solidFill>
        <a:effectLst/>
      </p:bgPr>
    </p:bg>
    <p:spTree>
      <p:nvGrpSpPr>
        <p:cNvPr id="1" name=""/>
        <p:cNvGrpSpPr/>
        <p:nvPr/>
      </p:nvGrpSpPr>
      <p:grpSpPr/>
      <p:sp>
        <p:nvSpPr>
          <p:cNvPr id="2" name="Title 1"/>
          <p:cNvSpPr>
            <a:spLocks noGrp="1"/>
          </p:cNvSpPr>
          <p:nvPr>
            <p:ph type="title"/>
          </p:nvPr>
        </p:nvSpPr>
        <p:spPr>
          <a:xfrm>
            <a:off x="812800" y="812800"/>
            <a:ext cx="10566400" cy="546100"/>
          </a:xfrm>
        </p:spPr>
        <p:txBody>
          <a:bodyPr wrap="square" lIns="0" rIns="0" tIns="0" bIns="0" anchor="t"/>
          <a:lstStyle/>
          <a:p>
            <a:pPr algn="l"/>
            <a:r>
              <a:rPr sz="3200" b="1" i="0">
                <a:solidFill>
                  <a:srgbClr val="F5F3EC"/>
                </a:solidFill>
                <a:latin typeface="Cambria"/>
              </a:rPr>
              <a:t>Conclusiones y limitaciones</a:t>
            </a:r>
          </a:p>
        </p:txBody>
      </p:sp>
      <p:sp>
        <p:nvSpPr>
          <p:cNvPr id="3" name="Sección"/>
          <p:cNvSpPr txBox="1"/>
          <p:nvPr/>
        </p:nvSpPr>
        <p:spPr>
          <a:xfrm>
            <a:off x="812800" y="533400"/>
            <a:ext cx="10566400" cy="215900"/>
          </a:xfrm>
          <a:prstGeom prst="rect">
            <a:avLst/>
          </a:prstGeom>
          <a:noFill/>
        </p:spPr>
        <p:txBody>
          <a:bodyPr wrap="square" lIns="0" rIns="0" tIns="0" bIns="0" anchor="t">
            <a:spAutoFit/>
          </a:bodyPr>
          <a:lstStyle/>
          <a:p>
            <a:pPr algn="l">
              <a:lnSpc>
                <a:spcPct val="110000"/>
              </a:lnSpc>
              <a:spcAft>
                <a:spcPts val="0"/>
              </a:spcAft>
            </a:pPr>
            <a:r>
              <a:rPr sz="1200" b="1" i="0" spc="150">
                <a:solidFill>
                  <a:srgbClr val="A9B6CB"/>
                </a:solidFill>
                <a:latin typeface="Calibri"/>
              </a:rPr>
              <a:t>4 · CONCLUSIONES</a:t>
            </a:r>
          </a:p>
        </p:txBody>
      </p:sp>
      <p:sp>
        <p:nvSpPr>
          <p:cNvPr id="4" name="Pie"/>
          <p:cNvSpPr txBox="1"/>
          <p:nvPr/>
        </p:nvSpPr>
        <p:spPr>
          <a:xfrm>
            <a:off x="812800" y="6350000"/>
            <a:ext cx="7620000" cy="190500"/>
          </a:xfrm>
          <a:prstGeom prst="rect">
            <a:avLst/>
          </a:prstGeom>
          <a:noFill/>
        </p:spPr>
        <p:txBody>
          <a:bodyPr wrap="square" lIns="0" rIns="0" tIns="0" bIns="0" anchor="t">
            <a:spAutoFit/>
          </a:bodyPr>
          <a:lstStyle/>
          <a:p>
            <a:pPr algn="l">
              <a:lnSpc>
                <a:spcPct val="110000"/>
              </a:lnSpc>
              <a:spcAft>
                <a:spcPts val="0"/>
              </a:spcAft>
            </a:pPr>
            <a:r>
              <a:rPr sz="1200" b="0" i="0">
                <a:solidFill>
                  <a:srgbClr val="A9B6CB"/>
                </a:solidFill>
                <a:latin typeface="Calibri"/>
              </a:rPr>
              <a:t>Agente de trading con RL tabular · MIAX-14</a:t>
            </a:r>
          </a:p>
        </p:txBody>
      </p:sp>
      <p:sp>
        <p:nvSpPr>
          <p:cNvPr id="5" name="Número de diapositiva"/>
          <p:cNvSpPr txBox="1"/>
          <p:nvPr/>
        </p:nvSpPr>
        <p:spPr>
          <a:xfrm>
            <a:off x="9855200" y="6350000"/>
            <a:ext cx="1524000" cy="190500"/>
          </a:xfrm>
          <a:prstGeom prst="rect">
            <a:avLst/>
          </a:prstGeom>
          <a:noFill/>
        </p:spPr>
        <p:txBody>
          <a:bodyPr wrap="square" lIns="0" rIns="0" tIns="0" bIns="0" anchor="t">
            <a:spAutoFit/>
          </a:bodyPr>
          <a:lstStyle/>
          <a:p>
            <a:pPr algn="r">
              <a:lnSpc>
                <a:spcPct val="110000"/>
              </a:lnSpc>
              <a:spcAft>
                <a:spcPts val="0"/>
              </a:spcAft>
            </a:pPr>
            <a:fld id="{B6F15528-21DE-4FAA-801E-634DDDAF4B2B}" type="slidenum">
              <a:rPr lang="es-ES" sz="1200">
                <a:solidFill>
                  <a:srgbClr val="A9B6CB"/>
                </a:solidFill>
                <a:latin typeface="Calibri"/>
              </a:rPr>
              <a:t>‹#›</a:t>
            </a:fld>
          </a:p>
        </p:txBody>
      </p:sp>
      <p:sp>
        <p:nvSpPr>
          <p:cNvPr id="6" name="TextBox 5"/>
          <p:cNvSpPr txBox="1"/>
          <p:nvPr/>
        </p:nvSpPr>
        <p:spPr>
          <a:xfrm>
            <a:off x="812800" y="1587500"/>
            <a:ext cx="6477000" cy="4381500"/>
          </a:xfrm>
          <a:prstGeom prst="rect">
            <a:avLst/>
          </a:prstGeom>
          <a:noFill/>
        </p:spPr>
        <p:txBody>
          <a:bodyPr wrap="square" lIns="0" rIns="0" tIns="0" bIns="0" anchor="t">
            <a:spAutoFit/>
          </a:bodyPr>
          <a:lstStyle/>
          <a:p>
            <a:pPr algn="l">
              <a:lnSpc>
                <a:spcPct val="115000"/>
              </a:lnSpc>
              <a:spcAft>
                <a:spcPts val="1600"/>
              </a:spcAft>
            </a:pPr>
            <a:r>
              <a:rPr sz="1600" b="1" i="0">
                <a:solidFill>
                  <a:srgbClr val="D6DEEA"/>
                </a:solidFill>
                <a:latin typeface="Calibri"/>
              </a:rPr>
              <a:t>Ganan a las referencias.</a:t>
            </a:r>
            <a:r>
              <a:rPr sz="1600" b="0" i="0">
                <a:solidFill>
                  <a:srgbClr val="D6DEEA"/>
                </a:solidFill>
                <a:latin typeface="Calibri"/>
              </a:rPr>
              <a:t> Los tres algoritmos ganan a </a:t>
            </a:r>
            <a:r>
              <a:rPr sz="1600" b="0" i="1">
                <a:solidFill>
                  <a:srgbClr val="D6DEEA"/>
                </a:solidFill>
                <a:latin typeface="Calibri"/>
              </a:rPr>
              <a:t>buy &amp; hold</a:t>
            </a:r>
            <a:r>
              <a:rPr sz="1600" b="0" i="0">
                <a:solidFill>
                  <a:srgbClr val="D6DEEA"/>
                </a:solidFill>
                <a:latin typeface="Calibri"/>
              </a:rPr>
              <a:t> y al aleatorio en todos los mercados (en el browniano, quedándose fuera) y aprenden la estrategia esperada.</a:t>
            </a:r>
          </a:p>
          <a:p>
            <a:pPr algn="l">
              <a:lnSpc>
                <a:spcPct val="115000"/>
              </a:lnSpc>
              <a:spcAft>
                <a:spcPts val="1600"/>
              </a:spcAft>
            </a:pPr>
            <a:r>
              <a:rPr sz="1600" b="1" i="0">
                <a:solidFill>
                  <a:srgbClr val="D6DEEA"/>
                </a:solidFill>
                <a:latin typeface="Calibri"/>
              </a:rPr>
              <a:t>Mejores resultados.</a:t>
            </a:r>
            <a:r>
              <a:rPr sz="1600" b="0" i="0">
                <a:solidFill>
                  <a:srgbClr val="D6DEEA"/>
                </a:solidFill>
                <a:latin typeface="Calibri"/>
              </a:rPr>
              <a:t> 6,5 en tendencia + ciclo y +27 % en reversión (Monte Carlo), y +4 % en regímenes (Q-Learning).</a:t>
            </a:r>
          </a:p>
          <a:p>
            <a:pPr algn="l">
              <a:lnSpc>
                <a:spcPct val="115000"/>
              </a:lnSpc>
              <a:spcAft>
                <a:spcPts val="1600"/>
              </a:spcAft>
            </a:pPr>
            <a:r>
              <a:rPr sz="1600" b="1" i="0">
                <a:solidFill>
                  <a:srgbClr val="D6DEEA"/>
                </a:solidFill>
                <a:latin typeface="Calibri"/>
              </a:rPr>
              <a:t>El algoritmo importa menos</a:t>
            </a:r>
            <a:r>
              <a:rPr sz="1600" b="0" i="0">
                <a:solidFill>
                  <a:srgbClr val="D6DEEA"/>
                </a:solidFill>
                <a:latin typeface="Calibri"/>
              </a:rPr>
              <a:t> que la información del estado (el estado ampliado mejora más que cualquier cambio de algoritmo) y que α y γ.</a:t>
            </a:r>
          </a:p>
          <a:p>
            <a:pPr algn="l">
              <a:lnSpc>
                <a:spcPct val="115000"/>
              </a:lnSpc>
              <a:spcAft>
                <a:spcPts val="1600"/>
              </a:spcAft>
            </a:pPr>
            <a:r>
              <a:rPr sz="1600" b="1" i="0">
                <a:solidFill>
                  <a:srgbClr val="D6DEEA"/>
                </a:solidFill>
                <a:latin typeface="Calibri"/>
              </a:rPr>
              <a:t>On-policy frente a off-policy</a:t>
            </a:r>
            <a:r>
              <a:rPr sz="1600" b="0" i="0">
                <a:solidFill>
                  <a:srgbClr val="D6DEEA"/>
                </a:solidFill>
                <a:latin typeface="Calibri"/>
              </a:rPr>
              <a:t> es la única diferencia estable: SARSA es más conservador y deja pasar señales débiles que Q-Learning aprovecha. Monte Carlo funciona porque usa γ = 0 en tres de los cuatro mercados y esquiva la varianza del retorno.</a:t>
            </a:r>
          </a:p>
        </p:txBody>
      </p:sp>
      <p:sp>
        <p:nvSpPr>
          <p:cNvPr id="7" name="Tarjeta limitaciones"/>
          <p:cNvSpPr/>
          <p:nvPr/>
        </p:nvSpPr>
        <p:spPr>
          <a:xfrm>
            <a:off x="7556500" y="1587500"/>
            <a:ext cx="3822700" cy="3556000"/>
          </a:xfrm>
          <a:prstGeom prst="roundRect">
            <a:avLst>
              <a:gd name="adj" fmla="val 2857"/>
            </a:avLst>
          </a:prstGeom>
          <a:solidFill>
            <a:srgbClr val="18263C"/>
          </a:solidFill>
          <a:ln w="9525">
            <a:solidFill>
              <a:srgbClr val="2B3A5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759700" y="1765300"/>
            <a:ext cx="3429000" cy="279400"/>
          </a:xfrm>
          <a:prstGeom prst="rect">
            <a:avLst/>
          </a:prstGeom>
          <a:noFill/>
        </p:spPr>
        <p:txBody>
          <a:bodyPr wrap="square" lIns="0" rIns="0" tIns="0" bIns="0" anchor="t">
            <a:spAutoFit/>
          </a:bodyPr>
          <a:lstStyle/>
          <a:p>
            <a:pPr algn="l">
              <a:lnSpc>
                <a:spcPct val="110000"/>
              </a:lnSpc>
              <a:spcAft>
                <a:spcPts val="0"/>
              </a:spcAft>
            </a:pPr>
            <a:r>
              <a:rPr sz="1800" b="1" i="0">
                <a:solidFill>
                  <a:srgbClr val="F5F3EC"/>
                </a:solidFill>
                <a:latin typeface="Cambria"/>
              </a:rPr>
              <a:t>Limitaciones</a:t>
            </a:r>
          </a:p>
        </p:txBody>
      </p:sp>
      <p:sp>
        <p:nvSpPr>
          <p:cNvPr id="9" name="TextBox 8"/>
          <p:cNvSpPr txBox="1"/>
          <p:nvPr/>
        </p:nvSpPr>
        <p:spPr>
          <a:xfrm>
            <a:off x="7759700" y="2159000"/>
            <a:ext cx="3429000" cy="2794000"/>
          </a:xfrm>
          <a:prstGeom prst="rect">
            <a:avLst/>
          </a:prstGeom>
          <a:noFill/>
        </p:spPr>
        <p:txBody>
          <a:bodyPr wrap="square" lIns="0" rIns="0" tIns="0" bIns="0" anchor="t">
            <a:spAutoFit/>
          </a:bodyPr>
          <a:lstStyle/>
          <a:p>
            <a:pPr algn="l">
              <a:lnSpc>
                <a:spcPct val="115000"/>
              </a:lnSpc>
              <a:spcAft>
                <a:spcPts val="2000"/>
              </a:spcAft>
            </a:pPr>
            <a:r>
              <a:rPr sz="1600" b="0" i="0">
                <a:solidFill>
                  <a:srgbClr val="D6DEEA"/>
                </a:solidFill>
                <a:latin typeface="Calibri"/>
              </a:rPr>
              <a:t>Mercados sintéticos con parámetros conocidos y entorno de todo o nada con comisión fija.</a:t>
            </a:r>
          </a:p>
          <a:p>
            <a:pPr algn="l">
              <a:lnSpc>
                <a:spcPct val="115000"/>
              </a:lnSpc>
              <a:spcAft>
                <a:spcPts val="2000"/>
              </a:spcAft>
            </a:pPr>
            <a:r>
              <a:rPr sz="1600" b="0" i="0">
                <a:solidFill>
                  <a:srgbClr val="D6DEEA"/>
                </a:solidFill>
                <a:latin typeface="Calibri"/>
              </a:rPr>
              <a:t>Discretización calibrada con datos del mismo generador.</a:t>
            </a:r>
          </a:p>
          <a:p>
            <a:pPr algn="l">
              <a:lnSpc>
                <a:spcPct val="115000"/>
              </a:lnSpc>
              <a:spcAft>
                <a:spcPts val="2000"/>
              </a:spcAft>
            </a:pPr>
            <a:r>
              <a:rPr sz="1600" b="0" i="0">
                <a:solidFill>
                  <a:srgbClr val="D6DEEA"/>
                </a:solidFill>
                <a:latin typeface="Calibri"/>
              </a:rPr>
              <a:t>Solo 5 semillas: las diferencias pequeñas entre algoritmos no son concluyentes.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Agente de trading con RL tabular: Q-Learning, SARSA y Monte Carlo</dc:title>
  <dc:subject>Taller de Aprendizaje por Refuerzo (MIAX-14)</dc:subject>
  <dc:creator>Iván Nevado, Gonzalo De Ramón y Joseph Egusquiza</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